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257" r:id="rId3"/>
    <p:sldId id="258" r:id="rId5"/>
    <p:sldId id="259" r:id="rId6"/>
    <p:sldId id="260" r:id="rId7"/>
    <p:sldId id="278" r:id="rId8"/>
    <p:sldId id="279" r:id="rId9"/>
    <p:sldId id="263" r:id="rId10"/>
    <p:sldId id="280" r:id="rId11"/>
    <p:sldId id="285" r:id="rId12"/>
    <p:sldId id="297" r:id="rId13"/>
    <p:sldId id="299" r:id="rId14"/>
    <p:sldId id="302" r:id="rId15"/>
    <p:sldId id="303" r:id="rId16"/>
    <p:sldId id="304" r:id="rId17"/>
    <p:sldId id="301" r:id="rId18"/>
    <p:sldId id="305" r:id="rId19"/>
    <p:sldId id="307" r:id="rId20"/>
    <p:sldId id="306" r:id="rId21"/>
    <p:sldId id="310" r:id="rId22"/>
    <p:sldId id="311" r:id="rId23"/>
    <p:sldId id="309" r:id="rId24"/>
    <p:sldId id="312" r:id="rId25"/>
    <p:sldId id="277" r:id="rId26"/>
  </p:sldIdLst>
  <p:sldSz cx="12192000" cy="6858000"/>
  <p:notesSz cx="7103745" cy="10234295"/>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123" initials="1"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02"/>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258.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3" name="矩形 32"/>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custDataLst>
              <p:tags r:id="rId3"/>
            </p:custDataLst>
          </p:nvPr>
        </p:nvSpPr>
        <p:spPr>
          <a:xfrm>
            <a:off x="6919595"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custDataLst>
              <p:tags r:id="rId4"/>
            </p:custDataLst>
          </p:nvPr>
        </p:nvSpPr>
        <p:spPr>
          <a:xfrm>
            <a:off x="8441055"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5" name="直接连接符 14"/>
          <p:cNvCxnSpPr/>
          <p:nvPr userDrawn="1">
            <p:custDataLst>
              <p:tags r:id="rId5"/>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6"/>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7"/>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椭圆 22"/>
          <p:cNvSpPr/>
          <p:nvPr userDrawn="1">
            <p:custDataLst>
              <p:tags r:id="rId8"/>
            </p:custDataLst>
          </p:nvPr>
        </p:nvSpPr>
        <p:spPr>
          <a:xfrm>
            <a:off x="6892945" y="969581"/>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椭圆 24"/>
          <p:cNvSpPr/>
          <p:nvPr userDrawn="1">
            <p:custDataLst>
              <p:tags r:id="rId9"/>
            </p:custDataLst>
          </p:nvPr>
        </p:nvSpPr>
        <p:spPr>
          <a:xfrm>
            <a:off x="9102739" y="4021926"/>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任意多边形: 形状 25"/>
          <p:cNvSpPr/>
          <p:nvPr userDrawn="1">
            <p:custDataLst>
              <p:tags r:id="rId10"/>
            </p:custDataLst>
          </p:nvPr>
        </p:nvSpPr>
        <p:spPr>
          <a:xfrm>
            <a:off x="996315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图形 24"/>
          <p:cNvSpPr/>
          <p:nvPr userDrawn="1">
            <p:custDataLst>
              <p:tags r:id="rId11"/>
            </p:custDataLst>
          </p:nvPr>
        </p:nvSpPr>
        <p:spPr>
          <a:xfrm>
            <a:off x="996315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9" name="图形 16"/>
          <p:cNvSpPr/>
          <p:nvPr userDrawn="1">
            <p:custDataLst>
              <p:tags r:id="rId12"/>
            </p:custDataLst>
          </p:nvPr>
        </p:nvSpPr>
        <p:spPr>
          <a:xfrm>
            <a:off x="77133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2" name="标题 1"/>
          <p:cNvSpPr>
            <a:spLocks noGrp="1"/>
          </p:cNvSpPr>
          <p:nvPr>
            <p:ph type="ctrTitle" hasCustomPrompt="1"/>
            <p:custDataLst>
              <p:tags r:id="rId13"/>
            </p:custDataLst>
          </p:nvPr>
        </p:nvSpPr>
        <p:spPr>
          <a:xfrm>
            <a:off x="1068110" y="1415134"/>
            <a:ext cx="6217877" cy="2610488"/>
          </a:xfrm>
          <a:noFill/>
        </p:spPr>
        <p:txBody>
          <a:bodyPr wrap="square" anchor="b" anchorCtr="0">
            <a:normAutofit/>
          </a:bodyPr>
          <a:lstStyle>
            <a:lvl1pPr>
              <a:defRPr lang="zh-CN" altLang="en-US" sz="6000" dirty="0">
                <a:solidFill>
                  <a:schemeClr val="tx2"/>
                </a:solidFill>
                <a:latin typeface="+mj-ea"/>
                <a:cs typeface="+mn-cs"/>
              </a:defRPr>
            </a:lvl1pPr>
          </a:lstStyle>
          <a:p>
            <a:pPr marL="0" lvl="0"/>
            <a:r>
              <a:rPr lang="zh-CN" altLang="en-US" dirty="0"/>
              <a:t>单击此处</a:t>
            </a:r>
            <a:br>
              <a:rPr lang="en-US" altLang="zh-CN" dirty="0"/>
            </a:br>
            <a:r>
              <a:rPr lang="zh-CN" altLang="en-US" dirty="0"/>
              <a:t>编辑母版标题样式</a:t>
            </a:r>
            <a:endParaRPr lang="zh-CN" altLang="en-US" dirty="0"/>
          </a:p>
        </p:txBody>
      </p:sp>
      <p:sp>
        <p:nvSpPr>
          <p:cNvPr id="10" name="公司名占位符 6"/>
          <p:cNvSpPr>
            <a:spLocks noGrp="1"/>
          </p:cNvSpPr>
          <p:nvPr>
            <p:ph type="body" sz="quarter" idx="13" hasCustomPrompt="1"/>
            <p:custDataLst>
              <p:tags r:id="rId14"/>
            </p:custDataLst>
          </p:nvPr>
        </p:nvSpPr>
        <p:spPr>
          <a:xfrm>
            <a:off x="1442126" y="523878"/>
            <a:ext cx="2880000" cy="504000"/>
          </a:xfrm>
        </p:spPr>
        <p:txBody>
          <a:bodyPr wrap="square" anchor="ctr">
            <a:normAutofit/>
          </a:bodyPr>
          <a:lstStyle>
            <a:lvl1pPr marL="0" indent="0">
              <a:lnSpc>
                <a:spcPct val="100000"/>
              </a:lnSpc>
              <a:buNone/>
              <a:defRPr sz="1800"/>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5"/>
            </p:custDataLst>
          </p:nvPr>
        </p:nvSpPr>
        <p:spPr>
          <a:xfrm>
            <a:off x="1068109" y="4481316"/>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
        <p:nvSpPr>
          <p:cNvPr id="4" name="日期占位符 3"/>
          <p:cNvSpPr>
            <a:spLocks noGrp="1"/>
          </p:cNvSpPr>
          <p:nvPr>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sz="2400"/>
            </a:lvl1pPr>
            <a:lvl2pPr>
              <a:defRPr sz="2000"/>
            </a:lvl2pPr>
            <a:lvl3pPr>
              <a:defRPr sz="1800"/>
            </a:lvl3pPr>
            <a:lvl4pPr>
              <a:defRPr sz="1600"/>
            </a:lvl4pPr>
            <a:lvl5pPr>
              <a:defRPr sz="1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1" name="矩形 20"/>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userDrawn="1">
            <p:custDataLst>
              <p:tags r:id="rId3"/>
            </p:custDataLst>
          </p:nvPr>
        </p:nvSpPr>
        <p:spPr>
          <a:xfrm flipV="1">
            <a:off x="10654388" y="5436721"/>
            <a:ext cx="1537612" cy="1421279"/>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a:gsLst>
              <a:gs pos="14000">
                <a:schemeClr val="accent1">
                  <a:alpha val="15000"/>
                </a:schemeClr>
              </a:gs>
              <a:gs pos="100000">
                <a:schemeClr val="accent1">
                  <a:alpha val="0"/>
                </a:schemeClr>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userDrawn="1">
            <p:custDataLst>
              <p:tags r:id="rId4"/>
            </p:custDataLst>
          </p:nvPr>
        </p:nvSpPr>
        <p:spPr>
          <a:xfrm>
            <a:off x="11353800" y="1026561"/>
            <a:ext cx="70184" cy="305594"/>
          </a:xfrm>
          <a:custGeom>
            <a:avLst/>
            <a:gdLst>
              <a:gd name="connsiteX0" fmla="*/ 35092 w 70184"/>
              <a:gd name="connsiteY0" fmla="*/ 235410 h 305594"/>
              <a:gd name="connsiteX1" fmla="*/ 70184 w 70184"/>
              <a:gd name="connsiteY1" fmla="*/ 270502 h 305594"/>
              <a:gd name="connsiteX2" fmla="*/ 35092 w 70184"/>
              <a:gd name="connsiteY2" fmla="*/ 305594 h 305594"/>
              <a:gd name="connsiteX3" fmla="*/ 0 w 70184"/>
              <a:gd name="connsiteY3" fmla="*/ 270502 h 305594"/>
              <a:gd name="connsiteX4" fmla="*/ 35092 w 70184"/>
              <a:gd name="connsiteY4" fmla="*/ 235410 h 305594"/>
              <a:gd name="connsiteX5" fmla="*/ 35092 w 70184"/>
              <a:gd name="connsiteY5" fmla="*/ 117705 h 305594"/>
              <a:gd name="connsiteX6" fmla="*/ 70184 w 70184"/>
              <a:gd name="connsiteY6" fmla="*/ 152797 h 305594"/>
              <a:gd name="connsiteX7" fmla="*/ 35092 w 70184"/>
              <a:gd name="connsiteY7" fmla="*/ 187889 h 305594"/>
              <a:gd name="connsiteX8" fmla="*/ 0 w 70184"/>
              <a:gd name="connsiteY8" fmla="*/ 152797 h 305594"/>
              <a:gd name="connsiteX9" fmla="*/ 35092 w 70184"/>
              <a:gd name="connsiteY9" fmla="*/ 117705 h 305594"/>
              <a:gd name="connsiteX10" fmla="*/ 35092 w 70184"/>
              <a:gd name="connsiteY10" fmla="*/ 0 h 305594"/>
              <a:gd name="connsiteX11" fmla="*/ 70184 w 70184"/>
              <a:gd name="connsiteY11" fmla="*/ 35092 h 305594"/>
              <a:gd name="connsiteX12" fmla="*/ 35092 w 70184"/>
              <a:gd name="connsiteY12" fmla="*/ 70184 h 305594"/>
              <a:gd name="connsiteX13" fmla="*/ 0 w 70184"/>
              <a:gd name="connsiteY13" fmla="*/ 35092 h 305594"/>
              <a:gd name="connsiteX14" fmla="*/ 35092 w 70184"/>
              <a:gd name="connsiteY14" fmla="*/ 0 h 30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184" h="305594">
                <a:moveTo>
                  <a:pt x="35092" y="235410"/>
                </a:moveTo>
                <a:cubicBezTo>
                  <a:pt x="54473" y="235410"/>
                  <a:pt x="70184" y="251121"/>
                  <a:pt x="70184" y="270502"/>
                </a:cubicBezTo>
                <a:cubicBezTo>
                  <a:pt x="70184" y="289883"/>
                  <a:pt x="54473" y="305594"/>
                  <a:pt x="35092" y="305594"/>
                </a:cubicBezTo>
                <a:cubicBezTo>
                  <a:pt x="15711" y="305594"/>
                  <a:pt x="0" y="289883"/>
                  <a:pt x="0" y="270502"/>
                </a:cubicBezTo>
                <a:cubicBezTo>
                  <a:pt x="0" y="251121"/>
                  <a:pt x="15711" y="235410"/>
                  <a:pt x="35092" y="235410"/>
                </a:cubicBezTo>
                <a:close/>
                <a:moveTo>
                  <a:pt x="35092" y="117705"/>
                </a:moveTo>
                <a:cubicBezTo>
                  <a:pt x="54473" y="117705"/>
                  <a:pt x="70184" y="133416"/>
                  <a:pt x="70184" y="152797"/>
                </a:cubicBezTo>
                <a:cubicBezTo>
                  <a:pt x="70184" y="172178"/>
                  <a:pt x="54473" y="187889"/>
                  <a:pt x="35092" y="187889"/>
                </a:cubicBezTo>
                <a:cubicBezTo>
                  <a:pt x="15711" y="187889"/>
                  <a:pt x="0" y="172178"/>
                  <a:pt x="0" y="152797"/>
                </a:cubicBezTo>
                <a:cubicBezTo>
                  <a:pt x="0" y="133416"/>
                  <a:pt x="15711" y="117705"/>
                  <a:pt x="35092" y="117705"/>
                </a:cubicBezTo>
                <a:close/>
                <a:moveTo>
                  <a:pt x="35092" y="0"/>
                </a:moveTo>
                <a:cubicBezTo>
                  <a:pt x="54473" y="0"/>
                  <a:pt x="70184" y="15711"/>
                  <a:pt x="70184" y="35092"/>
                </a:cubicBezTo>
                <a:cubicBezTo>
                  <a:pt x="70184" y="54473"/>
                  <a:pt x="54473" y="70184"/>
                  <a:pt x="35092" y="70184"/>
                </a:cubicBezTo>
                <a:cubicBezTo>
                  <a:pt x="15711" y="70184"/>
                  <a:pt x="0" y="54473"/>
                  <a:pt x="0" y="35092"/>
                </a:cubicBezTo>
                <a:cubicBezTo>
                  <a:pt x="0" y="15711"/>
                  <a:pt x="15711" y="0"/>
                  <a:pt x="3509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图形 12"/>
          <p:cNvSpPr/>
          <p:nvPr userDrawn="1">
            <p:custDataLst>
              <p:tags r:id="rId5"/>
            </p:custDataLst>
          </p:nvPr>
        </p:nvSpPr>
        <p:spPr>
          <a:xfrm flipH="1">
            <a:off x="0" y="0"/>
            <a:ext cx="2095499" cy="2260811"/>
          </a:xfrm>
          <a:custGeom>
            <a:avLst/>
            <a:gdLst>
              <a:gd name="connsiteX0" fmla="*/ 2815 w 1616032"/>
              <a:gd name="connsiteY0" fmla="*/ 0 h 1743519"/>
              <a:gd name="connsiteX1" fmla="*/ 641847 w 1616032"/>
              <a:gd name="connsiteY1" fmla="*/ 0 h 1743519"/>
              <a:gd name="connsiteX2" fmla="*/ 637180 w 1616032"/>
              <a:gd name="connsiteY2" fmla="*/ 93917 h 1743519"/>
              <a:gd name="connsiteX3" fmla="*/ 1392513 w 1616032"/>
              <a:gd name="connsiteY3" fmla="*/ 1121474 h 1743519"/>
              <a:gd name="connsiteX4" fmla="*/ 1601491 w 1616032"/>
              <a:gd name="connsiteY4" fmla="*/ 1520000 h 1743519"/>
              <a:gd name="connsiteX5" fmla="*/ 1202965 w 1616032"/>
              <a:gd name="connsiteY5" fmla="*/ 1728978 h 1743519"/>
              <a:gd name="connsiteX6" fmla="*/ 196744 w 1616032"/>
              <a:gd name="connsiteY6" fmla="*/ 889826 h 1743519"/>
              <a:gd name="connsiteX7" fmla="*/ 53 w 1616032"/>
              <a:gd name="connsiteY7" fmla="*/ 82868 h 1743519"/>
              <a:gd name="connsiteX8" fmla="*/ 2815 w 1616032"/>
              <a:gd name="connsiteY8" fmla="*/ 0 h 174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6032" h="1743519">
                <a:moveTo>
                  <a:pt x="2815" y="0"/>
                </a:moveTo>
                <a:lnTo>
                  <a:pt x="641847" y="0"/>
                </a:lnTo>
                <a:cubicBezTo>
                  <a:pt x="641847" y="0"/>
                  <a:pt x="637180" y="93917"/>
                  <a:pt x="637180" y="93917"/>
                </a:cubicBezTo>
                <a:cubicBezTo>
                  <a:pt x="637085" y="552164"/>
                  <a:pt x="932550" y="978027"/>
                  <a:pt x="1392513" y="1121474"/>
                </a:cubicBezTo>
                <a:cubicBezTo>
                  <a:pt x="1560248" y="1173766"/>
                  <a:pt x="1653879" y="1352264"/>
                  <a:pt x="1601491" y="1520000"/>
                </a:cubicBezTo>
                <a:cubicBezTo>
                  <a:pt x="1549199" y="1687735"/>
                  <a:pt x="1370700" y="1781366"/>
                  <a:pt x="1202965" y="1728978"/>
                </a:cubicBezTo>
                <a:cubicBezTo>
                  <a:pt x="766434" y="1592866"/>
                  <a:pt x="409151" y="1294829"/>
                  <a:pt x="196744" y="889826"/>
                </a:cubicBezTo>
                <a:cubicBezTo>
                  <a:pt x="63965" y="636746"/>
                  <a:pt x="-2138" y="360807"/>
                  <a:pt x="53" y="82868"/>
                </a:cubicBezTo>
                <a:lnTo>
                  <a:pt x="2815" y="0"/>
                </a:lnTo>
                <a:close/>
              </a:path>
            </a:pathLst>
          </a:custGeom>
          <a:gradFill flip="none" rotWithShape="1">
            <a:gsLst>
              <a:gs pos="1300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3"/>
          <p:cNvSpPr/>
          <p:nvPr userDrawn="1">
            <p:custDataLst>
              <p:tags r:id="rId6"/>
            </p:custDataLst>
          </p:nvPr>
        </p:nvSpPr>
        <p:spPr>
          <a:xfrm flipH="1">
            <a:off x="1" y="331978"/>
            <a:ext cx="767050" cy="815541"/>
          </a:xfrm>
          <a:custGeom>
            <a:avLst/>
            <a:gdLst>
              <a:gd name="connsiteX0" fmla="*/ 266085 w 960878"/>
              <a:gd name="connsiteY0" fmla="*/ 601 h 1021622"/>
              <a:gd name="connsiteX1" fmla="*/ 124392 w 960878"/>
              <a:gd name="connsiteY1" fmla="*/ 33408 h 1021622"/>
              <a:gd name="connsiteX2" fmla="*/ 33363 w 960878"/>
              <a:gd name="connsiteY2" fmla="*/ 373190 h 1021622"/>
              <a:gd name="connsiteX3" fmla="*/ 846063 w 960878"/>
              <a:gd name="connsiteY3" fmla="*/ 996773 h 1021622"/>
              <a:gd name="connsiteX4" fmla="*/ 960878 w 960878"/>
              <a:gd name="connsiteY4" fmla="*/ 1021622 h 1021622"/>
              <a:gd name="connsiteX5" fmla="*/ 960878 w 960878"/>
              <a:gd name="connsiteY5" fmla="*/ 510304 h 1021622"/>
              <a:gd name="connsiteX6" fmla="*/ 860484 w 960878"/>
              <a:gd name="connsiteY6" fmla="*/ 476220 h 1021622"/>
              <a:gd name="connsiteX7" fmla="*/ 464256 w 960878"/>
              <a:gd name="connsiteY7" fmla="*/ 124437 h 1021622"/>
              <a:gd name="connsiteX8" fmla="*/ 266085 w 960878"/>
              <a:gd name="connsiteY8" fmla="*/ 601 h 10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878" h="1021622">
                <a:moveTo>
                  <a:pt x="266085" y="601"/>
                </a:moveTo>
                <a:cubicBezTo>
                  <a:pt x="218244" y="-2721"/>
                  <a:pt x="168993" y="7661"/>
                  <a:pt x="124392" y="33408"/>
                </a:cubicBezTo>
                <a:cubicBezTo>
                  <a:pt x="5456" y="102096"/>
                  <a:pt x="-35325" y="254254"/>
                  <a:pt x="33363" y="373190"/>
                </a:cubicBezTo>
                <a:cubicBezTo>
                  <a:pt x="212099" y="682822"/>
                  <a:pt x="500718" y="904248"/>
                  <a:pt x="846063" y="996773"/>
                </a:cubicBezTo>
                <a:lnTo>
                  <a:pt x="960878" y="1021622"/>
                </a:lnTo>
                <a:lnTo>
                  <a:pt x="960878" y="510304"/>
                </a:lnTo>
                <a:lnTo>
                  <a:pt x="860484" y="476220"/>
                </a:lnTo>
                <a:cubicBezTo>
                  <a:pt x="699387" y="407201"/>
                  <a:pt x="558441" y="287559"/>
                  <a:pt x="464256" y="124437"/>
                </a:cubicBezTo>
                <a:cubicBezTo>
                  <a:pt x="421317" y="50019"/>
                  <a:pt x="345735" y="6249"/>
                  <a:pt x="266085" y="601"/>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5" name="椭圆 14"/>
          <p:cNvSpPr/>
          <p:nvPr userDrawn="1">
            <p:custDataLst>
              <p:tags r:id="rId7"/>
            </p:custDataLst>
          </p:nvPr>
        </p:nvSpPr>
        <p:spPr>
          <a:xfrm>
            <a:off x="102870" y="140335"/>
            <a:ext cx="171450" cy="171450"/>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p:nvPr userDrawn="1">
            <p:custDataLst>
              <p:tags r:id="rId8"/>
            </p:custDataLst>
          </p:nvPr>
        </p:nvSpPr>
        <p:spPr>
          <a:xfrm>
            <a:off x="1499843" y="1269396"/>
            <a:ext cx="546697" cy="546697"/>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9283700" y="547696"/>
            <a:ext cx="1814518" cy="1263324"/>
          </a:xfrm>
          <a:noFill/>
        </p:spPr>
        <p:txBody>
          <a:bodyPr vert="horz" wrap="square" rtlCol="0" anchor="ctr" anchorCtr="0">
            <a:normAutofit/>
          </a:bodyPr>
          <a:lstStyle>
            <a:lvl1pPr algn="ctr">
              <a:defRPr lang="zh-CN" altLang="en-US" sz="6000" dirty="0">
                <a:gradFill>
                  <a:gsLst>
                    <a:gs pos="0">
                      <a:schemeClr val="accent1">
                        <a:lumMod val="40000"/>
                        <a:lumOff val="60000"/>
                      </a:schemeClr>
                    </a:gs>
                    <a:gs pos="62000">
                      <a:schemeClr val="accent1"/>
                    </a:gs>
                  </a:gsLst>
                  <a:lin ang="2700000" scaled="1"/>
                </a:gradFill>
              </a:defRPr>
            </a:lvl1pPr>
          </a:lstStyle>
          <a:p>
            <a:pPr marL="0" lvl="0" algn="r"/>
            <a:r>
              <a:rPr lang="zh-CN" altLang="en-US" dirty="0"/>
              <a:t>标题</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6" name="矩形 25"/>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图形 23"/>
          <p:cNvSpPr/>
          <p:nvPr userDrawn="1">
            <p:custDataLst>
              <p:tags r:id="rId3"/>
            </p:custDataLst>
          </p:nvPr>
        </p:nvSpPr>
        <p:spPr>
          <a:xfrm>
            <a:off x="1068515" y="803142"/>
            <a:ext cx="4202128" cy="4488048"/>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11" name="矩形 10"/>
          <p:cNvSpPr/>
          <p:nvPr userDrawn="1">
            <p:custDataLst>
              <p:tags r:id="rId4"/>
            </p:custDataLst>
          </p:nvPr>
        </p:nvSpPr>
        <p:spPr>
          <a:xfrm>
            <a:off x="8469650" y="2639425"/>
            <a:ext cx="2477770" cy="334645"/>
          </a:xfrm>
          <a:prstGeom prst="rect">
            <a:avLst/>
          </a:prstGeom>
          <a:gradFill flip="none" rotWithShape="1">
            <a:gsLst>
              <a:gs pos="0">
                <a:schemeClr val="accent1">
                  <a:lumMod val="20000"/>
                  <a:lumOff val="80000"/>
                  <a:alpha val="0"/>
                </a:schemeClr>
              </a:gs>
              <a:gs pos="100000">
                <a:schemeClr val="accent1">
                  <a:lumMod val="20000"/>
                  <a:lumOff val="8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3"/>
          <p:cNvSpPr/>
          <p:nvPr userDrawn="1">
            <p:custDataLst>
              <p:tags r:id="rId5"/>
            </p:custDataLst>
          </p:nvPr>
        </p:nvSpPr>
        <p:spPr>
          <a:xfrm>
            <a:off x="1312042" y="1331347"/>
            <a:ext cx="3352258" cy="3352256"/>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13" name="直接连接符 12"/>
          <p:cNvCxnSpPr/>
          <p:nvPr userDrawn="1">
            <p:custDataLst>
              <p:tags r:id="rId6"/>
            </p:custDataLst>
          </p:nvPr>
        </p:nvCxnSpPr>
        <p:spPr>
          <a:xfrm>
            <a:off x="11778000" y="2356902"/>
            <a:ext cx="0" cy="2871449"/>
          </a:xfrm>
          <a:prstGeom prst="line">
            <a:avLst/>
          </a:prstGeom>
          <a:ln>
            <a:solidFill>
              <a:schemeClr val="accent1">
                <a:alpha val="18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custDataLst>
              <p:tags r:id="rId7"/>
            </p:custDataLst>
          </p:nvPr>
        </p:nvSpPr>
        <p:spPr>
          <a:xfrm>
            <a:off x="2620121" y="2639425"/>
            <a:ext cx="736100" cy="736100"/>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p:nvPr userDrawn="1">
            <p:custDataLst>
              <p:tags r:id="rId8"/>
            </p:custDataLst>
          </p:nvPr>
        </p:nvSpPr>
        <p:spPr>
          <a:xfrm>
            <a:off x="4745253" y="3924161"/>
            <a:ext cx="444436" cy="444436"/>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p:nvPr userDrawn="1">
            <p:custDataLst>
              <p:tags r:id="rId9"/>
            </p:custDataLst>
          </p:nvPr>
        </p:nvSpPr>
        <p:spPr>
          <a:xfrm flipH="1" flipV="1">
            <a:off x="0" y="0"/>
            <a:ext cx="1259205" cy="833120"/>
          </a:xfrm>
          <a:custGeom>
            <a:avLst/>
            <a:gdLst>
              <a:gd name="connsiteX0" fmla="*/ 1259430 w 1259430"/>
              <a:gd name="connsiteY0" fmla="*/ 833045 h 833045"/>
              <a:gd name="connsiteX1" fmla="*/ 0 w 1259430"/>
              <a:gd name="connsiteY1" fmla="*/ 833045 h 833045"/>
              <a:gd name="connsiteX2" fmla="*/ 10126 w 1259430"/>
              <a:gd name="connsiteY2" fmla="*/ 819504 h 833045"/>
              <a:gd name="connsiteX3" fmla="*/ 1126137 w 1259430"/>
              <a:gd name="connsiteY3" fmla="*/ 38726 h 833045"/>
              <a:gd name="connsiteX4" fmla="*/ 1259430 w 1259430"/>
              <a:gd name="connsiteY4" fmla="*/ 0 h 833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430" h="833045">
                <a:moveTo>
                  <a:pt x="1259430" y="833045"/>
                </a:moveTo>
                <a:lnTo>
                  <a:pt x="0" y="833045"/>
                </a:lnTo>
                <a:lnTo>
                  <a:pt x="10126" y="819504"/>
                </a:lnTo>
                <a:cubicBezTo>
                  <a:pt x="301323" y="466655"/>
                  <a:pt x="685952" y="193770"/>
                  <a:pt x="1126137" y="38726"/>
                </a:cubicBezTo>
                <a:lnTo>
                  <a:pt x="1259430" y="0"/>
                </a:lnTo>
                <a:close/>
              </a:path>
            </a:pathLst>
          </a:custGeom>
          <a:solidFill>
            <a:schemeClr val="accent1">
              <a:lumMod val="20000"/>
              <a:lumOff val="8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椭圆 20"/>
          <p:cNvSpPr/>
          <p:nvPr userDrawn="1">
            <p:custDataLst>
              <p:tags r:id="rId10"/>
            </p:custDataLst>
          </p:nvPr>
        </p:nvSpPr>
        <p:spPr>
          <a:xfrm>
            <a:off x="1482507" y="4643034"/>
            <a:ext cx="217666" cy="217664"/>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连接符 28"/>
          <p:cNvCxnSpPr/>
          <p:nvPr userDrawn="1">
            <p:custDataLst>
              <p:tags r:id="rId11"/>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12"/>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3"/>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17"/>
            </p:custDataLst>
          </p:nvPr>
        </p:nvSpPr>
        <p:spPr>
          <a:xfrm>
            <a:off x="5514170" y="3048024"/>
            <a:ext cx="5412458" cy="1759920"/>
          </a:xfrm>
        </p:spPr>
        <p:txBody>
          <a:bodyPr wrap="square" anchor="b">
            <a:normAutofit/>
          </a:bodyPr>
          <a:lstStyle>
            <a:lvl1pPr algn="r">
              <a:defRPr sz="5400">
                <a:solidFill>
                  <a:schemeClr val="tx2"/>
                </a:solidFill>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8"/>
            </p:custDataLst>
          </p:nvPr>
        </p:nvSpPr>
        <p:spPr>
          <a:xfrm>
            <a:off x="6575549" y="966615"/>
            <a:ext cx="4351080" cy="2062700"/>
          </a:xfrm>
        </p:spPr>
        <p:txBody>
          <a:bodyPr wrap="none" anchor="b" anchorCtr="0">
            <a:normAutofit/>
          </a:bodyPr>
          <a:lstStyle>
            <a:lvl1pPr marL="0" indent="0" algn="r">
              <a:buNone/>
              <a:defRPr sz="8000" b="1">
                <a:gradFill flip="none" rotWithShape="1">
                  <a:gsLst>
                    <a:gs pos="0">
                      <a:schemeClr val="accent1">
                        <a:lumMod val="60000"/>
                        <a:lumOff val="40000"/>
                      </a:schemeClr>
                    </a:gs>
                    <a:gs pos="40000">
                      <a:schemeClr val="accent1"/>
                    </a:gs>
                  </a:gsLst>
                  <a:lin ang="2700000" scaled="1"/>
                  <a:tileRect/>
                </a:gradFill>
              </a:defRPr>
            </a:lvl1pPr>
          </a:lstStyle>
          <a:p>
            <a:pPr lvl="0"/>
            <a:r>
              <a:rPr lang="zh-CN" altLang="en-US" dirty="0"/>
              <a:t>节编号</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dirty="0"/>
              <a:t>单击此处编辑母版标题样式</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6" name="矩形 25"/>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userDrawn="1">
            <p:custDataLst>
              <p:tags r:id="rId3"/>
            </p:custDataLst>
          </p:nvPr>
        </p:nvSpPr>
        <p:spPr>
          <a:xfrm flipV="1">
            <a:off x="10733104" y="5509481"/>
            <a:ext cx="1458895" cy="1348518"/>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flip="none" rotWithShape="1">
            <a:gsLst>
              <a:gs pos="0">
                <a:schemeClr val="accent1">
                  <a:lumMod val="20000"/>
                  <a:lumOff val="80000"/>
                  <a:alpha val="50000"/>
                </a:schemeClr>
              </a:gs>
              <a:gs pos="72000">
                <a:schemeClr val="accent1">
                  <a:lumMod val="20000"/>
                  <a:lumOff val="80000"/>
                  <a:alpha val="0"/>
                </a:schemeClr>
              </a:gs>
            </a:gsLst>
            <a:lin ang="189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任意多边形: 形状 6"/>
          <p:cNvSpPr/>
          <p:nvPr userDrawn="1">
            <p:custDataLst>
              <p:tags r:id="rId4"/>
            </p:custDataLst>
          </p:nvPr>
        </p:nvSpPr>
        <p:spPr>
          <a:xfrm flipH="1">
            <a:off x="0"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5"/>
            </p:custDataLst>
          </p:nvPr>
        </p:nvSpPr>
        <p:spPr>
          <a:xfrm flipH="1">
            <a:off x="0"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userDrawn="1">
            <p:custDataLst>
              <p:tags r:id="rId6"/>
            </p:custDataLst>
          </p:nvPr>
        </p:nvSpPr>
        <p:spPr>
          <a:xfrm flipH="1">
            <a:off x="4859423" y="917634"/>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p:nvPr userDrawn="1">
            <p:custDataLst>
              <p:tags r:id="rId7"/>
            </p:custDataLst>
          </p:nvPr>
        </p:nvSpPr>
        <p:spPr>
          <a:xfrm flipH="1">
            <a:off x="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图形 24"/>
          <p:cNvSpPr/>
          <p:nvPr userDrawn="1">
            <p:custDataLst>
              <p:tags r:id="rId8"/>
            </p:custDataLst>
          </p:nvPr>
        </p:nvSpPr>
        <p:spPr>
          <a:xfrm flipH="1">
            <a:off x="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9" name="图形 16"/>
          <p:cNvSpPr/>
          <p:nvPr userDrawn="1">
            <p:custDataLst>
              <p:tags r:id="rId9"/>
            </p:custDataLst>
          </p:nvPr>
        </p:nvSpPr>
        <p:spPr>
          <a:xfrm flipH="1">
            <a:off x="8299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27" name="直接连接符 26"/>
          <p:cNvCxnSpPr/>
          <p:nvPr userDrawn="1">
            <p:custDataLst>
              <p:tags r:id="rId10"/>
            </p:custDataLst>
          </p:nvPr>
        </p:nvCxnSpPr>
        <p:spPr>
          <a:xfrm>
            <a:off x="10930251"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11"/>
            </p:custDataLst>
          </p:nvPr>
        </p:nvCxnSpPr>
        <p:spPr>
          <a:xfrm>
            <a:off x="10930251"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12"/>
            </p:custDataLst>
          </p:nvPr>
        </p:nvCxnSpPr>
        <p:spPr>
          <a:xfrm>
            <a:off x="10930251"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 name="椭圆 12"/>
          <p:cNvSpPr/>
          <p:nvPr userDrawn="1">
            <p:custDataLst>
              <p:tags r:id="rId13"/>
            </p:custDataLst>
          </p:nvPr>
        </p:nvSpPr>
        <p:spPr>
          <a:xfrm flipH="1">
            <a:off x="1401445" y="4279089"/>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2351686" y="2487519"/>
            <a:ext cx="8810024" cy="1222785"/>
          </a:xfrm>
        </p:spPr>
        <p:txBody>
          <a:bodyPr wrap="square" anchor="b" anchorCtr="0">
            <a:normAutofit/>
          </a:bodyPr>
          <a:lstStyle>
            <a:lvl1pPr algn="r">
              <a:lnSpc>
                <a:spcPct val="100000"/>
              </a:lnSpc>
              <a:defRPr sz="5400">
                <a:solidFill>
                  <a:schemeClr val="tx2"/>
                </a:solidFill>
              </a:defRPr>
            </a:lvl1pPr>
          </a:lstStyle>
          <a:p>
            <a:r>
              <a:rPr lang="zh-CN" altLang="en-US" dirty="0"/>
              <a:t>单击此处编辑母版标题样式</a:t>
            </a:r>
            <a:endParaRPr lang="zh-CN" altLang="en-US" dirty="0"/>
          </a:p>
        </p:txBody>
      </p:sp>
      <p:sp>
        <p:nvSpPr>
          <p:cNvPr id="10" name="公司名占位符 6"/>
          <p:cNvSpPr>
            <a:spLocks noGrp="1"/>
          </p:cNvSpPr>
          <p:nvPr>
            <p:ph type="body" sz="quarter" idx="13" hasCustomPrompt="1"/>
            <p:custDataLst>
              <p:tags r:id="rId18"/>
            </p:custDataLst>
          </p:nvPr>
        </p:nvSpPr>
        <p:spPr>
          <a:xfrm>
            <a:off x="7861296" y="504000"/>
            <a:ext cx="2880000" cy="504000"/>
          </a:xfrm>
        </p:spPr>
        <p:txBody>
          <a:bodyPr wrap="square" anchor="ctr">
            <a:normAutofit/>
          </a:bodyPr>
          <a:lstStyle>
            <a:lvl1pPr marL="0" indent="0" algn="r">
              <a:lnSpc>
                <a:spcPct val="100000"/>
              </a:lnSpc>
              <a:buNone/>
              <a:defRPr sz="1800"/>
            </a:lvl1pPr>
          </a:lstStyle>
          <a:p>
            <a:pPr lvl="0"/>
            <a:r>
              <a:rPr lang="zh-CN" altLang="en-US" dirty="0"/>
              <a:t>公司名</a:t>
            </a:r>
            <a:endParaRPr lang="zh-CN" altLang="en-US" dirty="0"/>
          </a:p>
        </p:txBody>
      </p:sp>
      <p:sp>
        <p:nvSpPr>
          <p:cNvPr id="20" name="署名占位符 10"/>
          <p:cNvSpPr>
            <a:spLocks noGrp="1"/>
          </p:cNvSpPr>
          <p:nvPr>
            <p:ph type="body" sz="quarter" idx="17" hasCustomPrompt="1"/>
            <p:custDataLst>
              <p:tags r:id="rId19"/>
            </p:custDataLst>
          </p:nvPr>
        </p:nvSpPr>
        <p:spPr>
          <a:xfrm>
            <a:off x="8284455" y="4085899"/>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tags" Target="../tags/tag110.xml"/><Relationship Id="rId24" Type="http://schemas.openxmlformats.org/officeDocument/2006/relationships/tags" Target="../tags/tag109.xml"/><Relationship Id="rId23" Type="http://schemas.openxmlformats.org/officeDocument/2006/relationships/tags" Target="../tags/tag108.xml"/><Relationship Id="rId22" Type="http://schemas.openxmlformats.org/officeDocument/2006/relationships/tags" Target="../tags/tag107.xml"/><Relationship Id="rId21" Type="http://schemas.openxmlformats.org/officeDocument/2006/relationships/tags" Target="../tags/tag106.xml"/><Relationship Id="rId20" Type="http://schemas.openxmlformats.org/officeDocument/2006/relationships/tags" Target="../tags/tag105.xml"/><Relationship Id="rId2" Type="http://schemas.openxmlformats.org/officeDocument/2006/relationships/slideLayout" Target="../slideLayouts/slideLayout2.xml"/><Relationship Id="rId19" Type="http://schemas.openxmlformats.org/officeDocument/2006/relationships/tags" Target="../tags/tag104.xml"/><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4"/>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userDrawn="1">
            <p:custDataLst>
              <p:tags r:id="rId15"/>
            </p:custDataLst>
          </p:nvPr>
        </p:nvSpPr>
        <p:spPr>
          <a:xfrm>
            <a:off x="10287001" y="450850"/>
            <a:ext cx="1219200" cy="711200"/>
          </a:xfrm>
          <a:custGeom>
            <a:avLst/>
            <a:gdLst>
              <a:gd name="connsiteX0" fmla="*/ 0 w 1219200"/>
              <a:gd name="connsiteY0" fmla="*/ 0 h 711200"/>
              <a:gd name="connsiteX1" fmla="*/ 1219200 w 1219200"/>
              <a:gd name="connsiteY1" fmla="*/ 165100 h 711200"/>
              <a:gd name="connsiteX2" fmla="*/ 488950 w 1219200"/>
              <a:gd name="connsiteY2" fmla="*/ 711200 h 711200"/>
              <a:gd name="connsiteX3" fmla="*/ 0 w 1219200"/>
              <a:gd name="connsiteY3" fmla="*/ 0 h 711200"/>
            </a:gdLst>
            <a:ahLst/>
            <a:cxnLst>
              <a:cxn ang="0">
                <a:pos x="connsiteX0" y="connsiteY0"/>
              </a:cxn>
              <a:cxn ang="0">
                <a:pos x="connsiteX1" y="connsiteY1"/>
              </a:cxn>
              <a:cxn ang="0">
                <a:pos x="connsiteX2" y="connsiteY2"/>
              </a:cxn>
              <a:cxn ang="0">
                <a:pos x="connsiteX3" y="connsiteY3"/>
              </a:cxn>
            </a:cxnLst>
            <a:rect l="l" t="t" r="r" b="b"/>
            <a:pathLst>
              <a:path w="1219200" h="711200">
                <a:moveTo>
                  <a:pt x="0" y="0"/>
                </a:moveTo>
                <a:lnTo>
                  <a:pt x="1219200" y="165100"/>
                </a:lnTo>
                <a:lnTo>
                  <a:pt x="488950" y="711200"/>
                </a:lnTo>
                <a:lnTo>
                  <a:pt x="0" y="0"/>
                </a:lnTo>
                <a:close/>
              </a:path>
            </a:pathLst>
          </a:custGeom>
          <a:noFill/>
          <a:ln w="3175">
            <a:solidFill>
              <a:schemeClr val="accent1">
                <a:lumMod val="20000"/>
                <a:lumOff val="8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userDrawn="1">
            <p:custDataLst>
              <p:tags r:id="rId16"/>
            </p:custDataLst>
          </p:nvPr>
        </p:nvSpPr>
        <p:spPr>
          <a:xfrm>
            <a:off x="10718801" y="0"/>
            <a:ext cx="1473199" cy="1361739"/>
          </a:xfrm>
          <a:custGeom>
            <a:avLst/>
            <a:gdLst>
              <a:gd name="connsiteX0" fmla="*/ 0 w 3276599"/>
              <a:gd name="connsiteY0" fmla="*/ 0 h 3028696"/>
              <a:gd name="connsiteX1" fmla="*/ 945683 w 3276599"/>
              <a:gd name="connsiteY1" fmla="*/ 0 h 3028696"/>
              <a:gd name="connsiteX2" fmla="*/ 948498 w 3276599"/>
              <a:gd name="connsiteY2" fmla="*/ 108002 h 3028696"/>
              <a:gd name="connsiteX3" fmla="*/ 3166700 w 3276599"/>
              <a:gd name="connsiteY3" fmla="*/ 2260336 h 3028696"/>
              <a:gd name="connsiteX4" fmla="*/ 3276599 w 3276599"/>
              <a:gd name="connsiteY4" fmla="*/ 2263032 h 3028696"/>
              <a:gd name="connsiteX5" fmla="*/ 3276599 w 3276599"/>
              <a:gd name="connsiteY5" fmla="*/ 3028696 h 3028696"/>
              <a:gd name="connsiteX6" fmla="*/ 3122111 w 3276599"/>
              <a:gd name="connsiteY6" fmla="*/ 3025087 h 3028696"/>
              <a:gd name="connsiteX7" fmla="*/ 3956 w 3276599"/>
              <a:gd name="connsiteY7" fmla="*/ 144544 h 30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599" h="3028696">
                <a:moveTo>
                  <a:pt x="0" y="0"/>
                </a:moveTo>
                <a:lnTo>
                  <a:pt x="945683" y="0"/>
                </a:lnTo>
                <a:lnTo>
                  <a:pt x="948498" y="108002"/>
                </a:lnTo>
                <a:cubicBezTo>
                  <a:pt x="1009194" y="1269845"/>
                  <a:pt x="1969300" y="2201442"/>
                  <a:pt x="3166700" y="2260336"/>
                </a:cubicBezTo>
                <a:lnTo>
                  <a:pt x="3276599" y="2263032"/>
                </a:lnTo>
                <a:lnTo>
                  <a:pt x="3276599" y="3028696"/>
                </a:lnTo>
                <a:lnTo>
                  <a:pt x="3122111" y="3025087"/>
                </a:lnTo>
                <a:cubicBezTo>
                  <a:pt x="1438911" y="2946268"/>
                  <a:pt x="89278" y="1699479"/>
                  <a:pt x="3956" y="144544"/>
                </a:cubicBezTo>
                <a:close/>
              </a:path>
            </a:pathLst>
          </a:custGeom>
          <a:solidFill>
            <a:schemeClr val="accent1">
              <a:lumMod val="40000"/>
              <a:lumOff val="6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userDrawn="1">
            <p:custDataLst>
              <p:tags r:id="rId17"/>
            </p:custDataLst>
          </p:nvPr>
        </p:nvSpPr>
        <p:spPr>
          <a:xfrm>
            <a:off x="11238485" y="423882"/>
            <a:ext cx="532212" cy="532212"/>
          </a:xfrm>
          <a:prstGeom prst="ellipse">
            <a:avLst/>
          </a:prstGeom>
          <a:gradFill flip="none" rotWithShape="1">
            <a:gsLst>
              <a:gs pos="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3" name="椭圆 22"/>
          <p:cNvSpPr/>
          <p:nvPr userDrawn="1">
            <p:custDataLst>
              <p:tags r:id="rId18"/>
            </p:custDataLst>
          </p:nvPr>
        </p:nvSpPr>
        <p:spPr>
          <a:xfrm>
            <a:off x="10321724" y="357339"/>
            <a:ext cx="222138" cy="222138"/>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4" name="椭圆 23"/>
          <p:cNvSpPr/>
          <p:nvPr userDrawn="1">
            <p:custDataLst>
              <p:tags r:id="rId19"/>
            </p:custDataLst>
          </p:nvPr>
        </p:nvSpPr>
        <p:spPr>
          <a:xfrm>
            <a:off x="10856597" y="1110794"/>
            <a:ext cx="130033" cy="130033"/>
          </a:xfrm>
          <a:prstGeom prst="ellipse">
            <a:avLst/>
          </a:prstGeom>
          <a:gradFill flip="none" rotWithShape="1">
            <a:gsLst>
              <a:gs pos="13000">
                <a:schemeClr val="accent1">
                  <a:lumMod val="20000"/>
                  <a:lumOff val="80000"/>
                </a:schemeClr>
              </a:gs>
              <a:gs pos="75000">
                <a:schemeClr val="accent1"/>
              </a:gs>
            </a:gsLst>
            <a:path path="circle">
              <a:fillToRect r="100000" b="100000"/>
            </a:path>
            <a:tileRect l="-100000" t="-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日期占位符 3"/>
          <p:cNvSpPr>
            <a:spLocks noGrp="1"/>
          </p:cNvSpPr>
          <p:nvPr>
            <p:ph type="dt" sz="half" idx="2"/>
            <p:custDataLst>
              <p:tags r:id="rId20"/>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21"/>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2"/>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2" name="标题占位符 1"/>
          <p:cNvSpPr>
            <a:spLocks noGrp="1"/>
          </p:cNvSpPr>
          <p:nvPr>
            <p:ph type="title"/>
            <p:custDataLst>
              <p:tags r:id="rId23"/>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4"/>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KSO_TEMPLATE" hidden="1"/>
          <p:cNvSpPr/>
          <p:nvPr userDrawn="1">
            <p:custDataLst>
              <p:tags r:id="rId25"/>
            </p:custDataLst>
          </p:nvPr>
        </p:nvSpPr>
        <p:spPr>
          <a:xfrm>
            <a:off x="0" y="0"/>
            <a:ext cx="0" cy="0"/>
          </a:xfrm>
          <a:prstGeom prst="rect">
            <a:avLst/>
          </a:pr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p>
            <a:pPr algn="ctr">
              <a:buClrTx/>
              <a:buSzTx/>
              <a:buFontTx/>
            </a:pPr>
            <a:endParaRPr lang="zh-CN" altLang="en-US">
              <a:solidFill>
                <a:schemeClr val="lt1"/>
              </a:solidFill>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113.xml"/><Relationship Id="rId3" Type="http://schemas.openxmlformats.org/officeDocument/2006/relationships/image" Target="../media/image1.png"/><Relationship Id="rId2" Type="http://schemas.openxmlformats.org/officeDocument/2006/relationships/tags" Target="../tags/tag112.xml"/><Relationship Id="rId1" Type="http://schemas.openxmlformats.org/officeDocument/2006/relationships/tags" Target="../tags/tag111.xml"/></Relationships>
</file>

<file path=ppt/slides/_rels/slide2.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9" Type="http://schemas.openxmlformats.org/officeDocument/2006/relationships/slideLayout" Target="../slideLayouts/slideLayout3.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7.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2" Type="http://schemas.openxmlformats.org/officeDocument/2006/relationships/notesSlide" Target="../notesSlides/notesSlide2.xml"/><Relationship Id="rId31" Type="http://schemas.openxmlformats.org/officeDocument/2006/relationships/slideLayout" Target="../slideLayouts/slideLayout7.xml"/><Relationship Id="rId30" Type="http://schemas.openxmlformats.org/officeDocument/2006/relationships/tags" Target="../tags/tag165.xml"/><Relationship Id="rId3" Type="http://schemas.openxmlformats.org/officeDocument/2006/relationships/tags" Target="../tags/tag146.xml"/><Relationship Id="rId29" Type="http://schemas.openxmlformats.org/officeDocument/2006/relationships/image" Target="../media/image9.svg"/><Relationship Id="rId28" Type="http://schemas.openxmlformats.org/officeDocument/2006/relationships/image" Target="../media/image8.png"/><Relationship Id="rId27" Type="http://schemas.openxmlformats.org/officeDocument/2006/relationships/tags" Target="../tags/tag164.xml"/><Relationship Id="rId26" Type="http://schemas.openxmlformats.org/officeDocument/2006/relationships/image" Target="../media/image7.svg"/><Relationship Id="rId25" Type="http://schemas.openxmlformats.org/officeDocument/2006/relationships/image" Target="../media/image6.png"/><Relationship Id="rId24" Type="http://schemas.openxmlformats.org/officeDocument/2006/relationships/tags" Target="../tags/tag163.xml"/><Relationship Id="rId23" Type="http://schemas.openxmlformats.org/officeDocument/2006/relationships/image" Target="../media/image5.svg"/><Relationship Id="rId22" Type="http://schemas.openxmlformats.org/officeDocument/2006/relationships/image" Target="../media/image4.png"/><Relationship Id="rId21" Type="http://schemas.openxmlformats.org/officeDocument/2006/relationships/tags" Target="../tags/tag162.xml"/><Relationship Id="rId20" Type="http://schemas.openxmlformats.org/officeDocument/2006/relationships/image" Target="../media/image3.svg"/><Relationship Id="rId2" Type="http://schemas.openxmlformats.org/officeDocument/2006/relationships/tags" Target="../tags/tag145.xml"/><Relationship Id="rId19" Type="http://schemas.openxmlformats.org/officeDocument/2006/relationships/image" Target="../media/image2.png"/><Relationship Id="rId18" Type="http://schemas.openxmlformats.org/officeDocument/2006/relationships/tags" Target="../tags/tag161.xml"/><Relationship Id="rId17" Type="http://schemas.openxmlformats.org/officeDocument/2006/relationships/tags" Target="../tags/tag160.xml"/><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tags" Target="../tags/tag144.xml"/></Relationships>
</file>

<file path=ppt/slides/_rels/slide8.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0" Type="http://schemas.openxmlformats.org/officeDocument/2006/relationships/slideLayout" Target="../slideLayouts/slideLayout2.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6.xml"/></Relationships>
</file>

<file path=ppt/slides/_rels/slide9.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5" Type="http://schemas.openxmlformats.org/officeDocument/2006/relationships/slideLayout" Target="../slideLayouts/slideLayout2.xml"/><Relationship Id="rId24" Type="http://schemas.openxmlformats.org/officeDocument/2006/relationships/tags" Target="../tags/tag208.xml"/><Relationship Id="rId23" Type="http://schemas.openxmlformats.org/officeDocument/2006/relationships/tags" Target="../tags/tag207.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tags" Target="../tags/tag204.xml"/><Relationship Id="rId2" Type="http://schemas.openxmlformats.org/officeDocument/2006/relationships/tags" Target="../tags/tag186.xml"/><Relationship Id="rId19" Type="http://schemas.openxmlformats.org/officeDocument/2006/relationships/tags" Target="../tags/tag203.xml"/><Relationship Id="rId18" Type="http://schemas.openxmlformats.org/officeDocument/2006/relationships/tags" Target="../tags/tag202.xml"/><Relationship Id="rId17" Type="http://schemas.openxmlformats.org/officeDocument/2006/relationships/tags" Target="../tags/tag201.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tags" Target="../tags/tag185.xml"/></Relationships>
</file>

<file path=ppt/slides/_rels/slide10.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4" Type="http://schemas.openxmlformats.org/officeDocument/2006/relationships/slideLayout" Target="../slideLayouts/slideLayout2.xml"/><Relationship Id="rId13" Type="http://schemas.openxmlformats.org/officeDocument/2006/relationships/tags" Target="../tags/tag221.xml"/><Relationship Id="rId12" Type="http://schemas.openxmlformats.org/officeDocument/2006/relationships/tags" Target="../tags/tag220.xml"/><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tags" Target="../tags/tag209.xml"/></Relationships>
</file>

<file path=ppt/slides/_rels/slide11.xml.rels><?xml version="1.0" encoding="UTF-8" standalone="yes"?>
<Relationships xmlns="http://schemas.openxmlformats.org/package/2006/relationships"><Relationship Id="rId9" Type="http://schemas.openxmlformats.org/officeDocument/2006/relationships/tags" Target="../tags/tag230.xml"/><Relationship Id="rId8" Type="http://schemas.openxmlformats.org/officeDocument/2006/relationships/tags" Target="../tags/tag229.xml"/><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5" Type="http://schemas.openxmlformats.org/officeDocument/2006/relationships/slideLayout" Target="../slideLayouts/slideLayout2.xml"/><Relationship Id="rId14" Type="http://schemas.openxmlformats.org/officeDocument/2006/relationships/tags" Target="../tags/tag235.xml"/><Relationship Id="rId13" Type="http://schemas.openxmlformats.org/officeDocument/2006/relationships/tags" Target="../tags/tag234.xml"/><Relationship Id="rId12" Type="http://schemas.openxmlformats.org/officeDocument/2006/relationships/tags" Target="../tags/tag233.xml"/><Relationship Id="rId11" Type="http://schemas.openxmlformats.org/officeDocument/2006/relationships/tags" Target="../tags/tag232.xml"/><Relationship Id="rId10" Type="http://schemas.openxmlformats.org/officeDocument/2006/relationships/tags" Target="../tags/tag231.xml"/><Relationship Id="rId1" Type="http://schemas.openxmlformats.org/officeDocument/2006/relationships/tags" Target="../tags/tag2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7.xml"/><Relationship Id="rId1" Type="http://schemas.openxmlformats.org/officeDocument/2006/relationships/tags" Target="../tags/tag23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9.xml"/><Relationship Id="rId1" Type="http://schemas.openxmlformats.org/officeDocument/2006/relationships/tags" Target="../tags/tag23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1.xml"/><Relationship Id="rId1" Type="http://schemas.openxmlformats.org/officeDocument/2006/relationships/tags" Target="../tags/tag24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3.xml"/><Relationship Id="rId1" Type="http://schemas.openxmlformats.org/officeDocument/2006/relationships/tags" Target="../tags/tag24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5.xml"/><Relationship Id="rId1" Type="http://schemas.openxmlformats.org/officeDocument/2006/relationships/tags" Target="../tags/tag24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7.xml"/><Relationship Id="rId1" Type="http://schemas.openxmlformats.org/officeDocument/2006/relationships/tags" Target="../tags/tag24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9.xml"/><Relationship Id="rId1" Type="http://schemas.openxmlformats.org/officeDocument/2006/relationships/tags" Target="../tags/tag248.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257.xml"/><Relationship Id="rId2" Type="http://schemas.openxmlformats.org/officeDocument/2006/relationships/image" Target="../media/image1.png"/><Relationship Id="rId1" Type="http://schemas.openxmlformats.org/officeDocument/2006/relationships/tags" Target="../tags/tag2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ltLang="zh-CN">
                <a:gradFill>
                  <a:gsLst>
                    <a:gs pos="0">
                      <a:schemeClr val="accent1"/>
                    </a:gs>
                    <a:gs pos="100000">
                      <a:schemeClr val="accent2"/>
                    </a:gs>
                  </a:gsLst>
                  <a:lin ang="2700000" scaled="0"/>
                </a:gradFill>
              </a:rPr>
              <a:t>“</a:t>
            </a:r>
            <a:r>
              <a:rPr>
                <a:gradFill>
                  <a:gsLst>
                    <a:gs pos="0">
                      <a:schemeClr val="accent1"/>
                    </a:gs>
                    <a:gs pos="100000">
                      <a:schemeClr val="accent2"/>
                    </a:gs>
                  </a:gsLst>
                  <a:lin ang="2700000" scaled="0"/>
                </a:gradFill>
              </a:rPr>
              <a:t>无忧用工</a:t>
            </a:r>
            <a:r>
              <a:rPr lang="en-US" altLang="zh-CN">
                <a:gradFill>
                  <a:gsLst>
                    <a:gs pos="0">
                      <a:schemeClr val="accent1"/>
                    </a:gs>
                    <a:gs pos="100000">
                      <a:schemeClr val="accent2"/>
                    </a:gs>
                  </a:gsLst>
                  <a:lin ang="2700000" scaled="0"/>
                </a:gradFill>
              </a:rPr>
              <a:t>”</a:t>
            </a:r>
            <a:br>
              <a:rPr lang="en-US" altLang="zh-CN">
                <a:gradFill>
                  <a:gsLst>
                    <a:gs pos="0">
                      <a:schemeClr val="accent1"/>
                    </a:gs>
                    <a:gs pos="100000">
                      <a:schemeClr val="accent2"/>
                    </a:gs>
                  </a:gsLst>
                  <a:lin ang="2700000" scaled="0"/>
                </a:gradFill>
              </a:rPr>
            </a:br>
            <a:r>
              <a:rPr>
                <a:solidFill>
                  <a:schemeClr val="tx2"/>
                </a:solidFill>
              </a:rPr>
              <a:t>劳动合规避坑指南</a:t>
            </a:r>
            <a:endParaRPr>
              <a:solidFill>
                <a:schemeClr val="tx2"/>
              </a:solidFill>
            </a:endParaRPr>
          </a:p>
        </p:txBody>
      </p:sp>
      <p:sp>
        <p:nvSpPr>
          <p:cNvPr id="10" name="署名"/>
          <p:cNvSpPr>
            <a:spLocks noGrp="1"/>
          </p:cNvSpPr>
          <p:nvPr>
            <p:ph type="body" sz="quarter" idx="17"/>
            <p:custDataLst>
              <p:tags r:id="rId2"/>
            </p:custDataLst>
          </p:nvPr>
        </p:nvSpPr>
        <p:spPr>
          <a:xfrm>
            <a:off x="4885729" y="5181721"/>
            <a:ext cx="2880000" cy="504000"/>
          </a:xfrm>
        </p:spPr>
        <p:txBody>
          <a:bodyPr/>
          <a:lstStyle/>
          <a:p>
            <a:r>
              <a:rPr lang="zh-CN" altLang="en-US"/>
              <a:t>汇报人：吴磊</a:t>
            </a:r>
            <a:endParaRPr lang="en-US" altLang="zh-CN"/>
          </a:p>
        </p:txBody>
      </p:sp>
      <p:pic>
        <p:nvPicPr>
          <p:cNvPr id="3" name="图片 2" descr="斯塔管理咨询LOGO2"/>
          <p:cNvPicPr>
            <a:picLocks noChangeAspect="1"/>
          </p:cNvPicPr>
          <p:nvPr/>
        </p:nvPicPr>
        <p:blipFill>
          <a:blip r:embed="rId3"/>
          <a:stretch>
            <a:fillRect/>
          </a:stretch>
        </p:blipFill>
        <p:spPr>
          <a:xfrm>
            <a:off x="915670" y="290195"/>
            <a:ext cx="3312795" cy="1095375"/>
          </a:xfrm>
          <a:prstGeom prst="rect">
            <a:avLst/>
          </a:prstGeom>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目录</a:t>
            </a:r>
            <a:endParaRPr lang="zh-CN" altLang="en-US"/>
          </a:p>
        </p:txBody>
      </p:sp>
      <p:sp>
        <p:nvSpPr>
          <p:cNvPr id="83" name="矩形: 圆角 82"/>
          <p:cNvSpPr/>
          <p:nvPr>
            <p:custDataLst>
              <p:tags r:id="rId2"/>
            </p:custDataLst>
          </p:nvPr>
        </p:nvSpPr>
        <p:spPr>
          <a:xfrm>
            <a:off x="839789" y="2220664"/>
            <a:ext cx="5148000" cy="1525906"/>
          </a:xfrm>
          <a:prstGeom prst="roundRect">
            <a:avLst>
              <a:gd name="adj" fmla="val 16290"/>
            </a:avLst>
          </a:prstGeom>
          <a:solidFill>
            <a:schemeClr val="lt1"/>
          </a:solidFill>
          <a:ln>
            <a:noFill/>
          </a:ln>
          <a:effectLst>
            <a:outerShdw blurRad="127000" dist="127000" dir="3600000" sx="95000" sy="95000" algn="t" rotWithShape="0">
              <a:schemeClr val="accent1">
                <a:lumMod val="40000"/>
                <a:lumOff val="6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文本框 15"/>
          <p:cNvSpPr txBox="1"/>
          <p:nvPr>
            <p:custDataLst>
              <p:tags r:id="rId3"/>
            </p:custDataLst>
          </p:nvPr>
        </p:nvSpPr>
        <p:spPr>
          <a:xfrm>
            <a:off x="2112937" y="2752785"/>
            <a:ext cx="3453724" cy="461665"/>
          </a:xfrm>
          <a:prstGeom prst="rect">
            <a:avLst/>
          </a:prstGeom>
          <a:noFill/>
        </p:spPr>
        <p:txBody>
          <a:bodyPr wrap="square" rtlCol="0">
            <a:noAutofit/>
          </a:bodyPr>
          <a:lstStyle/>
          <a:p>
            <a:pPr algn="r"/>
            <a:r>
              <a:rPr lang="zh-CN" altLang="en-US" sz="2400" b="1" dirty="0">
                <a:solidFill>
                  <a:schemeClr val="dk2"/>
                </a:solidFill>
                <a:latin typeface="+mn-ea"/>
              </a:rPr>
              <a:t>民营企业合规背景</a:t>
            </a:r>
            <a:endParaRPr lang="zh-CN" altLang="en-US" sz="2400" b="1" dirty="0">
              <a:solidFill>
                <a:schemeClr val="dk2"/>
              </a:solidFill>
              <a:latin typeface="+mn-ea"/>
            </a:endParaRPr>
          </a:p>
        </p:txBody>
      </p:sp>
      <p:sp>
        <p:nvSpPr>
          <p:cNvPr id="15" name="矩形 14"/>
          <p:cNvSpPr/>
          <p:nvPr>
            <p:custDataLst>
              <p:tags r:id="rId4"/>
            </p:custDataLst>
          </p:nvPr>
        </p:nvSpPr>
        <p:spPr>
          <a:xfrm flipH="1">
            <a:off x="1158532" y="3106787"/>
            <a:ext cx="1309468" cy="155874"/>
          </a:xfrm>
          <a:prstGeom prst="rect">
            <a:avLst/>
          </a:prstGeom>
          <a:gradFill>
            <a:gsLst>
              <a:gs pos="30000">
                <a:schemeClr val="accent1">
                  <a:lumMod val="20000"/>
                  <a:lumOff val="80000"/>
                  <a:alpha val="0"/>
                </a:schemeClr>
              </a:gs>
              <a:gs pos="100000">
                <a:schemeClr val="accent1">
                  <a:lumMod val="20000"/>
                  <a:lumOff val="80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17" name="文本框 16"/>
          <p:cNvSpPr txBox="1"/>
          <p:nvPr>
            <p:custDataLst>
              <p:tags r:id="rId5"/>
            </p:custDataLst>
          </p:nvPr>
        </p:nvSpPr>
        <p:spPr>
          <a:xfrm>
            <a:off x="1158532" y="2629674"/>
            <a:ext cx="954405" cy="707886"/>
          </a:xfrm>
          <a:prstGeom prst="rect">
            <a:avLst/>
          </a:prstGeom>
          <a:noFill/>
        </p:spPr>
        <p:txBody>
          <a:bodyPr wrap="none" rtlCol="0">
            <a:normAutofit fontScale="90000"/>
          </a:bodyPr>
          <a:lstStyle/>
          <a:p>
            <a:pPr algn="ctr"/>
            <a:r>
              <a:rPr lang="en-US" altLang="zh-CN" sz="4000" b="1" dirty="0">
                <a:solidFill>
                  <a:schemeClr val="accent1"/>
                </a:solidFill>
                <a:latin typeface="+mn-ea"/>
              </a:rPr>
              <a:t>01</a:t>
            </a:r>
            <a:endParaRPr lang="en-US" altLang="zh-CN" sz="4000" b="1" dirty="0">
              <a:solidFill>
                <a:schemeClr val="accent1"/>
              </a:solidFill>
              <a:latin typeface="+mn-ea"/>
            </a:endParaRPr>
          </a:p>
        </p:txBody>
      </p:sp>
      <p:sp>
        <p:nvSpPr>
          <p:cNvPr id="24" name="矩形: 圆角 23"/>
          <p:cNvSpPr/>
          <p:nvPr>
            <p:custDataLst>
              <p:tags r:id="rId6"/>
            </p:custDataLst>
          </p:nvPr>
        </p:nvSpPr>
        <p:spPr>
          <a:xfrm>
            <a:off x="6204211" y="2220664"/>
            <a:ext cx="5148000" cy="1525906"/>
          </a:xfrm>
          <a:prstGeom prst="roundRect">
            <a:avLst>
              <a:gd name="adj" fmla="val 16290"/>
            </a:avLst>
          </a:prstGeom>
          <a:solidFill>
            <a:schemeClr val="lt1"/>
          </a:solidFill>
          <a:ln>
            <a:noFill/>
          </a:ln>
          <a:effectLst>
            <a:outerShdw blurRad="127000" dist="127000" dir="3600000" sx="95000" sy="95000" algn="t" rotWithShape="0">
              <a:schemeClr val="accent1">
                <a:lumMod val="40000"/>
                <a:lumOff val="6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文本框 24"/>
          <p:cNvSpPr txBox="1"/>
          <p:nvPr>
            <p:custDataLst>
              <p:tags r:id="rId7"/>
            </p:custDataLst>
          </p:nvPr>
        </p:nvSpPr>
        <p:spPr>
          <a:xfrm>
            <a:off x="7477125" y="2752725"/>
            <a:ext cx="3723640" cy="461645"/>
          </a:xfrm>
          <a:prstGeom prst="rect">
            <a:avLst/>
          </a:prstGeom>
          <a:noFill/>
        </p:spPr>
        <p:txBody>
          <a:bodyPr wrap="square" rtlCol="0">
            <a:noAutofit/>
          </a:bodyPr>
          <a:lstStyle/>
          <a:p>
            <a:pPr algn="l"/>
            <a:r>
              <a:rPr lang="zh-CN" altLang="en-US" sz="2400" b="1" dirty="0">
                <a:solidFill>
                  <a:schemeClr val="dk2"/>
                </a:solidFill>
                <a:latin typeface="+mn-ea"/>
              </a:rPr>
              <a:t>劳动合规法律背景和案例</a:t>
            </a:r>
            <a:endParaRPr lang="zh-CN" altLang="en-US" sz="2400" b="1" dirty="0">
              <a:solidFill>
                <a:schemeClr val="dk2"/>
              </a:solidFill>
              <a:latin typeface="+mn-ea"/>
            </a:endParaRPr>
          </a:p>
        </p:txBody>
      </p:sp>
      <p:sp>
        <p:nvSpPr>
          <p:cNvPr id="27" name="矩形 26"/>
          <p:cNvSpPr/>
          <p:nvPr>
            <p:custDataLst>
              <p:tags r:id="rId8"/>
            </p:custDataLst>
          </p:nvPr>
        </p:nvSpPr>
        <p:spPr>
          <a:xfrm flipH="1">
            <a:off x="6522954" y="3106787"/>
            <a:ext cx="1309468" cy="155874"/>
          </a:xfrm>
          <a:prstGeom prst="rect">
            <a:avLst/>
          </a:prstGeom>
          <a:gradFill>
            <a:gsLst>
              <a:gs pos="30000">
                <a:schemeClr val="accent1">
                  <a:lumMod val="20000"/>
                  <a:lumOff val="80000"/>
                  <a:alpha val="0"/>
                </a:schemeClr>
              </a:gs>
              <a:gs pos="100000">
                <a:schemeClr val="accent1">
                  <a:lumMod val="20000"/>
                  <a:lumOff val="80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28" name="文本框 27"/>
          <p:cNvSpPr txBox="1"/>
          <p:nvPr>
            <p:custDataLst>
              <p:tags r:id="rId9"/>
            </p:custDataLst>
          </p:nvPr>
        </p:nvSpPr>
        <p:spPr>
          <a:xfrm>
            <a:off x="6522954" y="2629674"/>
            <a:ext cx="954405" cy="707886"/>
          </a:xfrm>
          <a:prstGeom prst="rect">
            <a:avLst/>
          </a:prstGeom>
          <a:noFill/>
        </p:spPr>
        <p:txBody>
          <a:bodyPr wrap="none" rtlCol="0">
            <a:normAutofit fontScale="90000"/>
          </a:bodyPr>
          <a:lstStyle/>
          <a:p>
            <a:pPr algn="ctr"/>
            <a:r>
              <a:rPr lang="en-US" altLang="zh-CN" sz="4000" b="1" dirty="0">
                <a:solidFill>
                  <a:schemeClr val="accent1"/>
                </a:solidFill>
                <a:latin typeface="+mn-ea"/>
              </a:rPr>
              <a:t>02</a:t>
            </a:r>
            <a:endParaRPr lang="en-US" altLang="zh-CN" sz="4000" b="1" dirty="0">
              <a:solidFill>
                <a:schemeClr val="accent1"/>
              </a:solidFill>
              <a:latin typeface="+mn-ea"/>
            </a:endParaRPr>
          </a:p>
        </p:txBody>
      </p:sp>
      <p:sp>
        <p:nvSpPr>
          <p:cNvPr id="29" name="矩形: 圆角 28"/>
          <p:cNvSpPr/>
          <p:nvPr>
            <p:custDataLst>
              <p:tags r:id="rId10"/>
            </p:custDataLst>
          </p:nvPr>
        </p:nvSpPr>
        <p:spPr>
          <a:xfrm>
            <a:off x="839789" y="4008506"/>
            <a:ext cx="5148000" cy="1525906"/>
          </a:xfrm>
          <a:prstGeom prst="roundRect">
            <a:avLst>
              <a:gd name="adj" fmla="val 16290"/>
            </a:avLst>
          </a:prstGeom>
          <a:solidFill>
            <a:schemeClr val="lt1"/>
          </a:solidFill>
          <a:ln>
            <a:noFill/>
          </a:ln>
          <a:effectLst>
            <a:outerShdw blurRad="127000" dist="127000" dir="3600000" sx="95000" sy="95000" algn="t" rotWithShape="0">
              <a:schemeClr val="accent1">
                <a:lumMod val="40000"/>
                <a:lumOff val="6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文本框 29"/>
          <p:cNvSpPr txBox="1"/>
          <p:nvPr>
            <p:custDataLst>
              <p:tags r:id="rId11"/>
            </p:custDataLst>
          </p:nvPr>
        </p:nvSpPr>
        <p:spPr>
          <a:xfrm>
            <a:off x="2112645" y="4417695"/>
            <a:ext cx="3760470" cy="461645"/>
          </a:xfrm>
          <a:prstGeom prst="rect">
            <a:avLst/>
          </a:prstGeom>
          <a:noFill/>
        </p:spPr>
        <p:txBody>
          <a:bodyPr wrap="square" rtlCol="0">
            <a:noAutofit/>
          </a:bodyPr>
          <a:lstStyle/>
          <a:p>
            <a:pPr algn="ctr"/>
            <a:r>
              <a:rPr lang="en-US" altLang="zh-CN" sz="2400" b="1" dirty="0">
                <a:solidFill>
                  <a:schemeClr val="dk2"/>
                </a:solidFill>
                <a:latin typeface="+mn-ea"/>
              </a:rPr>
              <a:t>“</a:t>
            </a:r>
            <a:r>
              <a:rPr lang="zh-CN" altLang="en-US" sz="2400" b="1" dirty="0">
                <a:solidFill>
                  <a:schemeClr val="dk2"/>
                </a:solidFill>
                <a:latin typeface="+mn-ea"/>
              </a:rPr>
              <a:t>无忧用工</a:t>
            </a:r>
            <a:r>
              <a:rPr lang="en-US" altLang="zh-CN" sz="2400" b="1" dirty="0">
                <a:solidFill>
                  <a:schemeClr val="dk2"/>
                </a:solidFill>
                <a:latin typeface="+mn-ea"/>
              </a:rPr>
              <a:t>”</a:t>
            </a:r>
            <a:endParaRPr lang="en-US" altLang="zh-CN" sz="2400" b="1" dirty="0">
              <a:solidFill>
                <a:schemeClr val="dk2"/>
              </a:solidFill>
              <a:latin typeface="+mn-ea"/>
            </a:endParaRPr>
          </a:p>
          <a:p>
            <a:pPr algn="ctr"/>
            <a:r>
              <a:rPr lang="zh-CN" altLang="en-US" sz="2400" b="1" dirty="0">
                <a:solidFill>
                  <a:schemeClr val="dk2"/>
                </a:solidFill>
                <a:latin typeface="+mn-ea"/>
              </a:rPr>
              <a:t>劳动合规全案</a:t>
            </a:r>
            <a:endParaRPr lang="zh-CN" altLang="en-US" sz="2400" b="1" dirty="0">
              <a:solidFill>
                <a:schemeClr val="dk2"/>
              </a:solidFill>
              <a:latin typeface="+mn-ea"/>
            </a:endParaRPr>
          </a:p>
        </p:txBody>
      </p:sp>
      <p:sp>
        <p:nvSpPr>
          <p:cNvPr id="64" name="矩形 63"/>
          <p:cNvSpPr/>
          <p:nvPr>
            <p:custDataLst>
              <p:tags r:id="rId12"/>
            </p:custDataLst>
          </p:nvPr>
        </p:nvSpPr>
        <p:spPr>
          <a:xfrm flipH="1">
            <a:off x="1158532" y="4894629"/>
            <a:ext cx="1309468" cy="155874"/>
          </a:xfrm>
          <a:prstGeom prst="rect">
            <a:avLst/>
          </a:prstGeom>
          <a:gradFill>
            <a:gsLst>
              <a:gs pos="30000">
                <a:schemeClr val="accent1">
                  <a:lumMod val="20000"/>
                  <a:lumOff val="80000"/>
                  <a:alpha val="0"/>
                </a:schemeClr>
              </a:gs>
              <a:gs pos="100000">
                <a:schemeClr val="accent1">
                  <a:lumMod val="20000"/>
                  <a:lumOff val="80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65" name="文本框 64"/>
          <p:cNvSpPr txBox="1"/>
          <p:nvPr>
            <p:custDataLst>
              <p:tags r:id="rId13"/>
            </p:custDataLst>
          </p:nvPr>
        </p:nvSpPr>
        <p:spPr>
          <a:xfrm>
            <a:off x="1158532" y="4417516"/>
            <a:ext cx="954405" cy="707886"/>
          </a:xfrm>
          <a:prstGeom prst="rect">
            <a:avLst/>
          </a:prstGeom>
          <a:noFill/>
        </p:spPr>
        <p:txBody>
          <a:bodyPr wrap="none" rtlCol="0">
            <a:normAutofit fontScale="90000"/>
          </a:bodyPr>
          <a:lstStyle/>
          <a:p>
            <a:pPr algn="ctr"/>
            <a:r>
              <a:rPr lang="en-US" altLang="zh-CN" sz="4000" b="1" dirty="0">
                <a:solidFill>
                  <a:schemeClr val="accent1"/>
                </a:solidFill>
                <a:latin typeface="+mn-ea"/>
              </a:rPr>
              <a:t>03</a:t>
            </a:r>
            <a:endParaRPr lang="en-US" altLang="zh-CN" sz="4000" b="1" dirty="0">
              <a:solidFill>
                <a:schemeClr val="accent1"/>
              </a:solidFill>
              <a:latin typeface="+mn-ea"/>
            </a:endParaRPr>
          </a:p>
        </p:txBody>
      </p:sp>
      <p:sp>
        <p:nvSpPr>
          <p:cNvPr id="66" name="矩形: 圆角 65"/>
          <p:cNvSpPr/>
          <p:nvPr>
            <p:custDataLst>
              <p:tags r:id="rId14"/>
            </p:custDataLst>
          </p:nvPr>
        </p:nvSpPr>
        <p:spPr>
          <a:xfrm>
            <a:off x="6204211" y="4008506"/>
            <a:ext cx="5148000" cy="1525906"/>
          </a:xfrm>
          <a:prstGeom prst="roundRect">
            <a:avLst>
              <a:gd name="adj" fmla="val 16290"/>
            </a:avLst>
          </a:prstGeom>
          <a:solidFill>
            <a:schemeClr val="lt1"/>
          </a:solidFill>
          <a:ln>
            <a:noFill/>
          </a:ln>
          <a:effectLst>
            <a:outerShdw blurRad="127000" dist="127000" dir="3600000" sx="95000" sy="95000" algn="t" rotWithShape="0">
              <a:schemeClr val="accent1">
                <a:lumMod val="40000"/>
                <a:lumOff val="60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7" name="文本框 66"/>
          <p:cNvSpPr txBox="1"/>
          <p:nvPr>
            <p:custDataLst>
              <p:tags r:id="rId15"/>
            </p:custDataLst>
          </p:nvPr>
        </p:nvSpPr>
        <p:spPr>
          <a:xfrm>
            <a:off x="7477359" y="4540627"/>
            <a:ext cx="3453724" cy="461665"/>
          </a:xfrm>
          <a:prstGeom prst="rect">
            <a:avLst/>
          </a:prstGeom>
          <a:noFill/>
        </p:spPr>
        <p:txBody>
          <a:bodyPr wrap="square" rtlCol="0">
            <a:noAutofit/>
          </a:bodyPr>
          <a:lstStyle/>
          <a:p>
            <a:pPr algn="ctr"/>
            <a:r>
              <a:rPr lang="zh-CN" altLang="en-US" sz="2400" b="1" dirty="0">
                <a:solidFill>
                  <a:schemeClr val="dk2"/>
                </a:solidFill>
                <a:latin typeface="+mn-ea"/>
              </a:rPr>
              <a:t>自由交流环节</a:t>
            </a:r>
            <a:endParaRPr lang="zh-CN" altLang="en-US" sz="2400" b="1" dirty="0">
              <a:solidFill>
                <a:schemeClr val="dk2"/>
              </a:solidFill>
              <a:latin typeface="+mn-ea"/>
            </a:endParaRPr>
          </a:p>
        </p:txBody>
      </p:sp>
      <p:sp>
        <p:nvSpPr>
          <p:cNvPr id="69" name="矩形 68"/>
          <p:cNvSpPr/>
          <p:nvPr>
            <p:custDataLst>
              <p:tags r:id="rId16"/>
            </p:custDataLst>
          </p:nvPr>
        </p:nvSpPr>
        <p:spPr>
          <a:xfrm flipH="1">
            <a:off x="6522954" y="4894629"/>
            <a:ext cx="1309468" cy="155874"/>
          </a:xfrm>
          <a:prstGeom prst="rect">
            <a:avLst/>
          </a:prstGeom>
          <a:gradFill>
            <a:gsLst>
              <a:gs pos="30000">
                <a:schemeClr val="accent1">
                  <a:lumMod val="20000"/>
                  <a:lumOff val="80000"/>
                  <a:alpha val="0"/>
                </a:schemeClr>
              </a:gs>
              <a:gs pos="100000">
                <a:schemeClr val="accent1">
                  <a:lumMod val="20000"/>
                  <a:lumOff val="80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ym typeface="+mn-ea"/>
            </a:endParaRPr>
          </a:p>
        </p:txBody>
      </p:sp>
      <p:sp>
        <p:nvSpPr>
          <p:cNvPr id="70" name="文本框 69"/>
          <p:cNvSpPr txBox="1"/>
          <p:nvPr>
            <p:custDataLst>
              <p:tags r:id="rId17"/>
            </p:custDataLst>
          </p:nvPr>
        </p:nvSpPr>
        <p:spPr>
          <a:xfrm>
            <a:off x="6522954" y="4417516"/>
            <a:ext cx="954405" cy="707886"/>
          </a:xfrm>
          <a:prstGeom prst="rect">
            <a:avLst/>
          </a:prstGeom>
          <a:noFill/>
        </p:spPr>
        <p:txBody>
          <a:bodyPr wrap="none" rtlCol="0">
            <a:normAutofit fontScale="90000"/>
          </a:bodyPr>
          <a:lstStyle/>
          <a:p>
            <a:pPr algn="ctr"/>
            <a:r>
              <a:rPr lang="en-US" altLang="zh-CN" sz="4000" b="1" dirty="0">
                <a:solidFill>
                  <a:schemeClr val="accent1"/>
                </a:solidFill>
                <a:latin typeface="+mn-ea"/>
              </a:rPr>
              <a:t>04</a:t>
            </a:r>
            <a:endParaRPr lang="en-US" altLang="zh-CN" sz="4000" b="1" dirty="0">
              <a:solidFill>
                <a:schemeClr val="accent1"/>
              </a:solidFill>
              <a:latin typeface="+mn-ea"/>
            </a:endParaRPr>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14340" y="3048000"/>
            <a:ext cx="6171565" cy="1760220"/>
          </a:xfrm>
        </p:spPr>
        <p:txBody>
          <a:bodyPr anchor="ctr" anchorCtr="0"/>
          <a:lstStyle/>
          <a:p>
            <a:pPr algn="ctr"/>
            <a:r>
              <a:rPr lang="zh-CN" altLang="en-US"/>
              <a:t>民营企业合规背景</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01</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t>民营企业座谈会的重要讲话（</a:t>
            </a:r>
            <a:r>
              <a:rPr lang="en-US" altLang="zh-CN"/>
              <a:t>2025</a:t>
            </a:r>
            <a:r>
              <a:rPr lang="zh-CN" altLang="en-US"/>
              <a:t>年</a:t>
            </a:r>
            <a:r>
              <a:rPr lang="en-US" altLang="zh-CN"/>
              <a:t>2</a:t>
            </a:r>
            <a:r>
              <a:rPr lang="zh-CN" altLang="en-US"/>
              <a:t>月</a:t>
            </a:r>
            <a:r>
              <a:rPr lang="en-US" altLang="zh-CN"/>
              <a:t>17</a:t>
            </a:r>
            <a:r>
              <a:rPr lang="zh-CN" altLang="en-US"/>
              <a:t>日）</a:t>
            </a:r>
            <a:endParaRPr lang="zh-CN" altLang="en-US"/>
          </a:p>
        </p:txBody>
      </p:sp>
      <p:sp>
        <p:nvSpPr>
          <p:cNvPr id="3" name="正文"/>
          <p:cNvSpPr>
            <a:spLocks noGrp="1"/>
          </p:cNvSpPr>
          <p:nvPr>
            <p:ph idx="1"/>
            <p:custDataLst>
              <p:tags r:id="rId2"/>
            </p:custDataLst>
          </p:nvPr>
        </p:nvSpPr>
        <p:spPr>
          <a:xfrm>
            <a:off x="695960" y="2258695"/>
            <a:ext cx="10800080" cy="3512820"/>
          </a:xfrm>
        </p:spPr>
        <p:txBody>
          <a:bodyPr/>
          <a:lstStyle/>
          <a:p>
            <a:pPr marL="0" indent="0">
              <a:lnSpc>
                <a:spcPct val="150000"/>
              </a:lnSpc>
              <a:buNone/>
            </a:pPr>
            <a:r>
              <a:rPr lang="zh-CN" altLang="en-US"/>
              <a:t>中共中央总书记、国家主席、中央军委主席习近平，在京出席民营企业座谈会并发表重要讲话。</a:t>
            </a:r>
            <a:endParaRPr lang="zh-CN" altLang="en-US"/>
          </a:p>
          <a:p>
            <a:pPr marL="0" indent="0">
              <a:lnSpc>
                <a:spcPct val="150000"/>
              </a:lnSpc>
              <a:buNone/>
            </a:pPr>
            <a:r>
              <a:rPr lang="en-US" altLang="zh-CN" b="1">
                <a:solidFill>
                  <a:srgbClr val="FF0000"/>
                </a:solidFill>
              </a:rPr>
              <a:t>“</a:t>
            </a:r>
            <a:r>
              <a:rPr lang="zh-CN" altLang="en-US" b="1">
                <a:solidFill>
                  <a:srgbClr val="FF0000"/>
                </a:solidFill>
              </a:rPr>
              <a:t>希望广大民营企业和民营企业家胸怀报国志、一心谋发展、守法善经营、先富促共富，为推进中国式现代化作出新的更大的贡献。</a:t>
            </a:r>
            <a:r>
              <a:rPr lang="en-US" altLang="zh-CN" b="1">
                <a:solidFill>
                  <a:srgbClr val="FF0000"/>
                </a:solidFill>
              </a:rPr>
              <a:t>”</a:t>
            </a:r>
            <a:endParaRPr lang="en-US" altLang="zh-CN" b="1">
              <a:solidFill>
                <a:srgbClr val="FF0000"/>
              </a:solidFill>
            </a:endParaRPr>
          </a:p>
          <a:p>
            <a:pPr marL="0" indent="0">
              <a:lnSpc>
                <a:spcPct val="150000"/>
              </a:lnSpc>
              <a:buNone/>
            </a:pPr>
            <a:r>
              <a:rPr lang="zh-CN" altLang="en-US">
                <a:solidFill>
                  <a:schemeClr val="tx1"/>
                </a:solidFill>
              </a:rPr>
              <a:t>习近平总书记这番话语，是嘱托更是期盼。</a:t>
            </a:r>
            <a:endParaRPr lang="zh-CN" altLang="en-US">
              <a:solidFill>
                <a:schemeClr val="tx1"/>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t>中华人民共和国民营经济促进法（</a:t>
            </a:r>
            <a:r>
              <a:rPr lang="en-US" altLang="zh-CN"/>
              <a:t>2025</a:t>
            </a:r>
            <a:r>
              <a:rPr lang="zh-CN" altLang="en-US"/>
              <a:t>年</a:t>
            </a:r>
            <a:r>
              <a:rPr lang="en-US" altLang="zh-CN"/>
              <a:t>4</a:t>
            </a:r>
            <a:r>
              <a:rPr lang="zh-CN" altLang="en-US"/>
              <a:t>月</a:t>
            </a:r>
            <a:r>
              <a:rPr lang="en-US" altLang="zh-CN"/>
              <a:t>30</a:t>
            </a:r>
            <a:r>
              <a:rPr lang="zh-CN" altLang="en-US"/>
              <a:t>日）</a:t>
            </a:r>
            <a:endParaRPr lang="zh-CN" altLang="en-US"/>
          </a:p>
        </p:txBody>
      </p:sp>
      <p:sp>
        <p:nvSpPr>
          <p:cNvPr id="3" name="正文"/>
          <p:cNvSpPr>
            <a:spLocks noGrp="1"/>
          </p:cNvSpPr>
          <p:nvPr>
            <p:ph idx="1"/>
            <p:custDataLst>
              <p:tags r:id="rId2"/>
            </p:custDataLst>
          </p:nvPr>
        </p:nvSpPr>
        <p:spPr>
          <a:xfrm>
            <a:off x="695960" y="1390015"/>
            <a:ext cx="10800080" cy="3512820"/>
          </a:xfrm>
        </p:spPr>
        <p:txBody>
          <a:bodyPr>
            <a:noAutofit/>
          </a:bodyPr>
          <a:lstStyle/>
          <a:p>
            <a:pPr marL="0" indent="0">
              <a:lnSpc>
                <a:spcPct val="150000"/>
              </a:lnSpc>
              <a:buNone/>
            </a:pPr>
            <a:r>
              <a:rPr lang="zh-CN" altLang="en-US" sz="2000"/>
              <a:t>第一章</a:t>
            </a:r>
            <a:r>
              <a:rPr lang="en-US" altLang="zh-CN" sz="2000"/>
              <a:t>   </a:t>
            </a:r>
            <a:r>
              <a:rPr lang="zh-CN" altLang="en-US" sz="2000"/>
              <a:t>总则</a:t>
            </a:r>
            <a:endParaRPr lang="zh-CN" altLang="en-US" sz="2000"/>
          </a:p>
          <a:p>
            <a:pPr marL="0" indent="0">
              <a:lnSpc>
                <a:spcPct val="150000"/>
              </a:lnSpc>
              <a:buNone/>
            </a:pPr>
            <a:r>
              <a:rPr lang="zh-CN" altLang="en-US" sz="2000"/>
              <a:t>第六条　民营经济组织及其经营者从事生产经营活动，应当遵守法律法规，遵守社会公德、商业道德，诚实守信、公平竞争，履行社会责任，</a:t>
            </a:r>
            <a:r>
              <a:rPr lang="zh-CN" altLang="en-US" sz="2000" b="1">
                <a:solidFill>
                  <a:srgbClr val="FF0000"/>
                </a:solidFill>
              </a:rPr>
              <a:t>保障劳动者合法权益，</a:t>
            </a:r>
            <a:r>
              <a:rPr lang="zh-CN" altLang="en-US" sz="2000"/>
              <a:t>维护国家利益和社会公共利益，接受政府和社会监督。</a:t>
            </a:r>
            <a:endParaRPr lang="zh-CN" altLang="en-US" sz="2000"/>
          </a:p>
          <a:p>
            <a:pPr marL="0" indent="0">
              <a:lnSpc>
                <a:spcPct val="150000"/>
              </a:lnSpc>
              <a:buNone/>
            </a:pPr>
            <a:r>
              <a:rPr lang="zh-CN" altLang="en-US" sz="2000"/>
              <a:t>第五章　规范经营</a:t>
            </a:r>
            <a:endParaRPr lang="zh-CN" altLang="en-US" sz="2000"/>
          </a:p>
          <a:p>
            <a:pPr marL="0" indent="0">
              <a:lnSpc>
                <a:spcPct val="150000"/>
              </a:lnSpc>
              <a:buNone/>
            </a:pPr>
            <a:r>
              <a:rPr lang="zh-CN" altLang="en-US" sz="2000"/>
              <a:t>第三十六条　民营经济组织从事生产经营活动应当遵守</a:t>
            </a:r>
            <a:r>
              <a:rPr lang="zh-CN" altLang="en-US" sz="2000" b="1">
                <a:solidFill>
                  <a:srgbClr val="FF0000"/>
                </a:solidFill>
              </a:rPr>
              <a:t>劳动用工</a:t>
            </a:r>
            <a:r>
              <a:rPr lang="zh-CN" altLang="en-US" sz="2000"/>
              <a:t>、安全生产、职业卫生、社会保障、生态环境、质量标准、知识产权、网络和数据安全、财政税收、金融等方面的法律法规；不得通过贿赂和欺诈等手段牟取不正当利益，不得妨害市场和金融秩序、破坏生态环境、损害</a:t>
            </a:r>
            <a:r>
              <a:rPr lang="zh-CN" altLang="en-US" sz="2000" b="1">
                <a:solidFill>
                  <a:srgbClr val="FF0000"/>
                </a:solidFill>
              </a:rPr>
              <a:t>劳动者合法权益</a:t>
            </a:r>
            <a:r>
              <a:rPr lang="zh-CN" altLang="en-US" sz="2000"/>
              <a:t>和社会公共利益。</a:t>
            </a:r>
            <a:endParaRPr lang="zh-CN" altLang="en-US" sz="2000"/>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14340" y="3048000"/>
            <a:ext cx="6171565" cy="1760220"/>
          </a:xfrm>
        </p:spPr>
        <p:txBody>
          <a:bodyPr anchor="ctr" anchorCtr="0"/>
          <a:lstStyle/>
          <a:p>
            <a:pPr algn="ctr"/>
            <a:r>
              <a:rPr lang="zh-CN" altLang="en-US"/>
              <a:t>劳动合规</a:t>
            </a:r>
            <a:br>
              <a:rPr lang="zh-CN" altLang="en-US"/>
            </a:br>
            <a:r>
              <a:rPr lang="zh-CN" altLang="en-US"/>
              <a:t>法律背景和案例</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02</a:t>
            </a:r>
            <a:endParaRPr lang="en-US" altLang="zh-CN"/>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a:t>劳动相关法律法规体系</a:t>
            </a:r>
            <a:endParaRPr lang="en-US" altLang="zh-CN"/>
          </a:p>
        </p:txBody>
      </p:sp>
      <p:sp>
        <p:nvSpPr>
          <p:cNvPr id="34" name="图形 19"/>
          <p:cNvSpPr/>
          <p:nvPr>
            <p:custDataLst>
              <p:tags r:id="rId2"/>
            </p:custDataLst>
          </p:nvPr>
        </p:nvSpPr>
        <p:spPr>
          <a:xfrm>
            <a:off x="3649345"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1">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图形 19"/>
          <p:cNvSpPr/>
          <p:nvPr>
            <p:custDataLst>
              <p:tags r:id="rId3"/>
            </p:custDataLst>
          </p:nvPr>
        </p:nvSpPr>
        <p:spPr>
          <a:xfrm>
            <a:off x="6249670"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1">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图形 19"/>
          <p:cNvSpPr/>
          <p:nvPr>
            <p:custDataLst>
              <p:tags r:id="rId4"/>
            </p:custDataLst>
          </p:nvPr>
        </p:nvSpPr>
        <p:spPr>
          <a:xfrm>
            <a:off x="1049020"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1">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2" name="文本框 11"/>
          <p:cNvSpPr txBox="1"/>
          <p:nvPr>
            <p:custDataLst>
              <p:tags r:id="rId5"/>
            </p:custDataLst>
          </p:nvPr>
        </p:nvSpPr>
        <p:spPr>
          <a:xfrm>
            <a:off x="1362710" y="3273425"/>
            <a:ext cx="1569720" cy="337820"/>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1"/>
                </a:solidFill>
              </a:rPr>
              <a:t>法律</a:t>
            </a:r>
            <a:endParaRPr lang="zh-CN" altLang="en-US" sz="2000" b="1" dirty="0">
              <a:solidFill>
                <a:schemeClr val="accent1"/>
              </a:solidFill>
            </a:endParaRPr>
          </a:p>
        </p:txBody>
      </p:sp>
      <p:sp>
        <p:nvSpPr>
          <p:cNvPr id="14" name="文本框 13"/>
          <p:cNvSpPr txBox="1"/>
          <p:nvPr>
            <p:custDataLst>
              <p:tags r:id="rId6"/>
            </p:custDataLst>
          </p:nvPr>
        </p:nvSpPr>
        <p:spPr>
          <a:xfrm>
            <a:off x="1362710" y="3768090"/>
            <a:ext cx="157035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zh-CN" altLang="en-US" sz="1400" kern="0" spc="0" dirty="0">
                <a:ln>
                  <a:noFill/>
                  <a:prstDash val="sysDot"/>
                </a:ln>
                <a:solidFill>
                  <a:schemeClr val="tx1">
                    <a:lumMod val="85000"/>
                    <a:lumOff val="15000"/>
                  </a:schemeClr>
                </a:solidFill>
                <a:latin typeface="+mn-ea"/>
                <a:ea typeface="+mn-ea"/>
                <a:sym typeface="+mn-ea"/>
              </a:rPr>
              <a:t>核心法律（全国人大</a:t>
            </a:r>
            <a:r>
              <a:rPr lang="en-US" altLang="zh-CN" sz="1400" kern="0" spc="0" dirty="0">
                <a:ln>
                  <a:noFill/>
                  <a:prstDash val="sysDot"/>
                </a:ln>
                <a:solidFill>
                  <a:schemeClr val="tx1">
                    <a:lumMod val="85000"/>
                    <a:lumOff val="15000"/>
                  </a:schemeClr>
                </a:solidFill>
                <a:latin typeface="+mn-ea"/>
                <a:ea typeface="+mn-ea"/>
                <a:sym typeface="+mn-ea"/>
              </a:rPr>
              <a:t>/</a:t>
            </a:r>
            <a:r>
              <a:rPr lang="zh-CN" altLang="en-US" sz="1400" kern="0" spc="0" dirty="0">
                <a:ln>
                  <a:noFill/>
                  <a:prstDash val="sysDot"/>
                </a:ln>
                <a:solidFill>
                  <a:schemeClr val="tx1">
                    <a:lumMod val="85000"/>
                    <a:lumOff val="15000"/>
                  </a:schemeClr>
                </a:solidFill>
                <a:latin typeface="+mn-ea"/>
                <a:ea typeface="+mn-ea"/>
                <a:sym typeface="+mn-ea"/>
              </a:rPr>
              <a:t>常委会）</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44" name="图形 19"/>
          <p:cNvSpPr/>
          <p:nvPr>
            <p:custDataLst>
              <p:tags r:id="rId7"/>
            </p:custDataLst>
          </p:nvPr>
        </p:nvSpPr>
        <p:spPr>
          <a:xfrm>
            <a:off x="8849995"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1">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文本框 31"/>
          <p:cNvSpPr txBox="1"/>
          <p:nvPr>
            <p:custDataLst>
              <p:tags r:id="rId8"/>
            </p:custDataLst>
          </p:nvPr>
        </p:nvSpPr>
        <p:spPr>
          <a:xfrm>
            <a:off x="3963035" y="3273425"/>
            <a:ext cx="1569720" cy="337820"/>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1"/>
                </a:solidFill>
              </a:rPr>
              <a:t>行政法规</a:t>
            </a:r>
            <a:endParaRPr lang="zh-CN" altLang="en-US" sz="2000" b="1" dirty="0">
              <a:solidFill>
                <a:schemeClr val="accent1"/>
              </a:solidFill>
            </a:endParaRPr>
          </a:p>
        </p:txBody>
      </p:sp>
      <p:sp>
        <p:nvSpPr>
          <p:cNvPr id="33" name="文本框 32"/>
          <p:cNvSpPr txBox="1"/>
          <p:nvPr>
            <p:custDataLst>
              <p:tags r:id="rId9"/>
            </p:custDataLst>
          </p:nvPr>
        </p:nvSpPr>
        <p:spPr>
          <a:xfrm>
            <a:off x="3963035" y="3768090"/>
            <a:ext cx="157035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zh-CN" altLang="en-US" sz="1400" kern="0" spc="0" dirty="0">
                <a:ln>
                  <a:noFill/>
                  <a:prstDash val="sysDot"/>
                </a:ln>
                <a:solidFill>
                  <a:schemeClr val="tx1">
                    <a:lumMod val="85000"/>
                    <a:lumOff val="15000"/>
                  </a:schemeClr>
                </a:solidFill>
                <a:latin typeface="+mn-ea"/>
                <a:ea typeface="+mn-ea"/>
                <a:sym typeface="+mn-ea"/>
              </a:rPr>
              <a:t>国务院</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35" name="椭圆 34"/>
          <p:cNvSpPr/>
          <p:nvPr>
            <p:custDataLst>
              <p:tags r:id="rId10"/>
            </p:custDataLst>
          </p:nvPr>
        </p:nvSpPr>
        <p:spPr>
          <a:xfrm>
            <a:off x="4405948" y="2283641"/>
            <a:ext cx="684530" cy="684530"/>
          </a:xfrm>
          <a:prstGeom prst="ellipse">
            <a:avLst/>
          </a:prstGeom>
          <a:gradFill>
            <a:gsLst>
              <a:gs pos="93000">
                <a:schemeClr val="accent1"/>
              </a:gs>
              <a:gs pos="0">
                <a:schemeClr val="accent1">
                  <a:lumMod val="40000"/>
                  <a:lumOff val="6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7" name="文本框 36"/>
          <p:cNvSpPr txBox="1"/>
          <p:nvPr>
            <p:custDataLst>
              <p:tags r:id="rId11"/>
            </p:custDataLst>
          </p:nvPr>
        </p:nvSpPr>
        <p:spPr>
          <a:xfrm>
            <a:off x="6563360" y="3273425"/>
            <a:ext cx="1569720" cy="337820"/>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1"/>
                </a:solidFill>
              </a:rPr>
              <a:t>部门规章</a:t>
            </a:r>
            <a:endParaRPr lang="zh-CN" altLang="en-US" sz="2000" b="1" dirty="0">
              <a:solidFill>
                <a:schemeClr val="accent1"/>
              </a:solidFill>
            </a:endParaRPr>
          </a:p>
        </p:txBody>
      </p:sp>
      <p:sp>
        <p:nvSpPr>
          <p:cNvPr id="38" name="文本框 37"/>
          <p:cNvSpPr txBox="1"/>
          <p:nvPr>
            <p:custDataLst>
              <p:tags r:id="rId12"/>
            </p:custDataLst>
          </p:nvPr>
        </p:nvSpPr>
        <p:spPr>
          <a:xfrm>
            <a:off x="6563360" y="3768090"/>
            <a:ext cx="157035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zh-CN" altLang="en-US" sz="1400" kern="0" spc="0" dirty="0">
                <a:ln>
                  <a:noFill/>
                  <a:prstDash val="sysDot"/>
                </a:ln>
                <a:solidFill>
                  <a:schemeClr val="tx1">
                    <a:lumMod val="85000"/>
                    <a:lumOff val="15000"/>
                  </a:schemeClr>
                </a:solidFill>
                <a:latin typeface="+mn-ea"/>
                <a:ea typeface="+mn-ea"/>
                <a:sym typeface="+mn-ea"/>
              </a:rPr>
              <a:t>人社部等</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40" name="椭圆 39"/>
          <p:cNvSpPr/>
          <p:nvPr>
            <p:custDataLst>
              <p:tags r:id="rId13"/>
            </p:custDataLst>
          </p:nvPr>
        </p:nvSpPr>
        <p:spPr>
          <a:xfrm>
            <a:off x="7006273" y="2283641"/>
            <a:ext cx="684530" cy="684530"/>
          </a:xfrm>
          <a:prstGeom prst="ellipse">
            <a:avLst/>
          </a:prstGeom>
          <a:gradFill>
            <a:gsLst>
              <a:gs pos="93000">
                <a:schemeClr val="accent1"/>
              </a:gs>
              <a:gs pos="0">
                <a:schemeClr val="accent1">
                  <a:lumMod val="40000"/>
                  <a:lumOff val="6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2" name="文本框 41"/>
          <p:cNvSpPr txBox="1"/>
          <p:nvPr>
            <p:custDataLst>
              <p:tags r:id="rId14"/>
            </p:custDataLst>
          </p:nvPr>
        </p:nvSpPr>
        <p:spPr>
          <a:xfrm>
            <a:off x="9163685" y="3273425"/>
            <a:ext cx="1569720" cy="337820"/>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accent1"/>
                </a:solidFill>
              </a:rPr>
              <a:t>司法解释</a:t>
            </a:r>
            <a:endParaRPr lang="zh-CN" altLang="en-US" sz="2000" b="1" dirty="0">
              <a:solidFill>
                <a:schemeClr val="accent1"/>
              </a:solidFill>
            </a:endParaRPr>
          </a:p>
        </p:txBody>
      </p:sp>
      <p:sp>
        <p:nvSpPr>
          <p:cNvPr id="43" name="文本框 42"/>
          <p:cNvSpPr txBox="1"/>
          <p:nvPr>
            <p:custDataLst>
              <p:tags r:id="rId15"/>
            </p:custDataLst>
          </p:nvPr>
        </p:nvSpPr>
        <p:spPr>
          <a:xfrm>
            <a:off x="9163685" y="3768090"/>
            <a:ext cx="157035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zh-CN" altLang="en-US" sz="1400" kern="0" spc="0" dirty="0">
                <a:ln>
                  <a:noFill/>
                  <a:prstDash val="sysDot"/>
                </a:ln>
                <a:solidFill>
                  <a:schemeClr val="tx1">
                    <a:lumMod val="85000"/>
                    <a:lumOff val="15000"/>
                  </a:schemeClr>
                </a:solidFill>
                <a:latin typeface="+mn-ea"/>
                <a:ea typeface="+mn-ea"/>
                <a:sym typeface="+mn-ea"/>
              </a:rPr>
              <a:t>关键司法解释（最高法）</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45" name="椭圆 44"/>
          <p:cNvSpPr/>
          <p:nvPr>
            <p:custDataLst>
              <p:tags r:id="rId16"/>
            </p:custDataLst>
          </p:nvPr>
        </p:nvSpPr>
        <p:spPr>
          <a:xfrm>
            <a:off x="9606598" y="2283641"/>
            <a:ext cx="684530" cy="684530"/>
          </a:xfrm>
          <a:prstGeom prst="ellipse">
            <a:avLst/>
          </a:prstGeom>
          <a:gradFill>
            <a:gsLst>
              <a:gs pos="93000">
                <a:schemeClr val="accent1"/>
              </a:gs>
              <a:gs pos="0">
                <a:schemeClr val="accent1">
                  <a:lumMod val="40000"/>
                  <a:lumOff val="6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custDataLst>
              <p:tags r:id="rId17"/>
            </p:custDataLst>
          </p:nvPr>
        </p:nvSpPr>
        <p:spPr>
          <a:xfrm>
            <a:off x="1805623" y="2283641"/>
            <a:ext cx="684530" cy="684530"/>
          </a:xfrm>
          <a:prstGeom prst="ellipse">
            <a:avLst/>
          </a:prstGeom>
          <a:gradFill>
            <a:gsLst>
              <a:gs pos="93000">
                <a:schemeClr val="accent1"/>
              </a:gs>
              <a:gs pos="0">
                <a:schemeClr val="accent1">
                  <a:lumMod val="40000"/>
                  <a:lumOff val="6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23" name="图片 15" descr="343439383331313b343532303033313bd3a6d3c3c9ccb3c7"/>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4605021" y="2482714"/>
            <a:ext cx="286385" cy="286385"/>
          </a:xfrm>
          <a:prstGeom prst="rect">
            <a:avLst/>
          </a:prstGeom>
        </p:spPr>
      </p:pic>
      <p:pic>
        <p:nvPicPr>
          <p:cNvPr id="24" name="图片 11" descr="343439383331313b343532303032373bbfcdbba7b5b5b0b8"/>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2003888" y="2481906"/>
            <a:ext cx="288000" cy="288000"/>
          </a:xfrm>
          <a:prstGeom prst="rect">
            <a:avLst/>
          </a:prstGeom>
        </p:spPr>
      </p:pic>
      <p:pic>
        <p:nvPicPr>
          <p:cNvPr id="25" name="图片 16" descr="343439383331313b343532303033323bd3a6d3c3b9dcc0e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7205663" y="2483031"/>
            <a:ext cx="285750" cy="285750"/>
          </a:xfrm>
          <a:prstGeom prst="rect">
            <a:avLst/>
          </a:prstGeom>
        </p:spPr>
      </p:pic>
      <p:pic>
        <p:nvPicPr>
          <p:cNvPr id="26" name="图片 5" descr="343439383331313b343532303032323bb2fac6b7d5b9cabe"/>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9783163" y="2460206"/>
            <a:ext cx="331400" cy="331400"/>
          </a:xfrm>
          <a:prstGeom prst="rect">
            <a:avLst/>
          </a:prstGeom>
        </p:spPr>
      </p:pic>
    </p:spTree>
    <p:custDataLst>
      <p:tags r:id="rId30"/>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t>法律</a:t>
            </a:r>
            <a:endParaRPr lang="zh-CN"/>
          </a:p>
        </p:txBody>
      </p:sp>
      <p:sp>
        <p:nvSpPr>
          <p:cNvPr id="1283" name="边界"/>
          <p:cNvSpPr/>
          <p:nvPr>
            <p:custDataLst>
              <p:tags r:id="rId2"/>
            </p:custDataLst>
          </p:nvPr>
        </p:nvSpPr>
        <p:spPr>
          <a:xfrm>
            <a:off x="618166" y="2801937"/>
            <a:ext cx="10965187" cy="2744894"/>
          </a:xfrm>
          <a:prstGeom prst="rect">
            <a:avLst/>
          </a:prstGeom>
          <a:solidFill>
            <a:srgbClr val="FFFFFF">
              <a:alpha val="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284" name="矩形 1283"/>
          <p:cNvSpPr/>
          <p:nvPr>
            <p:custDataLst>
              <p:tags r:id="rId3"/>
            </p:custDataLst>
          </p:nvPr>
        </p:nvSpPr>
        <p:spPr>
          <a:xfrm>
            <a:off x="608013" y="3048146"/>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《中华人民共和国劳动法》（</a:t>
            </a:r>
            <a:r>
              <a:rPr lang="en-US" altLang="zh-CN" sz="1100" kern="0" dirty="0">
                <a:ln>
                  <a:noFill/>
                  <a:prstDash val="sysDot"/>
                </a:ln>
                <a:solidFill>
                  <a:srgbClr val="000000">
                    <a:lumMod val="85000"/>
                    <a:lumOff val="15000"/>
                  </a:srgbClr>
                </a:solidFill>
                <a:latin typeface="+mn-ea"/>
                <a:cs typeface="+mn-ea"/>
                <a:sym typeface="+mn-ea"/>
              </a:rPr>
              <a:t>1995</a:t>
            </a:r>
            <a:r>
              <a:rPr lang="zh-CN" altLang="en-US" sz="1100" kern="0" dirty="0">
                <a:ln>
                  <a:noFill/>
                  <a:prstDash val="sysDot"/>
                </a:ln>
                <a:solidFill>
                  <a:srgbClr val="000000">
                    <a:lumMod val="85000"/>
                    <a:lumOff val="15000"/>
                  </a:srgbClr>
                </a:solidFill>
                <a:latin typeface="+mn-ea"/>
                <a:cs typeface="+mn-ea"/>
                <a:sym typeface="+mn-ea"/>
              </a:rPr>
              <a:t>，</a:t>
            </a:r>
            <a:r>
              <a:rPr lang="en-US" altLang="zh-CN" sz="1100" kern="0" dirty="0">
                <a:ln>
                  <a:noFill/>
                  <a:prstDash val="sysDot"/>
                </a:ln>
                <a:solidFill>
                  <a:srgbClr val="000000">
                    <a:lumMod val="85000"/>
                    <a:lumOff val="15000"/>
                  </a:srgbClr>
                </a:solidFill>
                <a:latin typeface="+mn-ea"/>
                <a:cs typeface="+mn-ea"/>
                <a:sym typeface="+mn-ea"/>
              </a:rPr>
              <a:t>2018</a:t>
            </a:r>
            <a:r>
              <a:rPr lang="zh-CN" altLang="en-US" sz="1100" kern="0" dirty="0">
                <a:ln>
                  <a:noFill/>
                  <a:prstDash val="sysDot"/>
                </a:ln>
                <a:solidFill>
                  <a:srgbClr val="000000">
                    <a:lumMod val="85000"/>
                    <a:lumOff val="15000"/>
                  </a:srgbClr>
                </a:solidFill>
                <a:latin typeface="+mn-ea"/>
                <a:cs typeface="+mn-ea"/>
                <a:sym typeface="+mn-ea"/>
              </a:rPr>
              <a:t>修正）：劳动领域基本法，规定劳动关系、工时、工资、社保、劳动保护、争议处理等。</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85" name="文本框 1284"/>
          <p:cNvSpPr txBox="1"/>
          <p:nvPr>
            <p:custDataLst>
              <p:tags r:id="rId4"/>
            </p:custDataLst>
          </p:nvPr>
        </p:nvSpPr>
        <p:spPr>
          <a:xfrm>
            <a:off x="608013" y="2800668"/>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《中华人民共和国劳动法》</a:t>
            </a:r>
            <a:endParaRPr lang="zh-CN" altLang="en-US" sz="1100" b="1">
              <a:solidFill>
                <a:srgbClr val="376FFF"/>
              </a:solidFill>
              <a:sym typeface="+mn-ea"/>
            </a:endParaRPr>
          </a:p>
        </p:txBody>
      </p:sp>
      <p:sp>
        <p:nvSpPr>
          <p:cNvPr id="1286" name="矩形 1285"/>
          <p:cNvSpPr/>
          <p:nvPr>
            <p:custDataLst>
              <p:tags r:id="rId5"/>
            </p:custDataLst>
          </p:nvPr>
        </p:nvSpPr>
        <p:spPr>
          <a:xfrm>
            <a:off x="608013" y="4487327"/>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《中华人民共和国就业促进法》（</a:t>
            </a:r>
            <a:r>
              <a:rPr lang="en-US" altLang="zh-CN" sz="1100" kern="0" dirty="0">
                <a:ln>
                  <a:noFill/>
                  <a:prstDash val="sysDot"/>
                </a:ln>
                <a:solidFill>
                  <a:srgbClr val="000000">
                    <a:lumMod val="85000"/>
                    <a:lumOff val="15000"/>
                  </a:srgbClr>
                </a:solidFill>
                <a:latin typeface="+mn-ea"/>
                <a:cs typeface="+mn-ea"/>
                <a:sym typeface="+mn-ea"/>
              </a:rPr>
              <a:t>2008</a:t>
            </a:r>
            <a:r>
              <a:rPr lang="zh-CN" altLang="en-US" sz="1100" kern="0" dirty="0">
                <a:ln>
                  <a:noFill/>
                  <a:prstDash val="sysDot"/>
                </a:ln>
                <a:solidFill>
                  <a:srgbClr val="000000">
                    <a:lumMod val="85000"/>
                    <a:lumOff val="15000"/>
                  </a:srgbClr>
                </a:solidFill>
                <a:latin typeface="+mn-ea"/>
                <a:cs typeface="+mn-ea"/>
                <a:sym typeface="+mn-ea"/>
              </a:rPr>
              <a:t>，</a:t>
            </a:r>
            <a:r>
              <a:rPr lang="en-US" altLang="zh-CN" sz="1100" kern="0" dirty="0">
                <a:ln>
                  <a:noFill/>
                  <a:prstDash val="sysDot"/>
                </a:ln>
                <a:solidFill>
                  <a:srgbClr val="000000">
                    <a:lumMod val="85000"/>
                    <a:lumOff val="15000"/>
                  </a:srgbClr>
                </a:solidFill>
                <a:latin typeface="+mn-ea"/>
                <a:cs typeface="+mn-ea"/>
                <a:sym typeface="+mn-ea"/>
              </a:rPr>
              <a:t>2015</a:t>
            </a:r>
            <a:r>
              <a:rPr lang="zh-CN" altLang="en-US" sz="1100" kern="0" dirty="0">
                <a:ln>
                  <a:noFill/>
                  <a:prstDash val="sysDot"/>
                </a:ln>
                <a:solidFill>
                  <a:srgbClr val="000000">
                    <a:lumMod val="85000"/>
                    <a:lumOff val="15000"/>
                  </a:srgbClr>
                </a:solidFill>
                <a:latin typeface="+mn-ea"/>
                <a:cs typeface="+mn-ea"/>
                <a:sym typeface="+mn-ea"/>
              </a:rPr>
              <a:t>修正）：反就业歧视、促进就业、职业培训、就业服务。</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87" name="文本框 1286"/>
          <p:cNvSpPr txBox="1"/>
          <p:nvPr>
            <p:custDataLst>
              <p:tags r:id="rId6"/>
            </p:custDataLst>
          </p:nvPr>
        </p:nvSpPr>
        <p:spPr>
          <a:xfrm>
            <a:off x="608013" y="4239849"/>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《中华人民共和国就业促进法》</a:t>
            </a:r>
            <a:endParaRPr lang="zh-CN" altLang="en-US" sz="1100" b="1">
              <a:solidFill>
                <a:srgbClr val="376FFF"/>
              </a:solidFill>
              <a:sym typeface="+mn-ea"/>
            </a:endParaRPr>
          </a:p>
        </p:txBody>
      </p:sp>
      <p:sp>
        <p:nvSpPr>
          <p:cNvPr id="1288" name="矩形 1287"/>
          <p:cNvSpPr/>
          <p:nvPr>
            <p:custDataLst>
              <p:tags r:id="rId7"/>
            </p:custDataLst>
          </p:nvPr>
        </p:nvSpPr>
        <p:spPr>
          <a:xfrm>
            <a:off x="3404517" y="3048146"/>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《中华人民共和国劳动合同法》（</a:t>
            </a:r>
            <a:r>
              <a:rPr lang="en-US" altLang="zh-CN" sz="1100" kern="0" dirty="0">
                <a:ln>
                  <a:noFill/>
                  <a:prstDash val="sysDot"/>
                </a:ln>
                <a:solidFill>
                  <a:srgbClr val="000000">
                    <a:lumMod val="85000"/>
                    <a:lumOff val="15000"/>
                  </a:srgbClr>
                </a:solidFill>
                <a:latin typeface="+mn-ea"/>
                <a:cs typeface="+mn-ea"/>
                <a:sym typeface="+mn-ea"/>
              </a:rPr>
              <a:t>2008</a:t>
            </a:r>
            <a:r>
              <a:rPr lang="zh-CN" altLang="en-US" sz="1100" kern="0" dirty="0">
                <a:ln>
                  <a:noFill/>
                  <a:prstDash val="sysDot"/>
                </a:ln>
                <a:solidFill>
                  <a:srgbClr val="000000">
                    <a:lumMod val="85000"/>
                    <a:lumOff val="15000"/>
                  </a:srgbClr>
                </a:solidFill>
                <a:latin typeface="+mn-ea"/>
                <a:cs typeface="+mn-ea"/>
                <a:sym typeface="+mn-ea"/>
              </a:rPr>
              <a:t>，</a:t>
            </a:r>
            <a:r>
              <a:rPr lang="en-US" altLang="zh-CN" sz="1100" kern="0" dirty="0">
                <a:ln>
                  <a:noFill/>
                  <a:prstDash val="sysDot"/>
                </a:ln>
                <a:solidFill>
                  <a:srgbClr val="000000">
                    <a:lumMod val="85000"/>
                    <a:lumOff val="15000"/>
                  </a:srgbClr>
                </a:solidFill>
                <a:latin typeface="+mn-ea"/>
                <a:cs typeface="+mn-ea"/>
                <a:sym typeface="+mn-ea"/>
              </a:rPr>
              <a:t>2012</a:t>
            </a:r>
            <a:r>
              <a:rPr lang="zh-CN" altLang="en-US" sz="1100" kern="0" dirty="0">
                <a:ln>
                  <a:noFill/>
                  <a:prstDash val="sysDot"/>
                </a:ln>
                <a:solidFill>
                  <a:srgbClr val="000000">
                    <a:lumMod val="85000"/>
                    <a:lumOff val="15000"/>
                  </a:srgbClr>
                </a:solidFill>
                <a:latin typeface="+mn-ea"/>
                <a:cs typeface="+mn-ea"/>
                <a:sym typeface="+mn-ea"/>
              </a:rPr>
              <a:t>修正）：专门规范劳动合同的订立、履行、解除、经济补偿、赔偿金等。</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89" name="文本框 1288"/>
          <p:cNvSpPr txBox="1"/>
          <p:nvPr>
            <p:custDataLst>
              <p:tags r:id="rId8"/>
            </p:custDataLst>
          </p:nvPr>
        </p:nvSpPr>
        <p:spPr>
          <a:xfrm>
            <a:off x="3404517" y="2800668"/>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《中华人民共和国劳动合同法》</a:t>
            </a:r>
            <a:endParaRPr lang="zh-CN" altLang="en-US" sz="1100" b="1">
              <a:solidFill>
                <a:srgbClr val="376FFF"/>
              </a:solidFill>
              <a:sym typeface="+mn-ea"/>
            </a:endParaRPr>
          </a:p>
        </p:txBody>
      </p:sp>
      <p:sp>
        <p:nvSpPr>
          <p:cNvPr id="1290" name="矩形 1289"/>
          <p:cNvSpPr/>
          <p:nvPr>
            <p:custDataLst>
              <p:tags r:id="rId9"/>
            </p:custDataLst>
          </p:nvPr>
        </p:nvSpPr>
        <p:spPr>
          <a:xfrm>
            <a:off x="3404517" y="4487327"/>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《中华人民共和国工会法》（</a:t>
            </a:r>
            <a:r>
              <a:rPr lang="en-US" altLang="zh-CN" sz="1100" kern="0" dirty="0">
                <a:ln>
                  <a:noFill/>
                  <a:prstDash val="sysDot"/>
                </a:ln>
                <a:solidFill>
                  <a:srgbClr val="000000">
                    <a:lumMod val="85000"/>
                    <a:lumOff val="15000"/>
                  </a:srgbClr>
                </a:solidFill>
                <a:latin typeface="+mn-ea"/>
                <a:cs typeface="+mn-ea"/>
                <a:sym typeface="+mn-ea"/>
              </a:rPr>
              <a:t>2021</a:t>
            </a:r>
            <a:r>
              <a:rPr lang="zh-CN" altLang="en-US" sz="1100" kern="0" dirty="0">
                <a:ln>
                  <a:noFill/>
                  <a:prstDash val="sysDot"/>
                </a:ln>
                <a:solidFill>
                  <a:srgbClr val="000000">
                    <a:lumMod val="85000"/>
                    <a:lumOff val="15000"/>
                  </a:srgbClr>
                </a:solidFill>
                <a:latin typeface="+mn-ea"/>
                <a:cs typeface="+mn-ea"/>
                <a:sym typeface="+mn-ea"/>
              </a:rPr>
              <a:t>修订）：工会组建、集体协商、维权、参与企业管理。</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91" name="文本框 1290"/>
          <p:cNvSpPr txBox="1"/>
          <p:nvPr>
            <p:custDataLst>
              <p:tags r:id="rId10"/>
            </p:custDataLst>
          </p:nvPr>
        </p:nvSpPr>
        <p:spPr>
          <a:xfrm>
            <a:off x="3404517" y="4239849"/>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《中华人民共和国工会法》</a:t>
            </a:r>
            <a:endParaRPr lang="zh-CN" altLang="en-US" sz="1100" b="1">
              <a:solidFill>
                <a:srgbClr val="376FFF"/>
              </a:solidFill>
              <a:sym typeface="+mn-ea"/>
            </a:endParaRPr>
          </a:p>
        </p:txBody>
      </p:sp>
      <p:sp>
        <p:nvSpPr>
          <p:cNvPr id="1292" name="矩形 1291"/>
          <p:cNvSpPr/>
          <p:nvPr>
            <p:custDataLst>
              <p:tags r:id="rId11"/>
            </p:custDataLst>
          </p:nvPr>
        </p:nvSpPr>
        <p:spPr>
          <a:xfrm>
            <a:off x="6201020" y="3048146"/>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《中华人民共和国社会保险法》（</a:t>
            </a:r>
            <a:r>
              <a:rPr lang="en-US" altLang="zh-CN" sz="1100" kern="0" dirty="0">
                <a:ln>
                  <a:noFill/>
                  <a:prstDash val="sysDot"/>
                </a:ln>
                <a:solidFill>
                  <a:srgbClr val="000000">
                    <a:lumMod val="85000"/>
                    <a:lumOff val="15000"/>
                  </a:srgbClr>
                </a:solidFill>
                <a:latin typeface="+mn-ea"/>
                <a:cs typeface="+mn-ea"/>
                <a:sym typeface="+mn-ea"/>
              </a:rPr>
              <a:t>2011</a:t>
            </a:r>
            <a:r>
              <a:rPr lang="zh-CN" altLang="en-US" sz="1100" kern="0" dirty="0">
                <a:ln>
                  <a:noFill/>
                  <a:prstDash val="sysDot"/>
                </a:ln>
                <a:solidFill>
                  <a:srgbClr val="000000">
                    <a:lumMod val="85000"/>
                    <a:lumOff val="15000"/>
                  </a:srgbClr>
                </a:solidFill>
                <a:latin typeface="+mn-ea"/>
                <a:cs typeface="+mn-ea"/>
                <a:sym typeface="+mn-ea"/>
              </a:rPr>
              <a:t>）：确立养老</a:t>
            </a:r>
            <a:r>
              <a:rPr lang="en-US" altLang="zh-CN" sz="1100" kern="0" dirty="0">
                <a:ln>
                  <a:noFill/>
                  <a:prstDash val="sysDot"/>
                </a:ln>
                <a:solidFill>
                  <a:srgbClr val="000000">
                    <a:lumMod val="85000"/>
                    <a:lumOff val="15000"/>
                  </a:srgbClr>
                </a:solidFill>
                <a:latin typeface="+mn-ea"/>
                <a:cs typeface="+mn-ea"/>
                <a:sym typeface="+mn-ea"/>
              </a:rPr>
              <a:t>/</a:t>
            </a:r>
            <a:r>
              <a:rPr lang="zh-CN" altLang="en-US" sz="1100" kern="0" dirty="0">
                <a:ln>
                  <a:noFill/>
                  <a:prstDash val="sysDot"/>
                </a:ln>
                <a:solidFill>
                  <a:srgbClr val="000000">
                    <a:lumMod val="85000"/>
                    <a:lumOff val="15000"/>
                  </a:srgbClr>
                </a:solidFill>
                <a:latin typeface="+mn-ea"/>
                <a:cs typeface="+mn-ea"/>
                <a:sym typeface="+mn-ea"/>
              </a:rPr>
              <a:t>医疗</a:t>
            </a:r>
            <a:r>
              <a:rPr lang="en-US" altLang="zh-CN" sz="1100" kern="0" dirty="0">
                <a:ln>
                  <a:noFill/>
                  <a:prstDash val="sysDot"/>
                </a:ln>
                <a:solidFill>
                  <a:srgbClr val="000000">
                    <a:lumMod val="85000"/>
                    <a:lumOff val="15000"/>
                  </a:srgbClr>
                </a:solidFill>
                <a:latin typeface="+mn-ea"/>
                <a:cs typeface="+mn-ea"/>
                <a:sym typeface="+mn-ea"/>
              </a:rPr>
              <a:t>/</a:t>
            </a:r>
            <a:r>
              <a:rPr lang="zh-CN" altLang="en-US" sz="1100" kern="0" dirty="0">
                <a:ln>
                  <a:noFill/>
                  <a:prstDash val="sysDot"/>
                </a:ln>
                <a:solidFill>
                  <a:srgbClr val="000000">
                    <a:lumMod val="85000"/>
                    <a:lumOff val="15000"/>
                  </a:srgbClr>
                </a:solidFill>
                <a:latin typeface="+mn-ea"/>
                <a:cs typeface="+mn-ea"/>
                <a:sym typeface="+mn-ea"/>
              </a:rPr>
              <a:t>失业</a:t>
            </a:r>
            <a:r>
              <a:rPr lang="en-US" altLang="zh-CN" sz="1100" kern="0" dirty="0">
                <a:ln>
                  <a:noFill/>
                  <a:prstDash val="sysDot"/>
                </a:ln>
                <a:solidFill>
                  <a:srgbClr val="000000">
                    <a:lumMod val="85000"/>
                    <a:lumOff val="15000"/>
                  </a:srgbClr>
                </a:solidFill>
                <a:latin typeface="+mn-ea"/>
                <a:cs typeface="+mn-ea"/>
                <a:sym typeface="+mn-ea"/>
              </a:rPr>
              <a:t>/</a:t>
            </a:r>
            <a:r>
              <a:rPr lang="zh-CN" altLang="en-US" sz="1100" kern="0" dirty="0">
                <a:ln>
                  <a:noFill/>
                  <a:prstDash val="sysDot"/>
                </a:ln>
                <a:solidFill>
                  <a:srgbClr val="000000">
                    <a:lumMod val="85000"/>
                    <a:lumOff val="15000"/>
                  </a:srgbClr>
                </a:solidFill>
                <a:latin typeface="+mn-ea"/>
                <a:cs typeface="+mn-ea"/>
                <a:sym typeface="+mn-ea"/>
              </a:rPr>
              <a:t>工伤</a:t>
            </a:r>
            <a:r>
              <a:rPr lang="en-US" altLang="zh-CN" sz="1100" kern="0" dirty="0">
                <a:ln>
                  <a:noFill/>
                  <a:prstDash val="sysDot"/>
                </a:ln>
                <a:solidFill>
                  <a:srgbClr val="000000">
                    <a:lumMod val="85000"/>
                    <a:lumOff val="15000"/>
                  </a:srgbClr>
                </a:solidFill>
                <a:latin typeface="+mn-ea"/>
                <a:cs typeface="+mn-ea"/>
                <a:sym typeface="+mn-ea"/>
              </a:rPr>
              <a:t>/</a:t>
            </a:r>
            <a:r>
              <a:rPr lang="zh-CN" altLang="en-US" sz="1100" kern="0" dirty="0">
                <a:ln>
                  <a:noFill/>
                  <a:prstDash val="sysDot"/>
                </a:ln>
                <a:solidFill>
                  <a:srgbClr val="000000">
                    <a:lumMod val="85000"/>
                    <a:lumOff val="15000"/>
                  </a:srgbClr>
                </a:solidFill>
                <a:latin typeface="+mn-ea"/>
                <a:cs typeface="+mn-ea"/>
                <a:sym typeface="+mn-ea"/>
              </a:rPr>
              <a:t>生育五险制度，强制参保。</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93" name="文本框 1292"/>
          <p:cNvSpPr txBox="1"/>
          <p:nvPr>
            <p:custDataLst>
              <p:tags r:id="rId12"/>
            </p:custDataLst>
          </p:nvPr>
        </p:nvSpPr>
        <p:spPr>
          <a:xfrm>
            <a:off x="6201020" y="2800668"/>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《中华人民共和国社会保险法》</a:t>
            </a:r>
            <a:endParaRPr lang="zh-CN" altLang="en-US" sz="1100" b="1">
              <a:solidFill>
                <a:srgbClr val="376FFF"/>
              </a:solidFill>
              <a:sym typeface="+mn-ea"/>
            </a:endParaRPr>
          </a:p>
        </p:txBody>
      </p:sp>
      <p:sp>
        <p:nvSpPr>
          <p:cNvPr id="1294" name="矩形 1293"/>
          <p:cNvSpPr/>
          <p:nvPr>
            <p:custDataLst>
              <p:tags r:id="rId13"/>
            </p:custDataLst>
          </p:nvPr>
        </p:nvSpPr>
        <p:spPr>
          <a:xfrm>
            <a:off x="6201020" y="4487327"/>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《中华人民共和国安全生产法》（</a:t>
            </a:r>
            <a:r>
              <a:rPr lang="en-US" altLang="zh-CN" sz="1100" kern="0" dirty="0">
                <a:ln>
                  <a:noFill/>
                  <a:prstDash val="sysDot"/>
                </a:ln>
                <a:solidFill>
                  <a:srgbClr val="000000">
                    <a:lumMod val="85000"/>
                    <a:lumOff val="15000"/>
                  </a:srgbClr>
                </a:solidFill>
                <a:latin typeface="+mn-ea"/>
                <a:cs typeface="+mn-ea"/>
                <a:sym typeface="+mn-ea"/>
              </a:rPr>
              <a:t>2021</a:t>
            </a:r>
            <a:r>
              <a:rPr lang="zh-CN" altLang="en-US" sz="1100" kern="0" dirty="0">
                <a:ln>
                  <a:noFill/>
                  <a:prstDash val="sysDot"/>
                </a:ln>
                <a:solidFill>
                  <a:srgbClr val="000000">
                    <a:lumMod val="85000"/>
                    <a:lumOff val="15000"/>
                  </a:srgbClr>
                </a:solidFill>
                <a:latin typeface="+mn-ea"/>
                <a:cs typeface="+mn-ea"/>
                <a:sym typeface="+mn-ea"/>
              </a:rPr>
              <a:t>修正）：劳动安全、防护、培训、事故责任。</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95" name="文本框 1294"/>
          <p:cNvSpPr txBox="1"/>
          <p:nvPr>
            <p:custDataLst>
              <p:tags r:id="rId14"/>
            </p:custDataLst>
          </p:nvPr>
        </p:nvSpPr>
        <p:spPr>
          <a:xfrm>
            <a:off x="6201020" y="4239849"/>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《中华人民共和国安全生产法》</a:t>
            </a:r>
            <a:endParaRPr lang="zh-CN" altLang="en-US" sz="1100" b="1">
              <a:solidFill>
                <a:srgbClr val="376FFF"/>
              </a:solidFill>
              <a:sym typeface="+mn-ea"/>
            </a:endParaRPr>
          </a:p>
        </p:txBody>
      </p:sp>
      <p:sp>
        <p:nvSpPr>
          <p:cNvPr id="1296" name="矩形 1295"/>
          <p:cNvSpPr/>
          <p:nvPr>
            <p:custDataLst>
              <p:tags r:id="rId15"/>
            </p:custDataLst>
          </p:nvPr>
        </p:nvSpPr>
        <p:spPr>
          <a:xfrm>
            <a:off x="8997523" y="3048146"/>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《中华人民共和国劳动争议调解仲裁法》（</a:t>
            </a:r>
            <a:r>
              <a:rPr lang="en-US" altLang="zh-CN" sz="1100" kern="0" dirty="0">
                <a:ln>
                  <a:noFill/>
                  <a:prstDash val="sysDot"/>
                </a:ln>
                <a:solidFill>
                  <a:srgbClr val="000000">
                    <a:lumMod val="85000"/>
                    <a:lumOff val="15000"/>
                  </a:srgbClr>
                </a:solidFill>
                <a:latin typeface="+mn-ea"/>
                <a:cs typeface="+mn-ea"/>
                <a:sym typeface="+mn-ea"/>
              </a:rPr>
              <a:t>2008</a:t>
            </a:r>
            <a:r>
              <a:rPr lang="zh-CN" altLang="en-US" sz="1100" kern="0" dirty="0">
                <a:ln>
                  <a:noFill/>
                  <a:prstDash val="sysDot"/>
                </a:ln>
                <a:solidFill>
                  <a:srgbClr val="000000">
                    <a:lumMod val="85000"/>
                    <a:lumOff val="15000"/>
                  </a:srgbClr>
                </a:solidFill>
                <a:latin typeface="+mn-ea"/>
                <a:cs typeface="+mn-ea"/>
                <a:sym typeface="+mn-ea"/>
              </a:rPr>
              <a:t>）：劳动纠纷仲裁前置，时效</a:t>
            </a:r>
            <a:r>
              <a:rPr lang="en-US" altLang="zh-CN" sz="1100" kern="0" dirty="0">
                <a:ln>
                  <a:noFill/>
                  <a:prstDash val="sysDot"/>
                </a:ln>
                <a:solidFill>
                  <a:srgbClr val="000000">
                    <a:lumMod val="85000"/>
                    <a:lumOff val="15000"/>
                  </a:srgbClr>
                </a:solidFill>
                <a:latin typeface="+mn-ea"/>
                <a:cs typeface="+mn-ea"/>
                <a:sym typeface="+mn-ea"/>
              </a:rPr>
              <a:t>1</a:t>
            </a:r>
            <a:r>
              <a:rPr lang="zh-CN" altLang="en-US" sz="1100" kern="0" dirty="0">
                <a:ln>
                  <a:noFill/>
                  <a:prstDash val="sysDot"/>
                </a:ln>
                <a:solidFill>
                  <a:srgbClr val="000000">
                    <a:lumMod val="85000"/>
                    <a:lumOff val="15000"/>
                  </a:srgbClr>
                </a:solidFill>
                <a:latin typeface="+mn-ea"/>
                <a:cs typeface="+mn-ea"/>
                <a:sym typeface="+mn-ea"/>
              </a:rPr>
              <a:t>年，明确调解、仲裁、诉讼流程。</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97" name="文本框 1296"/>
          <p:cNvSpPr txBox="1"/>
          <p:nvPr>
            <p:custDataLst>
              <p:tags r:id="rId16"/>
            </p:custDataLst>
          </p:nvPr>
        </p:nvSpPr>
        <p:spPr>
          <a:xfrm>
            <a:off x="8997523" y="2800668"/>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《中华人民共和国劳动争议调解仲裁法》</a:t>
            </a:r>
            <a:endParaRPr lang="zh-CN" altLang="en-US" sz="1100" b="1">
              <a:solidFill>
                <a:srgbClr val="376FFF"/>
              </a:solidFill>
              <a:sym typeface="+mn-ea"/>
            </a:endParaRPr>
          </a:p>
        </p:txBody>
      </p:sp>
      <p:sp>
        <p:nvSpPr>
          <p:cNvPr id="1298" name="矩形 1297"/>
          <p:cNvSpPr/>
          <p:nvPr>
            <p:custDataLst>
              <p:tags r:id="rId17"/>
            </p:custDataLst>
          </p:nvPr>
        </p:nvSpPr>
        <p:spPr>
          <a:xfrm>
            <a:off x="8997523" y="4487327"/>
            <a:ext cx="2558544" cy="1059080"/>
          </a:xfrm>
          <a:prstGeom prst="rect">
            <a:avLst/>
          </a:prstGeom>
          <a:ln>
            <a:noFill/>
            <a:prstDash val="sysDash"/>
          </a:ln>
        </p:spPr>
        <p:txBody>
          <a:bodyPr vert="horz" wrap="square" lIns="0" tIns="0" rIns="0" bIns="0" rtlCol="0">
            <a:noAutofit/>
          </a:bodyPr>
          <a:p>
            <a:pPr indent="0" algn="just" fontAlgn="auto">
              <a:lnSpc>
                <a:spcPct val="125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《中华人民共和国职业病防治法》（</a:t>
            </a:r>
            <a:r>
              <a:rPr lang="en-US" altLang="zh-CN" sz="1100" kern="0" dirty="0">
                <a:ln>
                  <a:noFill/>
                  <a:prstDash val="sysDot"/>
                </a:ln>
                <a:solidFill>
                  <a:srgbClr val="000000">
                    <a:lumMod val="85000"/>
                    <a:lumOff val="15000"/>
                  </a:srgbClr>
                </a:solidFill>
                <a:latin typeface="+mn-ea"/>
                <a:cs typeface="+mn-ea"/>
                <a:sym typeface="+mn-ea"/>
              </a:rPr>
              <a:t>2018</a:t>
            </a:r>
            <a:r>
              <a:rPr lang="zh-CN" altLang="en-US" sz="1100" kern="0" dirty="0">
                <a:ln>
                  <a:noFill/>
                  <a:prstDash val="sysDot"/>
                </a:ln>
                <a:solidFill>
                  <a:srgbClr val="000000">
                    <a:lumMod val="85000"/>
                    <a:lumOff val="15000"/>
                  </a:srgbClr>
                </a:solidFill>
                <a:latin typeface="+mn-ea"/>
                <a:cs typeface="+mn-ea"/>
                <a:sym typeface="+mn-ea"/>
              </a:rPr>
              <a:t>修正）：职业健康、职业病诊断与保障。</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1299" name="文本框 1298"/>
          <p:cNvSpPr txBox="1"/>
          <p:nvPr>
            <p:custDataLst>
              <p:tags r:id="rId18"/>
            </p:custDataLst>
          </p:nvPr>
        </p:nvSpPr>
        <p:spPr>
          <a:xfrm>
            <a:off x="8997523" y="4239849"/>
            <a:ext cx="2558544" cy="241133"/>
          </a:xfrm>
          <a:prstGeom prst="rect">
            <a:avLst/>
          </a:prstGeom>
          <a:noFill/>
        </p:spPr>
        <p:txBody>
          <a:bodyPr wrap="square" lIns="0" tIns="0" rIns="0" bIns="0" rtlCol="0" anchor="b" anchorCtr="0">
            <a:noAutofit/>
          </a:bodyPr>
          <a:p>
            <a:pPr lvl="0" algn="l">
              <a:buClrTx/>
              <a:buSzTx/>
              <a:buFontTx/>
            </a:pPr>
            <a:r>
              <a:rPr lang="zh-CN" altLang="en-US" sz="1100" b="1">
                <a:solidFill>
                  <a:srgbClr val="376FFF"/>
                </a:solidFill>
                <a:sym typeface="+mn-ea"/>
              </a:rPr>
              <a:t>《中华人民共和国职业病防治法》</a:t>
            </a:r>
            <a:endParaRPr lang="zh-CN" altLang="en-US" sz="1100" b="1">
              <a:solidFill>
                <a:srgbClr val="376FFF"/>
              </a:solidFill>
              <a:sym typeface="+mn-ea"/>
            </a:endParaRPr>
          </a:p>
        </p:txBody>
      </p:sp>
    </p:spTree>
    <p:custDataLst>
      <p:tags r:id="rId1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t>行政法规</a:t>
            </a:r>
            <a:endParaRPr lang="zh-CN"/>
          </a:p>
        </p:txBody>
      </p:sp>
      <p:cxnSp>
        <p:nvCxnSpPr>
          <p:cNvPr id="1716" name="直接连接符 1715"/>
          <p:cNvCxnSpPr/>
          <p:nvPr>
            <p:custDataLst>
              <p:tags r:id="rId2"/>
            </p:custDataLst>
          </p:nvPr>
        </p:nvCxnSpPr>
        <p:spPr>
          <a:xfrm>
            <a:off x="3224948" y="3164107"/>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17" name="矩形 1716"/>
          <p:cNvSpPr/>
          <p:nvPr>
            <p:custDataLst>
              <p:tags r:id="rId3"/>
            </p:custDataLst>
          </p:nvPr>
        </p:nvSpPr>
        <p:spPr>
          <a:xfrm>
            <a:off x="608648" y="3448155"/>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1200">
                <a:solidFill>
                  <a:srgbClr val="000000">
                    <a:lumMod val="85000"/>
                    <a:lumOff val="15000"/>
                  </a:srgbClr>
                </a:solidFill>
                <a:latin typeface="+mn-ea"/>
                <a:cs typeface="+mn-ea"/>
                <a:sym typeface="+mn-ea"/>
              </a:rPr>
              <a:t>细化劳动合同法操作规则。</a:t>
            </a:r>
            <a:endParaRPr lang="zh-CN" altLang="en-US" sz="1200">
              <a:solidFill>
                <a:srgbClr val="000000">
                  <a:lumMod val="85000"/>
                  <a:lumOff val="15000"/>
                </a:srgbClr>
              </a:solidFill>
              <a:latin typeface="+mn-ea"/>
              <a:cs typeface="+mn-ea"/>
              <a:sym typeface="+mn-ea"/>
            </a:endParaRPr>
          </a:p>
        </p:txBody>
      </p:sp>
      <p:sp>
        <p:nvSpPr>
          <p:cNvPr id="1718" name="标题 22"/>
          <p:cNvSpPr>
            <a:spLocks noGrp="1"/>
          </p:cNvSpPr>
          <p:nvPr>
            <p:custDataLst>
              <p:tags r:id="rId4"/>
            </p:custDataLst>
          </p:nvPr>
        </p:nvSpPr>
        <p:spPr>
          <a:xfrm>
            <a:off x="608648" y="3105514"/>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《劳动合同法实施条例》（</a:t>
            </a:r>
            <a:r>
              <a:rPr lang="en-US" altLang="zh-CN" sz="1000" spc="0">
                <a:solidFill>
                  <a:srgbClr val="376FFF"/>
                </a:solidFill>
                <a:latin typeface="+mn-ea"/>
                <a:ea typeface="+mn-ea"/>
                <a:cs typeface="+mn-ea"/>
                <a:sym typeface="+mn-ea"/>
              </a:rPr>
              <a:t>2008</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sp>
        <p:nvSpPr>
          <p:cNvPr id="1719" name="矩形 1718"/>
          <p:cNvSpPr/>
          <p:nvPr>
            <p:custDataLst>
              <p:tags r:id="rId5"/>
            </p:custDataLst>
          </p:nvPr>
        </p:nvSpPr>
        <p:spPr>
          <a:xfrm>
            <a:off x="3479700" y="3448155"/>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1200">
                <a:solidFill>
                  <a:srgbClr val="000000">
                    <a:lumMod val="85000"/>
                    <a:lumOff val="15000"/>
                  </a:srgbClr>
                </a:solidFill>
                <a:latin typeface="+mn-ea"/>
                <a:cs typeface="+mn-ea"/>
                <a:sym typeface="+mn-ea"/>
              </a:rPr>
              <a:t>规定工伤认定、劳动能力鉴定、待遇标准等核心内容。</a:t>
            </a:r>
            <a:endParaRPr lang="zh-CN" altLang="en-US" sz="1200">
              <a:solidFill>
                <a:srgbClr val="000000">
                  <a:lumMod val="85000"/>
                  <a:lumOff val="15000"/>
                </a:srgbClr>
              </a:solidFill>
              <a:latin typeface="+mn-ea"/>
              <a:cs typeface="+mn-ea"/>
              <a:sym typeface="+mn-ea"/>
            </a:endParaRPr>
          </a:p>
        </p:txBody>
      </p:sp>
      <p:sp>
        <p:nvSpPr>
          <p:cNvPr id="1720" name="标题 22"/>
          <p:cNvSpPr>
            <a:spLocks noGrp="1"/>
          </p:cNvSpPr>
          <p:nvPr>
            <p:custDataLst>
              <p:tags r:id="rId6"/>
            </p:custDataLst>
          </p:nvPr>
        </p:nvSpPr>
        <p:spPr>
          <a:xfrm>
            <a:off x="3479700" y="3105514"/>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《工伤保险条例》（</a:t>
            </a:r>
            <a:r>
              <a:rPr lang="en-US" altLang="zh-CN" sz="1000" spc="0">
                <a:solidFill>
                  <a:srgbClr val="376FFF"/>
                </a:solidFill>
                <a:latin typeface="+mn-ea"/>
                <a:ea typeface="+mn-ea"/>
                <a:cs typeface="+mn-ea"/>
                <a:sym typeface="+mn-ea"/>
              </a:rPr>
              <a:t>2010</a:t>
            </a:r>
            <a:r>
              <a:rPr lang="zh-CN" altLang="en-US" sz="1000" spc="0">
                <a:solidFill>
                  <a:srgbClr val="376FFF"/>
                </a:solidFill>
                <a:latin typeface="+mn-ea"/>
                <a:ea typeface="+mn-ea"/>
                <a:cs typeface="+mn-ea"/>
                <a:sym typeface="+mn-ea"/>
              </a:rPr>
              <a:t>修订）</a:t>
            </a:r>
            <a:endParaRPr lang="zh-CN" altLang="en-US" sz="1000" spc="0">
              <a:solidFill>
                <a:srgbClr val="376FFF"/>
              </a:solidFill>
              <a:latin typeface="+mn-ea"/>
              <a:ea typeface="+mn-ea"/>
              <a:cs typeface="+mn-ea"/>
              <a:sym typeface="+mn-ea"/>
            </a:endParaRPr>
          </a:p>
        </p:txBody>
      </p:sp>
      <p:cxnSp>
        <p:nvCxnSpPr>
          <p:cNvPr id="1721" name="直接连接符 1720"/>
          <p:cNvCxnSpPr/>
          <p:nvPr>
            <p:custDataLst>
              <p:tags r:id="rId7"/>
            </p:custDataLst>
          </p:nvPr>
        </p:nvCxnSpPr>
        <p:spPr>
          <a:xfrm>
            <a:off x="6096000" y="3164107"/>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22" name="矩形 1721"/>
          <p:cNvSpPr/>
          <p:nvPr>
            <p:custDataLst>
              <p:tags r:id="rId8"/>
            </p:custDataLst>
          </p:nvPr>
        </p:nvSpPr>
        <p:spPr>
          <a:xfrm>
            <a:off x="6350752" y="3448155"/>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确立根治欠薪制度，明确工资专户管理、总包单位代发工资、工资保证金等关键机制。</a:t>
            </a:r>
            <a:endParaRPr lang="zh-CN" altLang="en-US" sz="800">
              <a:solidFill>
                <a:srgbClr val="000000">
                  <a:lumMod val="85000"/>
                  <a:lumOff val="15000"/>
                </a:srgbClr>
              </a:solidFill>
              <a:latin typeface="+mn-ea"/>
              <a:cs typeface="+mn-ea"/>
              <a:sym typeface="+mn-ea"/>
            </a:endParaRPr>
          </a:p>
        </p:txBody>
      </p:sp>
      <p:sp>
        <p:nvSpPr>
          <p:cNvPr id="1723" name="标题 22"/>
          <p:cNvSpPr>
            <a:spLocks noGrp="1"/>
          </p:cNvSpPr>
          <p:nvPr>
            <p:custDataLst>
              <p:tags r:id="rId9"/>
            </p:custDataLst>
          </p:nvPr>
        </p:nvSpPr>
        <p:spPr>
          <a:xfrm>
            <a:off x="6350752" y="3105514"/>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《保障农民工工资支付条例》（</a:t>
            </a:r>
            <a:r>
              <a:rPr lang="en-US" altLang="zh-CN" sz="1000" spc="0">
                <a:solidFill>
                  <a:srgbClr val="376FFF"/>
                </a:solidFill>
                <a:latin typeface="+mn-ea"/>
                <a:ea typeface="+mn-ea"/>
                <a:cs typeface="+mn-ea"/>
                <a:sym typeface="+mn-ea"/>
              </a:rPr>
              <a:t>2020</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cxnSp>
        <p:nvCxnSpPr>
          <p:cNvPr id="1724" name="直接连接符 1723"/>
          <p:cNvCxnSpPr/>
          <p:nvPr>
            <p:custDataLst>
              <p:tags r:id="rId10"/>
            </p:custDataLst>
          </p:nvPr>
        </p:nvCxnSpPr>
        <p:spPr>
          <a:xfrm>
            <a:off x="8967052" y="3164107"/>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25" name="矩形 1724"/>
          <p:cNvSpPr/>
          <p:nvPr>
            <p:custDataLst>
              <p:tags r:id="rId11"/>
            </p:custDataLst>
          </p:nvPr>
        </p:nvSpPr>
        <p:spPr>
          <a:xfrm>
            <a:off x="9221804" y="3448155"/>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规范孕期、产期、哺乳期</a:t>
            </a:r>
            <a:r>
              <a:rPr lang="en-US" altLang="zh-CN" sz="800">
                <a:solidFill>
                  <a:srgbClr val="000000">
                    <a:lumMod val="85000"/>
                    <a:lumOff val="15000"/>
                  </a:srgbClr>
                </a:solidFill>
                <a:latin typeface="+mn-ea"/>
                <a:cs typeface="+mn-ea"/>
                <a:sym typeface="+mn-ea"/>
              </a:rPr>
              <a:t>‘</a:t>
            </a:r>
            <a:r>
              <a:rPr lang="zh-CN" altLang="en-US" sz="800">
                <a:solidFill>
                  <a:srgbClr val="000000">
                    <a:lumMod val="85000"/>
                    <a:lumOff val="15000"/>
                  </a:srgbClr>
                </a:solidFill>
                <a:latin typeface="+mn-ea"/>
                <a:cs typeface="+mn-ea"/>
                <a:sym typeface="+mn-ea"/>
              </a:rPr>
              <a:t>三期</a:t>
            </a:r>
            <a:r>
              <a:rPr lang="en-US" altLang="zh-CN" sz="800">
                <a:solidFill>
                  <a:srgbClr val="000000">
                    <a:lumMod val="85000"/>
                    <a:lumOff val="15000"/>
                  </a:srgbClr>
                </a:solidFill>
                <a:latin typeface="+mn-ea"/>
                <a:cs typeface="+mn-ea"/>
                <a:sym typeface="+mn-ea"/>
              </a:rPr>
              <a:t>’</a:t>
            </a:r>
            <a:r>
              <a:rPr lang="zh-CN" altLang="en-US" sz="800">
                <a:solidFill>
                  <a:srgbClr val="000000">
                    <a:lumMod val="85000"/>
                    <a:lumOff val="15000"/>
                  </a:srgbClr>
                </a:solidFill>
                <a:latin typeface="+mn-ea"/>
                <a:cs typeface="+mn-ea"/>
                <a:sym typeface="+mn-ea"/>
              </a:rPr>
              <a:t>保护措施，明确产假时长、禁忌劳动范围及特殊权益保障。</a:t>
            </a:r>
            <a:endParaRPr lang="zh-CN" altLang="en-US" sz="800">
              <a:solidFill>
                <a:srgbClr val="000000">
                  <a:lumMod val="85000"/>
                  <a:lumOff val="15000"/>
                </a:srgbClr>
              </a:solidFill>
              <a:latin typeface="+mn-ea"/>
              <a:cs typeface="+mn-ea"/>
              <a:sym typeface="+mn-ea"/>
            </a:endParaRPr>
          </a:p>
        </p:txBody>
      </p:sp>
      <p:sp>
        <p:nvSpPr>
          <p:cNvPr id="1726" name="标题 22"/>
          <p:cNvSpPr>
            <a:spLocks noGrp="1"/>
          </p:cNvSpPr>
          <p:nvPr>
            <p:custDataLst>
              <p:tags r:id="rId12"/>
            </p:custDataLst>
          </p:nvPr>
        </p:nvSpPr>
        <p:spPr>
          <a:xfrm>
            <a:off x="9221804" y="3105514"/>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《女职工劳动保护特别规定》（</a:t>
            </a:r>
            <a:r>
              <a:rPr lang="en-US" altLang="zh-CN" sz="1000" spc="0">
                <a:solidFill>
                  <a:srgbClr val="376FFF"/>
                </a:solidFill>
                <a:latin typeface="+mn-ea"/>
                <a:ea typeface="+mn-ea"/>
                <a:cs typeface="+mn-ea"/>
                <a:sym typeface="+mn-ea"/>
              </a:rPr>
              <a:t>2012</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cxnSp>
        <p:nvCxnSpPr>
          <p:cNvPr id="1727" name="直接连接符 1726"/>
          <p:cNvCxnSpPr/>
          <p:nvPr>
            <p:custDataLst>
              <p:tags r:id="rId13"/>
            </p:custDataLst>
          </p:nvPr>
        </p:nvCxnSpPr>
        <p:spPr>
          <a:xfrm>
            <a:off x="3224948" y="4348703"/>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28" name="矩形 1727"/>
          <p:cNvSpPr/>
          <p:nvPr>
            <p:custDataLst>
              <p:tags r:id="rId14"/>
            </p:custDataLst>
          </p:nvPr>
        </p:nvSpPr>
        <p:spPr>
          <a:xfrm>
            <a:off x="608648" y="4632751"/>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规定职工年休假天数计算方式、休假期间工资报酬支付标准，以及未安排休假情形下的经济补偿办法。</a:t>
            </a:r>
            <a:endParaRPr lang="zh-CN" altLang="en-US" sz="800">
              <a:solidFill>
                <a:srgbClr val="000000">
                  <a:lumMod val="85000"/>
                  <a:lumOff val="15000"/>
                </a:srgbClr>
              </a:solidFill>
              <a:latin typeface="+mn-ea"/>
              <a:cs typeface="+mn-ea"/>
              <a:sym typeface="+mn-ea"/>
            </a:endParaRPr>
          </a:p>
        </p:txBody>
      </p:sp>
      <p:sp>
        <p:nvSpPr>
          <p:cNvPr id="1729" name="标题 22"/>
          <p:cNvSpPr>
            <a:spLocks noGrp="1"/>
          </p:cNvSpPr>
          <p:nvPr>
            <p:custDataLst>
              <p:tags r:id="rId15"/>
            </p:custDataLst>
          </p:nvPr>
        </p:nvSpPr>
        <p:spPr>
          <a:xfrm>
            <a:off x="608648" y="4290110"/>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《职工带薪年休假条例》（</a:t>
            </a:r>
            <a:r>
              <a:rPr lang="en-US" altLang="zh-CN" sz="1000" spc="0">
                <a:solidFill>
                  <a:srgbClr val="376FFF"/>
                </a:solidFill>
                <a:latin typeface="+mn-ea"/>
                <a:ea typeface="+mn-ea"/>
                <a:cs typeface="+mn-ea"/>
                <a:sym typeface="+mn-ea"/>
              </a:rPr>
              <a:t>2008</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sp>
        <p:nvSpPr>
          <p:cNvPr id="1730" name="矩形 1729"/>
          <p:cNvSpPr/>
          <p:nvPr>
            <p:custDataLst>
              <p:tags r:id="rId16"/>
            </p:custDataLst>
          </p:nvPr>
        </p:nvSpPr>
        <p:spPr>
          <a:xfrm>
            <a:off x="3479700" y="4632751"/>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明确劳动保障监察执法主体与职责，规范投诉举报受理流程、调查取证程序及行政处罚适用规则。</a:t>
            </a:r>
            <a:endParaRPr lang="zh-CN" altLang="en-US" sz="800">
              <a:solidFill>
                <a:srgbClr val="000000">
                  <a:lumMod val="85000"/>
                  <a:lumOff val="15000"/>
                </a:srgbClr>
              </a:solidFill>
              <a:latin typeface="+mn-ea"/>
              <a:cs typeface="+mn-ea"/>
              <a:sym typeface="+mn-ea"/>
            </a:endParaRPr>
          </a:p>
        </p:txBody>
      </p:sp>
      <p:sp>
        <p:nvSpPr>
          <p:cNvPr id="1731" name="标题 22"/>
          <p:cNvSpPr>
            <a:spLocks noGrp="1"/>
          </p:cNvSpPr>
          <p:nvPr>
            <p:custDataLst>
              <p:tags r:id="rId17"/>
            </p:custDataLst>
          </p:nvPr>
        </p:nvSpPr>
        <p:spPr>
          <a:xfrm>
            <a:off x="3479700" y="4290110"/>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《劳动保障监察条例》（</a:t>
            </a:r>
            <a:r>
              <a:rPr lang="en-US" altLang="zh-CN" sz="1000" spc="0">
                <a:solidFill>
                  <a:srgbClr val="376FFF"/>
                </a:solidFill>
                <a:latin typeface="+mn-ea"/>
                <a:ea typeface="+mn-ea"/>
                <a:cs typeface="+mn-ea"/>
                <a:sym typeface="+mn-ea"/>
              </a:rPr>
              <a:t>2004</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cxnSp>
        <p:nvCxnSpPr>
          <p:cNvPr id="1732" name="直接连接符 1731"/>
          <p:cNvCxnSpPr/>
          <p:nvPr>
            <p:custDataLst>
              <p:tags r:id="rId18"/>
            </p:custDataLst>
          </p:nvPr>
        </p:nvCxnSpPr>
        <p:spPr>
          <a:xfrm>
            <a:off x="6096000" y="4348703"/>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33" name="矩形 1732"/>
          <p:cNvSpPr/>
          <p:nvPr>
            <p:custDataLst>
              <p:tags r:id="rId19"/>
            </p:custDataLst>
          </p:nvPr>
        </p:nvSpPr>
        <p:spPr>
          <a:xfrm>
            <a:off x="6350752" y="4632751"/>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严格禁止用人单位招用未满</a:t>
            </a:r>
            <a:r>
              <a:rPr lang="en-US" altLang="zh-CN" sz="800">
                <a:solidFill>
                  <a:srgbClr val="000000">
                    <a:lumMod val="85000"/>
                    <a:lumOff val="15000"/>
                  </a:srgbClr>
                </a:solidFill>
                <a:latin typeface="+mn-ea"/>
                <a:cs typeface="+mn-ea"/>
                <a:sym typeface="+mn-ea"/>
              </a:rPr>
              <a:t>16</a:t>
            </a:r>
            <a:r>
              <a:rPr lang="zh-CN" altLang="en-US" sz="800">
                <a:solidFill>
                  <a:srgbClr val="000000">
                    <a:lumMod val="85000"/>
                    <a:lumOff val="15000"/>
                  </a:srgbClr>
                </a:solidFill>
                <a:latin typeface="+mn-ea"/>
                <a:cs typeface="+mn-ea"/>
                <a:sym typeface="+mn-ea"/>
              </a:rPr>
              <a:t>周岁的未成年人，界定例外情形（如文艺、体育、特种工艺经批准可例外），并设定相应法律责任。</a:t>
            </a:r>
            <a:endParaRPr lang="zh-CN" altLang="en-US" sz="800">
              <a:solidFill>
                <a:srgbClr val="000000">
                  <a:lumMod val="85000"/>
                  <a:lumOff val="15000"/>
                </a:srgbClr>
              </a:solidFill>
              <a:latin typeface="+mn-ea"/>
              <a:cs typeface="+mn-ea"/>
              <a:sym typeface="+mn-ea"/>
            </a:endParaRPr>
          </a:p>
        </p:txBody>
      </p:sp>
      <p:sp>
        <p:nvSpPr>
          <p:cNvPr id="1734" name="标题 22"/>
          <p:cNvSpPr>
            <a:spLocks noGrp="1"/>
          </p:cNvSpPr>
          <p:nvPr>
            <p:custDataLst>
              <p:tags r:id="rId20"/>
            </p:custDataLst>
          </p:nvPr>
        </p:nvSpPr>
        <p:spPr>
          <a:xfrm>
            <a:off x="6350752" y="4290110"/>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《禁止使用童工规定》（</a:t>
            </a:r>
            <a:r>
              <a:rPr lang="en-US" altLang="zh-CN" sz="1000" spc="0">
                <a:solidFill>
                  <a:srgbClr val="376FFF"/>
                </a:solidFill>
                <a:latin typeface="+mn-ea"/>
                <a:ea typeface="+mn-ea"/>
                <a:cs typeface="+mn-ea"/>
                <a:sym typeface="+mn-ea"/>
              </a:rPr>
              <a:t>2002</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cxnSp>
        <p:nvCxnSpPr>
          <p:cNvPr id="1735" name="直接连接符 1734"/>
          <p:cNvCxnSpPr/>
          <p:nvPr>
            <p:custDataLst>
              <p:tags r:id="rId21"/>
            </p:custDataLst>
          </p:nvPr>
        </p:nvCxnSpPr>
        <p:spPr>
          <a:xfrm>
            <a:off x="8967052" y="4348703"/>
            <a:ext cx="0" cy="894815"/>
          </a:xfrm>
          <a:prstGeom prst="line">
            <a:avLst/>
          </a:prstGeom>
          <a:noFill/>
          <a:ln w="19050" cap="flat" cmpd="sng" algn="ctr">
            <a:gradFill>
              <a:gsLst>
                <a:gs pos="10000">
                  <a:srgbClr val="376FFF">
                    <a:alpha val="0"/>
                  </a:srgbClr>
                </a:gs>
                <a:gs pos="50000">
                  <a:srgbClr val="376FFF">
                    <a:alpha val="50000"/>
                  </a:srgbClr>
                </a:gs>
                <a:gs pos="90000">
                  <a:srgbClr val="376FFF">
                    <a:alpha val="0"/>
                  </a:srgbClr>
                </a:gs>
              </a:gsLst>
              <a:lin ang="16200000" scaled="1"/>
            </a:gradFill>
            <a:prstDash val="solid"/>
            <a:miter lim="800000"/>
          </a:ln>
          <a:effectLst/>
        </p:spPr>
        <p:style>
          <a:lnRef idx="2">
            <a:srgbClr val="376FFF"/>
          </a:lnRef>
          <a:fillRef idx="0">
            <a:srgbClr val="FFFFFF"/>
          </a:fillRef>
          <a:effectRef idx="0">
            <a:srgbClr val="FFFFFF"/>
          </a:effectRef>
          <a:fontRef idx="minor">
            <a:srgbClr val="000000"/>
          </a:fontRef>
        </p:style>
      </p:cxnSp>
      <p:sp>
        <p:nvSpPr>
          <p:cNvPr id="1736" name="矩形 1735"/>
          <p:cNvSpPr/>
          <p:nvPr>
            <p:custDataLst>
              <p:tags r:id="rId22"/>
            </p:custDataLst>
          </p:nvPr>
        </p:nvSpPr>
        <p:spPr>
          <a:xfrm>
            <a:off x="9221804" y="4632751"/>
            <a:ext cx="2361549" cy="584655"/>
          </a:xfrm>
          <a:prstGeom prst="rect">
            <a:avLst/>
          </a:prstGeom>
          <a:noFill/>
        </p:spPr>
        <p:txBody>
          <a:bodyPr wrap="square" lIns="0" tIns="0" rIns="0" bIns="0" rtlCol="0" anchor="t" anchorCtr="0">
            <a:noAutofit/>
          </a:bodyPr>
          <a:lstStyle/>
          <a:p>
            <a:pPr lvl="0" algn="ctr">
              <a:lnSpc>
                <a:spcPct val="140000"/>
              </a:lnSpc>
              <a:buClrTx/>
              <a:buSzTx/>
              <a:buFontTx/>
            </a:pPr>
            <a:r>
              <a:rPr lang="zh-CN" altLang="en-US" sz="800">
                <a:solidFill>
                  <a:srgbClr val="000000">
                    <a:lumMod val="85000"/>
                    <a:lumOff val="15000"/>
                  </a:srgbClr>
                </a:solidFill>
                <a:latin typeface="+mn-ea"/>
                <a:cs typeface="+mn-ea"/>
                <a:sym typeface="+mn-ea"/>
              </a:rPr>
              <a:t>确立标准工时制度，明确每日工作不超过</a:t>
            </a:r>
            <a:r>
              <a:rPr lang="en-US" altLang="zh-CN" sz="800">
                <a:solidFill>
                  <a:srgbClr val="000000">
                    <a:lumMod val="85000"/>
                    <a:lumOff val="15000"/>
                  </a:srgbClr>
                </a:solidFill>
                <a:latin typeface="+mn-ea"/>
                <a:cs typeface="+mn-ea"/>
                <a:sym typeface="+mn-ea"/>
              </a:rPr>
              <a:t>8</a:t>
            </a:r>
            <a:r>
              <a:rPr lang="zh-CN" altLang="en-US" sz="800">
                <a:solidFill>
                  <a:srgbClr val="000000">
                    <a:lumMod val="85000"/>
                    <a:lumOff val="15000"/>
                  </a:srgbClr>
                </a:solidFill>
                <a:latin typeface="+mn-ea"/>
                <a:cs typeface="+mn-ea"/>
                <a:sym typeface="+mn-ea"/>
              </a:rPr>
              <a:t>小时、每周工作不超过</a:t>
            </a:r>
            <a:r>
              <a:rPr lang="en-US" altLang="zh-CN" sz="800">
                <a:solidFill>
                  <a:srgbClr val="000000">
                    <a:lumMod val="85000"/>
                    <a:lumOff val="15000"/>
                  </a:srgbClr>
                </a:solidFill>
                <a:latin typeface="+mn-ea"/>
                <a:cs typeface="+mn-ea"/>
                <a:sym typeface="+mn-ea"/>
              </a:rPr>
              <a:t>40</a:t>
            </a:r>
            <a:r>
              <a:rPr lang="zh-CN" altLang="en-US" sz="800">
                <a:solidFill>
                  <a:srgbClr val="000000">
                    <a:lumMod val="85000"/>
                    <a:lumOff val="15000"/>
                  </a:srgbClr>
                </a:solidFill>
                <a:latin typeface="+mn-ea"/>
                <a:cs typeface="+mn-ea"/>
                <a:sym typeface="+mn-ea"/>
              </a:rPr>
              <a:t>小时，对加班时长、报酬支付及休息保障作出强制性约束。</a:t>
            </a:r>
            <a:endParaRPr lang="zh-CN" altLang="en-US" sz="800">
              <a:solidFill>
                <a:srgbClr val="000000">
                  <a:lumMod val="85000"/>
                  <a:lumOff val="15000"/>
                </a:srgbClr>
              </a:solidFill>
              <a:latin typeface="+mn-ea"/>
              <a:cs typeface="+mn-ea"/>
              <a:sym typeface="+mn-ea"/>
            </a:endParaRPr>
          </a:p>
        </p:txBody>
      </p:sp>
      <p:sp>
        <p:nvSpPr>
          <p:cNvPr id="1737" name="标题 22"/>
          <p:cNvSpPr>
            <a:spLocks noGrp="1"/>
          </p:cNvSpPr>
          <p:nvPr>
            <p:custDataLst>
              <p:tags r:id="rId23"/>
            </p:custDataLst>
          </p:nvPr>
        </p:nvSpPr>
        <p:spPr>
          <a:xfrm>
            <a:off x="9221804" y="4290110"/>
            <a:ext cx="2361549" cy="332451"/>
          </a:xfrm>
          <a:prstGeom prst="rect">
            <a:avLst/>
          </a:prstGeom>
        </p:spPr>
        <p:txBody>
          <a:bodyPr vert="horz" wrap="square" lIns="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rgbClr val="000000">
                    <a:lumMod val="85000"/>
                    <a:lumOff val="15000"/>
                  </a:srgbClr>
                </a:solidFill>
                <a:uFillTx/>
                <a:latin typeface="+mj-lt"/>
                <a:ea typeface="+mj-ea"/>
                <a:cs typeface="+mj-cs"/>
              </a:defRPr>
            </a:lvl1pPr>
          </a:lstStyle>
          <a:p>
            <a:pPr algn="ctr">
              <a:spcAft>
                <a:spcPct val="0"/>
              </a:spcAft>
            </a:pPr>
            <a:r>
              <a:rPr lang="zh-CN" altLang="en-US" sz="1000" spc="0">
                <a:solidFill>
                  <a:srgbClr val="376FFF"/>
                </a:solidFill>
                <a:latin typeface="+mn-ea"/>
                <a:ea typeface="+mn-ea"/>
                <a:cs typeface="+mn-ea"/>
                <a:sym typeface="+mn-ea"/>
              </a:rPr>
              <a:t>《国务院关于职工工作时间的规定》（</a:t>
            </a:r>
            <a:r>
              <a:rPr lang="en-US" altLang="zh-CN" sz="1000" spc="0">
                <a:solidFill>
                  <a:srgbClr val="376FFF"/>
                </a:solidFill>
                <a:latin typeface="+mn-ea"/>
                <a:ea typeface="+mn-ea"/>
                <a:cs typeface="+mn-ea"/>
                <a:sym typeface="+mn-ea"/>
              </a:rPr>
              <a:t>1995</a:t>
            </a:r>
            <a:r>
              <a:rPr lang="zh-CN" altLang="en-US" sz="1000" spc="0">
                <a:solidFill>
                  <a:srgbClr val="376FFF"/>
                </a:solidFill>
                <a:latin typeface="+mn-ea"/>
                <a:ea typeface="+mn-ea"/>
                <a:cs typeface="+mn-ea"/>
                <a:sym typeface="+mn-ea"/>
              </a:rPr>
              <a:t>）</a:t>
            </a:r>
            <a:endParaRPr lang="zh-CN" altLang="en-US" sz="1000" spc="0">
              <a:solidFill>
                <a:srgbClr val="376FFF"/>
              </a:solidFill>
              <a:latin typeface="+mn-ea"/>
              <a:ea typeface="+mn-ea"/>
              <a:cs typeface="+mn-ea"/>
              <a:sym typeface="+mn-ea"/>
            </a:endParaRPr>
          </a:p>
        </p:txBody>
      </p:sp>
    </p:spTree>
    <p:custDataLst>
      <p:tags r:id="rId2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t>部门规章</a:t>
            </a:r>
            <a:endParaRPr lang="zh-CN"/>
          </a:p>
        </p:txBody>
      </p:sp>
      <p:sp>
        <p:nvSpPr>
          <p:cNvPr id="5" name="边界"/>
          <p:cNvSpPr/>
          <p:nvPr>
            <p:custDataLst>
              <p:tags r:id="rId2"/>
            </p:custDataLst>
          </p:nvPr>
        </p:nvSpPr>
        <p:spPr>
          <a:xfrm>
            <a:off x="618490" y="2790508"/>
            <a:ext cx="10972800" cy="2746800"/>
          </a:xfrm>
          <a:prstGeom prst="rect">
            <a:avLst/>
          </a:prstGeom>
          <a:solidFill>
            <a:srgbClr val="FFFFFF">
              <a:alpha val="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39" name="矩形 38"/>
          <p:cNvSpPr/>
          <p:nvPr>
            <p:custDataLst>
              <p:tags r:id="rId3"/>
            </p:custDataLst>
          </p:nvPr>
        </p:nvSpPr>
        <p:spPr>
          <a:xfrm>
            <a:off x="617855" y="3085783"/>
            <a:ext cx="3314065" cy="906145"/>
          </a:xfrm>
          <a:prstGeom prst="rect">
            <a:avLst/>
          </a:prstGeom>
          <a:ln>
            <a:noFill/>
            <a:prstDash val="sysDash"/>
          </a:ln>
        </p:spPr>
        <p:txBody>
          <a:bodyPr vert="horz" wrap="square" lIns="0" tIns="0" rIns="0" bIns="0" rtlCol="0">
            <a:noAutofit/>
          </a:bodyPr>
          <a:p>
            <a:pPr indent="0" algn="just" fontAlgn="auto">
              <a:lnSpc>
                <a:spcPct val="130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《工资支付暂行规定》明确工资支付周期、加班工资计算标准及拖欠工资的处理机制，保障劳动者按时足额获得劳动报酬。</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40" name="文本框 39"/>
          <p:cNvSpPr txBox="1"/>
          <p:nvPr>
            <p:custDataLst>
              <p:tags r:id="rId4"/>
            </p:custDataLst>
          </p:nvPr>
        </p:nvSpPr>
        <p:spPr>
          <a:xfrm>
            <a:off x="617855" y="2790508"/>
            <a:ext cx="3314065" cy="276225"/>
          </a:xfrm>
          <a:prstGeom prst="rect">
            <a:avLst/>
          </a:prstGeom>
          <a:noFill/>
        </p:spPr>
        <p:txBody>
          <a:bodyPr wrap="square" lIns="0" tIns="0" rIns="0" bIns="0" rtlCol="0" anchor="b" anchorCtr="0">
            <a:noAutofit/>
          </a:bodyPr>
          <a:p>
            <a:pPr lvl="0" algn="l">
              <a:buClrTx/>
              <a:buSzTx/>
              <a:buFontTx/>
            </a:pPr>
            <a:r>
              <a:rPr lang="zh-CN" altLang="en-US" sz="1400" b="1">
                <a:solidFill>
                  <a:srgbClr val="376FFF"/>
                </a:solidFill>
                <a:sym typeface="+mn-ea"/>
              </a:rPr>
              <a:t>工资支付规范</a:t>
            </a:r>
            <a:endParaRPr lang="zh-CN" altLang="en-US" sz="1400" b="1">
              <a:solidFill>
                <a:srgbClr val="376FFF"/>
              </a:solidFill>
              <a:sym typeface="+mn-ea"/>
            </a:endParaRPr>
          </a:p>
        </p:txBody>
      </p:sp>
      <p:sp>
        <p:nvSpPr>
          <p:cNvPr id="4" name="矩形 3"/>
          <p:cNvSpPr/>
          <p:nvPr>
            <p:custDataLst>
              <p:tags r:id="rId5"/>
            </p:custDataLst>
          </p:nvPr>
        </p:nvSpPr>
        <p:spPr>
          <a:xfrm>
            <a:off x="617855" y="4632008"/>
            <a:ext cx="3314065" cy="906145"/>
          </a:xfrm>
          <a:prstGeom prst="rect">
            <a:avLst/>
          </a:prstGeom>
          <a:ln>
            <a:noFill/>
            <a:prstDash val="sysDash"/>
          </a:ln>
        </p:spPr>
        <p:txBody>
          <a:bodyPr vert="horz" wrap="square" lIns="0" tIns="0" rIns="0" bIns="0" rtlCol="0">
            <a:noAutofit/>
          </a:bodyPr>
          <a:p>
            <a:pPr indent="0" algn="just" fontAlgn="auto">
              <a:lnSpc>
                <a:spcPct val="130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《工伤认定办法》细化工伤认定申请主体、时限要求、必需提交材料清单及受理、调查、作出决定的全流程操作规范与时限约束。</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6" name="文本框 5"/>
          <p:cNvSpPr txBox="1"/>
          <p:nvPr>
            <p:custDataLst>
              <p:tags r:id="rId6"/>
            </p:custDataLst>
          </p:nvPr>
        </p:nvSpPr>
        <p:spPr>
          <a:xfrm>
            <a:off x="617855" y="4336733"/>
            <a:ext cx="3314065" cy="276225"/>
          </a:xfrm>
          <a:prstGeom prst="rect">
            <a:avLst/>
          </a:prstGeom>
          <a:noFill/>
        </p:spPr>
        <p:txBody>
          <a:bodyPr wrap="square" lIns="0" tIns="0" rIns="0" bIns="0" rtlCol="0" anchor="b" anchorCtr="0">
            <a:noAutofit/>
          </a:bodyPr>
          <a:p>
            <a:pPr lvl="0" algn="l">
              <a:buClrTx/>
              <a:buSzTx/>
              <a:buFontTx/>
            </a:pPr>
            <a:r>
              <a:rPr lang="zh-CN" altLang="en-US" sz="1400" b="1">
                <a:solidFill>
                  <a:srgbClr val="376FFF"/>
                </a:solidFill>
                <a:sym typeface="+mn-ea"/>
              </a:rPr>
              <a:t>工伤认定流程</a:t>
            </a:r>
            <a:endParaRPr lang="zh-CN" altLang="en-US" sz="1400" b="1">
              <a:solidFill>
                <a:srgbClr val="376FFF"/>
              </a:solidFill>
              <a:sym typeface="+mn-ea"/>
            </a:endParaRPr>
          </a:p>
        </p:txBody>
      </p:sp>
      <p:sp>
        <p:nvSpPr>
          <p:cNvPr id="32" name="矩形 31"/>
          <p:cNvSpPr/>
          <p:nvPr>
            <p:custDataLst>
              <p:tags r:id="rId7"/>
            </p:custDataLst>
          </p:nvPr>
        </p:nvSpPr>
        <p:spPr>
          <a:xfrm>
            <a:off x="4448175" y="3085783"/>
            <a:ext cx="3314065" cy="906145"/>
          </a:xfrm>
          <a:prstGeom prst="rect">
            <a:avLst/>
          </a:prstGeom>
          <a:ln>
            <a:noFill/>
            <a:prstDash val="sysDash"/>
          </a:ln>
        </p:spPr>
        <p:txBody>
          <a:bodyPr vert="horz" wrap="square" lIns="0" tIns="0" rIns="0" bIns="0" rtlCol="0">
            <a:noAutofit/>
          </a:bodyPr>
          <a:p>
            <a:pPr indent="0" algn="just" fontAlgn="auto">
              <a:lnSpc>
                <a:spcPct val="130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《劳务派遣暂行规定》规范劳务派遣用工比例上限、落实同工同酬原则，并界定用工单位退回劳动者与用人单位解除劳动合同的法定情形和程序。</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33" name="文本框 32"/>
          <p:cNvSpPr txBox="1"/>
          <p:nvPr>
            <p:custDataLst>
              <p:tags r:id="rId8"/>
            </p:custDataLst>
          </p:nvPr>
        </p:nvSpPr>
        <p:spPr>
          <a:xfrm>
            <a:off x="4448175" y="2790508"/>
            <a:ext cx="3314065" cy="276225"/>
          </a:xfrm>
          <a:prstGeom prst="rect">
            <a:avLst/>
          </a:prstGeom>
          <a:noFill/>
        </p:spPr>
        <p:txBody>
          <a:bodyPr wrap="square" lIns="0" tIns="0" rIns="0" bIns="0" rtlCol="0" anchor="b" anchorCtr="0">
            <a:noAutofit/>
          </a:bodyPr>
          <a:p>
            <a:pPr lvl="0" algn="l">
              <a:buClrTx/>
              <a:buSzTx/>
              <a:buFontTx/>
            </a:pPr>
            <a:r>
              <a:rPr lang="zh-CN" altLang="en-US" sz="1400" b="1">
                <a:solidFill>
                  <a:srgbClr val="376FFF"/>
                </a:solidFill>
                <a:sym typeface="+mn-ea"/>
              </a:rPr>
              <a:t>劳务派遣管理</a:t>
            </a:r>
            <a:endParaRPr lang="zh-CN" altLang="en-US" sz="1400" b="1">
              <a:solidFill>
                <a:srgbClr val="376FFF"/>
              </a:solidFill>
              <a:sym typeface="+mn-ea"/>
            </a:endParaRPr>
          </a:p>
        </p:txBody>
      </p:sp>
      <p:sp>
        <p:nvSpPr>
          <p:cNvPr id="34" name="矩形 33"/>
          <p:cNvSpPr/>
          <p:nvPr>
            <p:custDataLst>
              <p:tags r:id="rId9"/>
            </p:custDataLst>
          </p:nvPr>
        </p:nvSpPr>
        <p:spPr>
          <a:xfrm>
            <a:off x="4448175" y="4632008"/>
            <a:ext cx="3314065" cy="906145"/>
          </a:xfrm>
          <a:prstGeom prst="rect">
            <a:avLst/>
          </a:prstGeom>
          <a:ln>
            <a:noFill/>
            <a:prstDash val="sysDash"/>
          </a:ln>
        </p:spPr>
        <p:txBody>
          <a:bodyPr vert="horz" wrap="square" lIns="0" tIns="0" rIns="0" bIns="0" rtlCol="0">
            <a:noAutofit/>
          </a:bodyPr>
          <a:p>
            <a:pPr indent="0" algn="just" fontAlgn="auto">
              <a:lnSpc>
                <a:spcPct val="130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《电子劳动合同订立指引》确认电子劳动合同与纸质合同具有同等法律效力，并规定签署平台资质、身份认证、电子签名、存证及可追溯等关键签署规范。</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35" name="文本框 34"/>
          <p:cNvSpPr txBox="1"/>
          <p:nvPr>
            <p:custDataLst>
              <p:tags r:id="rId10"/>
            </p:custDataLst>
          </p:nvPr>
        </p:nvSpPr>
        <p:spPr>
          <a:xfrm>
            <a:off x="4448175" y="4336733"/>
            <a:ext cx="3314065" cy="276225"/>
          </a:xfrm>
          <a:prstGeom prst="rect">
            <a:avLst/>
          </a:prstGeom>
          <a:noFill/>
        </p:spPr>
        <p:txBody>
          <a:bodyPr wrap="square" lIns="0" tIns="0" rIns="0" bIns="0" rtlCol="0" anchor="b" anchorCtr="0">
            <a:noAutofit/>
          </a:bodyPr>
          <a:p>
            <a:pPr lvl="0" algn="l">
              <a:buClrTx/>
              <a:buSzTx/>
              <a:buFontTx/>
            </a:pPr>
            <a:r>
              <a:rPr lang="zh-CN" altLang="en-US" sz="1400" b="1">
                <a:solidFill>
                  <a:srgbClr val="376FFF"/>
                </a:solidFill>
                <a:sym typeface="+mn-ea"/>
              </a:rPr>
              <a:t>电子劳动合同效力</a:t>
            </a:r>
            <a:endParaRPr lang="zh-CN" altLang="en-US" sz="1400" b="1">
              <a:solidFill>
                <a:srgbClr val="376FFF"/>
              </a:solidFill>
              <a:sym typeface="+mn-ea"/>
            </a:endParaRPr>
          </a:p>
        </p:txBody>
      </p:sp>
      <p:sp>
        <p:nvSpPr>
          <p:cNvPr id="37" name="矩形 36"/>
          <p:cNvSpPr/>
          <p:nvPr>
            <p:custDataLst>
              <p:tags r:id="rId11"/>
            </p:custDataLst>
          </p:nvPr>
        </p:nvSpPr>
        <p:spPr>
          <a:xfrm>
            <a:off x="8278495" y="3085783"/>
            <a:ext cx="3314065" cy="906145"/>
          </a:xfrm>
          <a:prstGeom prst="rect">
            <a:avLst/>
          </a:prstGeom>
          <a:ln>
            <a:noFill/>
            <a:prstDash val="sysDash"/>
          </a:ln>
        </p:spPr>
        <p:txBody>
          <a:bodyPr vert="horz" wrap="square" lIns="0" tIns="0" rIns="0" bIns="0" rtlCol="0">
            <a:noAutofit/>
          </a:bodyPr>
          <a:p>
            <a:pPr indent="0" algn="just" fontAlgn="auto">
              <a:lnSpc>
                <a:spcPct val="130000"/>
              </a:lnSpc>
              <a:spcBef>
                <a:spcPct val="0"/>
              </a:spcBef>
              <a:spcAft>
                <a:spcPct val="0"/>
              </a:spcAft>
            </a:pPr>
            <a:r>
              <a:rPr lang="zh-CN" altLang="en-US" sz="1100" kern="0" dirty="0">
                <a:ln>
                  <a:noFill/>
                  <a:prstDash val="sysDot"/>
                </a:ln>
                <a:solidFill>
                  <a:srgbClr val="000000">
                    <a:lumMod val="85000"/>
                    <a:lumOff val="15000"/>
                  </a:srgbClr>
                </a:solidFill>
                <a:latin typeface="+mn-ea"/>
                <a:cs typeface="+mn-ea"/>
                <a:sym typeface="+mn-ea"/>
              </a:rPr>
              <a:t>《企业职工患病或非因工负伤医疗期规定》规定医疗期时长确定规则、病假期间工资支付标准，以及用人单位在医疗期内解除劳动合同的禁止性限制。</a:t>
            </a:r>
            <a:endParaRPr lang="zh-CN" altLang="en-US" sz="1100" kern="0" dirty="0">
              <a:ln>
                <a:noFill/>
                <a:prstDash val="sysDot"/>
              </a:ln>
              <a:solidFill>
                <a:srgbClr val="000000">
                  <a:lumMod val="85000"/>
                  <a:lumOff val="15000"/>
                </a:srgbClr>
              </a:solidFill>
              <a:latin typeface="+mn-ea"/>
              <a:cs typeface="+mn-ea"/>
              <a:sym typeface="+mn-ea"/>
            </a:endParaRPr>
          </a:p>
        </p:txBody>
      </p:sp>
      <p:sp>
        <p:nvSpPr>
          <p:cNvPr id="38" name="文本框 37"/>
          <p:cNvSpPr txBox="1"/>
          <p:nvPr>
            <p:custDataLst>
              <p:tags r:id="rId12"/>
            </p:custDataLst>
          </p:nvPr>
        </p:nvSpPr>
        <p:spPr>
          <a:xfrm>
            <a:off x="8278495" y="2790508"/>
            <a:ext cx="3314065" cy="276225"/>
          </a:xfrm>
          <a:prstGeom prst="rect">
            <a:avLst/>
          </a:prstGeom>
          <a:noFill/>
        </p:spPr>
        <p:txBody>
          <a:bodyPr wrap="square" lIns="0" tIns="0" rIns="0" bIns="0" rtlCol="0" anchor="b" anchorCtr="0">
            <a:noAutofit/>
          </a:bodyPr>
          <a:p>
            <a:pPr lvl="0" algn="l">
              <a:buClrTx/>
              <a:buSzTx/>
              <a:buFontTx/>
            </a:pPr>
            <a:r>
              <a:rPr lang="zh-CN" altLang="en-US" sz="1400" b="1">
                <a:solidFill>
                  <a:srgbClr val="376FFF"/>
                </a:solidFill>
                <a:sym typeface="+mn-ea"/>
              </a:rPr>
              <a:t>医疗期权益保障</a:t>
            </a:r>
            <a:endParaRPr lang="zh-CN" altLang="en-US" sz="1400" b="1">
              <a:solidFill>
                <a:srgbClr val="376FFF"/>
              </a:solidFill>
              <a:sym typeface="+mn-ea"/>
            </a:endParaRPr>
          </a:p>
        </p:txBody>
      </p:sp>
    </p:spTree>
    <p:custDataLst>
      <p:tags r:id="rId1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dirty="0">
                <a:solidFill>
                  <a:schemeClr val="tx1"/>
                </a:solidFill>
                <a:sym typeface="+mn-ea"/>
              </a:rPr>
              <a:t>司法解释</a:t>
            </a:r>
            <a:endParaRPr lang="zh-CN" altLang="en-US" dirty="0">
              <a:solidFill>
                <a:schemeClr val="tx1"/>
              </a:solidFill>
              <a:sym typeface="+mn-ea"/>
            </a:endParaRPr>
          </a:p>
        </p:txBody>
      </p:sp>
      <p:sp>
        <p:nvSpPr>
          <p:cNvPr id="7" name="矩形 6"/>
          <p:cNvSpPr/>
          <p:nvPr>
            <p:custDataLst>
              <p:tags r:id="rId2"/>
            </p:custDataLst>
          </p:nvPr>
        </p:nvSpPr>
        <p:spPr>
          <a:xfrm>
            <a:off x="791845" y="2800668"/>
            <a:ext cx="5003800" cy="299720"/>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376FFF"/>
                </a:solidFill>
                <a:latin typeface="+mn-ea"/>
                <a:cs typeface="+mn-ea"/>
                <a:sym typeface="+mn-ea"/>
              </a:rPr>
              <a:t>劳动合同争议处理</a:t>
            </a:r>
            <a:endParaRPr lang="zh-CN" altLang="en-US" sz="1500" b="1">
              <a:solidFill>
                <a:srgbClr val="376FFF"/>
              </a:solidFill>
              <a:latin typeface="+mn-ea"/>
              <a:cs typeface="+mn-ea"/>
              <a:sym typeface="+mn-ea"/>
            </a:endParaRPr>
          </a:p>
        </p:txBody>
      </p:sp>
      <p:sp>
        <p:nvSpPr>
          <p:cNvPr id="8" name="矩形 7"/>
          <p:cNvSpPr/>
          <p:nvPr>
            <p:custDataLst>
              <p:tags r:id="rId3"/>
            </p:custDataLst>
          </p:nvPr>
        </p:nvSpPr>
        <p:spPr>
          <a:xfrm>
            <a:off x="791845" y="3139758"/>
            <a:ext cx="5003800" cy="917575"/>
          </a:xfrm>
          <a:prstGeom prst="rect">
            <a:avLst/>
          </a:prstGeom>
          <a:noFill/>
        </p:spPr>
        <p:txBody>
          <a:bodyPr wrap="square" lIns="0" tIns="0" rIns="0" bIns="0" rtlCol="0" anchor="t" anchorCtr="0">
            <a:noAutofit/>
          </a:bodyPr>
          <a:p>
            <a:pPr indent="0" algn="just" fontAlgn="auto">
              <a:lnSpc>
                <a:spcPct val="150000"/>
              </a:lnSpc>
              <a:spcBef>
                <a:spcPct val="0"/>
              </a:spcBef>
              <a:spcAft>
                <a:spcPct val="0"/>
              </a:spcAft>
            </a:pPr>
            <a:r>
              <a:rPr lang="zh-CN" altLang="en-US" sz="1200">
                <a:ln>
                  <a:noFill/>
                  <a:prstDash val="sysDot"/>
                </a:ln>
                <a:solidFill>
                  <a:srgbClr val="000000">
                    <a:lumMod val="85000"/>
                    <a:lumOff val="15000"/>
                  </a:srgbClr>
                </a:solidFill>
                <a:uFillTx/>
                <a:latin typeface="+mn-ea"/>
                <a:cs typeface="+mn-ea"/>
                <a:sym typeface="+mn-ea"/>
              </a:rPr>
              <a:t>最高人民法院关于审理劳动争议案件适用法律问题的解释（一）（</a:t>
            </a:r>
            <a:r>
              <a:rPr lang="en-US" altLang="zh-CN" sz="1200">
                <a:ln>
                  <a:noFill/>
                  <a:prstDash val="sysDot"/>
                </a:ln>
                <a:solidFill>
                  <a:srgbClr val="000000">
                    <a:lumMod val="85000"/>
                    <a:lumOff val="15000"/>
                  </a:srgbClr>
                </a:solidFill>
                <a:uFillTx/>
                <a:latin typeface="+mn-ea"/>
                <a:cs typeface="+mn-ea"/>
                <a:sym typeface="+mn-ea"/>
              </a:rPr>
              <a:t>2021</a:t>
            </a:r>
            <a:r>
              <a:rPr lang="zh-CN" altLang="en-US" sz="1200">
                <a:ln>
                  <a:noFill/>
                  <a:prstDash val="sysDot"/>
                </a:ln>
                <a:solidFill>
                  <a:srgbClr val="000000">
                    <a:lumMod val="85000"/>
                    <a:lumOff val="15000"/>
                  </a:srgbClr>
                </a:solidFill>
                <a:uFillTx/>
                <a:latin typeface="+mn-ea"/>
                <a:cs typeface="+mn-ea"/>
                <a:sym typeface="+mn-ea"/>
              </a:rPr>
              <a:t>）统一劳动争议裁判规则，明确劳动合同订立、履行、变更、解除和终止等环节的司法认定标准。</a:t>
            </a:r>
            <a:endParaRPr lang="zh-CN" altLang="en-US" sz="1200">
              <a:ln>
                <a:noFill/>
                <a:prstDash val="sysDot"/>
              </a:ln>
              <a:solidFill>
                <a:srgbClr val="000000">
                  <a:lumMod val="85000"/>
                  <a:lumOff val="15000"/>
                </a:srgbClr>
              </a:solidFill>
              <a:uFillTx/>
              <a:latin typeface="+mn-ea"/>
              <a:cs typeface="+mn-ea"/>
              <a:sym typeface="+mn-ea"/>
            </a:endParaRPr>
          </a:p>
        </p:txBody>
      </p:sp>
      <p:sp>
        <p:nvSpPr>
          <p:cNvPr id="47" name="矩形 46"/>
          <p:cNvSpPr/>
          <p:nvPr>
            <p:custDataLst>
              <p:tags r:id="rId4"/>
            </p:custDataLst>
          </p:nvPr>
        </p:nvSpPr>
        <p:spPr>
          <a:xfrm>
            <a:off x="608965" y="2893378"/>
            <a:ext cx="28800" cy="1080000"/>
          </a:xfrm>
          <a:prstGeom prst="rect">
            <a:avLst/>
          </a:prstGeom>
          <a:solidFill>
            <a:srgbClr val="376FFF">
              <a:lumMod val="60000"/>
              <a:lumOff val="40000"/>
              <a:alpha val="7000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rtlCol="0" anchor="ctr"/>
          <a:p>
            <a:pPr algn="ctr"/>
            <a:endParaRPr lang="zh-CN" altLang="en-US">
              <a:latin typeface="+mn-ea"/>
            </a:endParaRPr>
          </a:p>
        </p:txBody>
      </p:sp>
      <p:sp>
        <p:nvSpPr>
          <p:cNvPr id="24" name="矩形 23"/>
          <p:cNvSpPr/>
          <p:nvPr>
            <p:custDataLst>
              <p:tags r:id="rId5"/>
            </p:custDataLst>
          </p:nvPr>
        </p:nvSpPr>
        <p:spPr>
          <a:xfrm>
            <a:off x="6579235" y="2800668"/>
            <a:ext cx="5003800" cy="299720"/>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376FFF"/>
                </a:solidFill>
                <a:latin typeface="+mn-ea"/>
                <a:cs typeface="+mn-ea"/>
                <a:sym typeface="+mn-ea"/>
              </a:rPr>
              <a:t>社会保险纠纷裁判规则</a:t>
            </a:r>
            <a:endParaRPr lang="zh-CN" altLang="en-US" sz="1500" b="1">
              <a:solidFill>
                <a:srgbClr val="376FFF"/>
              </a:solidFill>
              <a:latin typeface="+mn-ea"/>
              <a:cs typeface="+mn-ea"/>
              <a:sym typeface="+mn-ea"/>
            </a:endParaRPr>
          </a:p>
        </p:txBody>
      </p:sp>
      <p:sp>
        <p:nvSpPr>
          <p:cNvPr id="25" name="矩形 24"/>
          <p:cNvSpPr/>
          <p:nvPr>
            <p:custDataLst>
              <p:tags r:id="rId6"/>
            </p:custDataLst>
          </p:nvPr>
        </p:nvSpPr>
        <p:spPr>
          <a:xfrm>
            <a:off x="6579235" y="3139758"/>
            <a:ext cx="5003800" cy="917575"/>
          </a:xfrm>
          <a:prstGeom prst="rect">
            <a:avLst/>
          </a:prstGeom>
          <a:noFill/>
        </p:spPr>
        <p:txBody>
          <a:bodyPr wrap="square" lIns="0" tIns="0" rIns="0" bIns="0" rtlCol="0" anchor="t" anchorCtr="0">
            <a:noAutofit/>
          </a:bodyPr>
          <a:p>
            <a:pPr indent="0" algn="just" fontAlgn="auto">
              <a:lnSpc>
                <a:spcPct val="150000"/>
              </a:lnSpc>
              <a:spcBef>
                <a:spcPct val="0"/>
              </a:spcBef>
              <a:spcAft>
                <a:spcPct val="0"/>
              </a:spcAft>
            </a:pPr>
            <a:r>
              <a:rPr lang="zh-CN" altLang="en-US" sz="1200">
                <a:ln>
                  <a:noFill/>
                  <a:prstDash val="sysDot"/>
                </a:ln>
                <a:solidFill>
                  <a:srgbClr val="000000">
                    <a:lumMod val="85000"/>
                    <a:lumOff val="15000"/>
                  </a:srgbClr>
                </a:solidFill>
                <a:uFillTx/>
                <a:latin typeface="+mn-ea"/>
                <a:cs typeface="+mn-ea"/>
                <a:sym typeface="+mn-ea"/>
              </a:rPr>
              <a:t>最高人民法院关于审理劳动争议案件适用法律问题的解释（一）（</a:t>
            </a:r>
            <a:r>
              <a:rPr lang="en-US" altLang="zh-CN" sz="1200">
                <a:ln>
                  <a:noFill/>
                  <a:prstDash val="sysDot"/>
                </a:ln>
                <a:solidFill>
                  <a:srgbClr val="000000">
                    <a:lumMod val="85000"/>
                    <a:lumOff val="15000"/>
                  </a:srgbClr>
                </a:solidFill>
                <a:uFillTx/>
                <a:latin typeface="+mn-ea"/>
                <a:cs typeface="+mn-ea"/>
                <a:sym typeface="+mn-ea"/>
              </a:rPr>
              <a:t>2021</a:t>
            </a:r>
            <a:r>
              <a:rPr lang="zh-CN" altLang="en-US" sz="1200">
                <a:ln>
                  <a:noFill/>
                  <a:prstDash val="sysDot"/>
                </a:ln>
                <a:solidFill>
                  <a:srgbClr val="000000">
                    <a:lumMod val="85000"/>
                    <a:lumOff val="15000"/>
                  </a:srgbClr>
                </a:solidFill>
                <a:uFillTx/>
                <a:latin typeface="+mn-ea"/>
                <a:cs typeface="+mn-ea"/>
                <a:sym typeface="+mn-ea"/>
              </a:rPr>
              <a:t>）统一劳动争议裁判规则，规范养老、医疗、失业、工伤、生育等社会保险缴纳、待遇享受及补缴争议的审理尺度。</a:t>
            </a:r>
            <a:endParaRPr lang="zh-CN" altLang="en-US" sz="1200">
              <a:ln>
                <a:noFill/>
                <a:prstDash val="sysDot"/>
              </a:ln>
              <a:solidFill>
                <a:srgbClr val="000000">
                  <a:lumMod val="85000"/>
                  <a:lumOff val="15000"/>
                </a:srgbClr>
              </a:solidFill>
              <a:uFillTx/>
              <a:latin typeface="+mn-ea"/>
              <a:cs typeface="+mn-ea"/>
              <a:sym typeface="+mn-ea"/>
            </a:endParaRPr>
          </a:p>
        </p:txBody>
      </p:sp>
      <p:sp>
        <p:nvSpPr>
          <p:cNvPr id="26" name="矩形 25"/>
          <p:cNvSpPr/>
          <p:nvPr>
            <p:custDataLst>
              <p:tags r:id="rId7"/>
            </p:custDataLst>
          </p:nvPr>
        </p:nvSpPr>
        <p:spPr>
          <a:xfrm>
            <a:off x="6396355" y="2893378"/>
            <a:ext cx="28800" cy="1080000"/>
          </a:xfrm>
          <a:prstGeom prst="rect">
            <a:avLst/>
          </a:prstGeom>
          <a:solidFill>
            <a:srgbClr val="376FFF">
              <a:lumMod val="60000"/>
              <a:lumOff val="40000"/>
              <a:alpha val="7000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rtlCol="0" anchor="ctr"/>
          <a:p>
            <a:pPr algn="ctr"/>
            <a:endParaRPr lang="zh-CN" altLang="en-US">
              <a:latin typeface="+mn-ea"/>
            </a:endParaRPr>
          </a:p>
        </p:txBody>
      </p:sp>
      <p:sp>
        <p:nvSpPr>
          <p:cNvPr id="9" name="矩形 8"/>
          <p:cNvSpPr/>
          <p:nvPr>
            <p:custDataLst>
              <p:tags r:id="rId8"/>
            </p:custDataLst>
          </p:nvPr>
        </p:nvSpPr>
        <p:spPr>
          <a:xfrm>
            <a:off x="791845" y="4291013"/>
            <a:ext cx="5003800" cy="299720"/>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376FFF"/>
                </a:solidFill>
                <a:latin typeface="+mn-ea"/>
                <a:cs typeface="+mn-ea"/>
                <a:sym typeface="+mn-ea"/>
              </a:rPr>
              <a:t>工伤认定与赔偿争议</a:t>
            </a:r>
            <a:endParaRPr lang="zh-CN" altLang="en-US" sz="1500" b="1">
              <a:solidFill>
                <a:srgbClr val="376FFF"/>
              </a:solidFill>
              <a:latin typeface="+mn-ea"/>
              <a:cs typeface="+mn-ea"/>
              <a:sym typeface="+mn-ea"/>
            </a:endParaRPr>
          </a:p>
        </p:txBody>
      </p:sp>
      <p:sp>
        <p:nvSpPr>
          <p:cNvPr id="10" name="矩形 9"/>
          <p:cNvSpPr/>
          <p:nvPr>
            <p:custDataLst>
              <p:tags r:id="rId9"/>
            </p:custDataLst>
          </p:nvPr>
        </p:nvSpPr>
        <p:spPr>
          <a:xfrm>
            <a:off x="791845" y="4630103"/>
            <a:ext cx="5003800" cy="917575"/>
          </a:xfrm>
          <a:prstGeom prst="rect">
            <a:avLst/>
          </a:prstGeom>
          <a:noFill/>
        </p:spPr>
        <p:txBody>
          <a:bodyPr wrap="square" lIns="0" tIns="0" rIns="0" bIns="0" rtlCol="0" anchor="t" anchorCtr="0">
            <a:noAutofit/>
          </a:bodyPr>
          <a:p>
            <a:pPr indent="0" algn="just" fontAlgn="auto">
              <a:lnSpc>
                <a:spcPct val="150000"/>
              </a:lnSpc>
              <a:spcBef>
                <a:spcPct val="0"/>
              </a:spcBef>
              <a:spcAft>
                <a:spcPct val="0"/>
              </a:spcAft>
            </a:pPr>
            <a:r>
              <a:rPr lang="zh-CN" altLang="en-US" sz="1200">
                <a:ln>
                  <a:noFill/>
                  <a:prstDash val="sysDot"/>
                </a:ln>
                <a:solidFill>
                  <a:srgbClr val="000000">
                    <a:lumMod val="85000"/>
                    <a:lumOff val="15000"/>
                  </a:srgbClr>
                </a:solidFill>
                <a:uFillTx/>
                <a:latin typeface="+mn-ea"/>
                <a:cs typeface="+mn-ea"/>
                <a:sym typeface="+mn-ea"/>
              </a:rPr>
              <a:t>最高人民法院关于审理劳动争议案件适用法律问题的解释（一）（</a:t>
            </a:r>
            <a:r>
              <a:rPr lang="en-US" altLang="zh-CN" sz="1200">
                <a:ln>
                  <a:noFill/>
                  <a:prstDash val="sysDot"/>
                </a:ln>
                <a:solidFill>
                  <a:srgbClr val="000000">
                    <a:lumMod val="85000"/>
                    <a:lumOff val="15000"/>
                  </a:srgbClr>
                </a:solidFill>
                <a:uFillTx/>
                <a:latin typeface="+mn-ea"/>
                <a:cs typeface="+mn-ea"/>
                <a:sym typeface="+mn-ea"/>
              </a:rPr>
              <a:t>2021</a:t>
            </a:r>
            <a:r>
              <a:rPr lang="zh-CN" altLang="en-US" sz="1200">
                <a:ln>
                  <a:noFill/>
                  <a:prstDash val="sysDot"/>
                </a:ln>
                <a:solidFill>
                  <a:srgbClr val="000000">
                    <a:lumMod val="85000"/>
                    <a:lumOff val="15000"/>
                  </a:srgbClr>
                </a:solidFill>
                <a:uFillTx/>
                <a:latin typeface="+mn-ea"/>
                <a:cs typeface="+mn-ea"/>
                <a:sym typeface="+mn-ea"/>
              </a:rPr>
              <a:t>）统一劳动争议裁判规则，厘清工伤认定程序、举证责任、赔偿项目与标准等关键问题的法律适用。</a:t>
            </a:r>
            <a:endParaRPr lang="zh-CN" altLang="en-US" sz="1200">
              <a:ln>
                <a:noFill/>
                <a:prstDash val="sysDot"/>
              </a:ln>
              <a:solidFill>
                <a:srgbClr val="000000">
                  <a:lumMod val="85000"/>
                  <a:lumOff val="15000"/>
                </a:srgbClr>
              </a:solidFill>
              <a:uFillTx/>
              <a:latin typeface="+mn-ea"/>
              <a:cs typeface="+mn-ea"/>
              <a:sym typeface="+mn-ea"/>
            </a:endParaRPr>
          </a:p>
        </p:txBody>
      </p:sp>
      <p:sp>
        <p:nvSpPr>
          <p:cNvPr id="11" name="矩形 10"/>
          <p:cNvSpPr/>
          <p:nvPr>
            <p:custDataLst>
              <p:tags r:id="rId10"/>
            </p:custDataLst>
          </p:nvPr>
        </p:nvSpPr>
        <p:spPr>
          <a:xfrm>
            <a:off x="608965" y="4383723"/>
            <a:ext cx="28800" cy="1080000"/>
          </a:xfrm>
          <a:prstGeom prst="rect">
            <a:avLst/>
          </a:prstGeom>
          <a:solidFill>
            <a:srgbClr val="376FFF">
              <a:lumMod val="60000"/>
              <a:lumOff val="40000"/>
              <a:alpha val="7000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rtlCol="0" anchor="ctr"/>
          <a:p>
            <a:pPr algn="ctr"/>
            <a:endParaRPr lang="zh-CN" altLang="en-US">
              <a:latin typeface="+mn-ea"/>
            </a:endParaRPr>
          </a:p>
        </p:txBody>
      </p:sp>
      <p:sp>
        <p:nvSpPr>
          <p:cNvPr id="12" name="矩形 11"/>
          <p:cNvSpPr/>
          <p:nvPr>
            <p:custDataLst>
              <p:tags r:id="rId11"/>
            </p:custDataLst>
          </p:nvPr>
        </p:nvSpPr>
        <p:spPr>
          <a:xfrm>
            <a:off x="6579235" y="4291013"/>
            <a:ext cx="5003800" cy="299720"/>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376FFF"/>
                </a:solidFill>
                <a:latin typeface="+mn-ea"/>
                <a:cs typeface="+mn-ea"/>
                <a:sym typeface="+mn-ea"/>
              </a:rPr>
              <a:t>竞业限制协议效力与执行</a:t>
            </a:r>
            <a:endParaRPr lang="zh-CN" altLang="en-US" sz="1500" b="1">
              <a:solidFill>
                <a:srgbClr val="376FFF"/>
              </a:solidFill>
              <a:latin typeface="+mn-ea"/>
              <a:cs typeface="+mn-ea"/>
              <a:sym typeface="+mn-ea"/>
            </a:endParaRPr>
          </a:p>
        </p:txBody>
      </p:sp>
      <p:sp>
        <p:nvSpPr>
          <p:cNvPr id="13" name="矩形 12"/>
          <p:cNvSpPr/>
          <p:nvPr>
            <p:custDataLst>
              <p:tags r:id="rId12"/>
            </p:custDataLst>
          </p:nvPr>
        </p:nvSpPr>
        <p:spPr>
          <a:xfrm>
            <a:off x="6579235" y="4630103"/>
            <a:ext cx="5003800" cy="917575"/>
          </a:xfrm>
          <a:prstGeom prst="rect">
            <a:avLst/>
          </a:prstGeom>
          <a:noFill/>
        </p:spPr>
        <p:txBody>
          <a:bodyPr wrap="square" lIns="0" tIns="0" rIns="0" bIns="0" rtlCol="0" anchor="t" anchorCtr="0">
            <a:noAutofit/>
          </a:bodyPr>
          <a:p>
            <a:pPr indent="0" algn="just" fontAlgn="auto">
              <a:lnSpc>
                <a:spcPct val="150000"/>
              </a:lnSpc>
              <a:spcBef>
                <a:spcPct val="0"/>
              </a:spcBef>
              <a:spcAft>
                <a:spcPct val="0"/>
              </a:spcAft>
            </a:pPr>
            <a:r>
              <a:rPr lang="zh-CN" altLang="en-US" sz="1200">
                <a:ln>
                  <a:noFill/>
                  <a:prstDash val="sysDot"/>
                </a:ln>
                <a:solidFill>
                  <a:srgbClr val="000000">
                    <a:lumMod val="85000"/>
                    <a:lumOff val="15000"/>
                  </a:srgbClr>
                </a:solidFill>
                <a:uFillTx/>
                <a:latin typeface="+mn-ea"/>
                <a:cs typeface="+mn-ea"/>
                <a:sym typeface="+mn-ea"/>
              </a:rPr>
              <a:t>最高人民法院关于审理劳动争议案件适用法律问题的解释（一）（</a:t>
            </a:r>
            <a:r>
              <a:rPr lang="en-US" altLang="zh-CN" sz="1200">
                <a:ln>
                  <a:noFill/>
                  <a:prstDash val="sysDot"/>
                </a:ln>
                <a:solidFill>
                  <a:srgbClr val="000000">
                    <a:lumMod val="85000"/>
                    <a:lumOff val="15000"/>
                  </a:srgbClr>
                </a:solidFill>
                <a:uFillTx/>
                <a:latin typeface="+mn-ea"/>
                <a:cs typeface="+mn-ea"/>
                <a:sym typeface="+mn-ea"/>
              </a:rPr>
              <a:t>2021</a:t>
            </a:r>
            <a:r>
              <a:rPr lang="zh-CN" altLang="en-US" sz="1200">
                <a:ln>
                  <a:noFill/>
                  <a:prstDash val="sysDot"/>
                </a:ln>
                <a:solidFill>
                  <a:srgbClr val="000000">
                    <a:lumMod val="85000"/>
                    <a:lumOff val="15000"/>
                  </a:srgbClr>
                </a:solidFill>
                <a:uFillTx/>
                <a:latin typeface="+mn-ea"/>
                <a:cs typeface="+mn-ea"/>
                <a:sym typeface="+mn-ea"/>
              </a:rPr>
              <a:t>）统一劳动争议裁判规则，细化竞业限制协议的生效条件、经济补偿标准、违约责任及司法审查边界。</a:t>
            </a:r>
            <a:endParaRPr lang="zh-CN" altLang="en-US" sz="1200">
              <a:ln>
                <a:noFill/>
                <a:prstDash val="sysDot"/>
              </a:ln>
              <a:solidFill>
                <a:srgbClr val="000000">
                  <a:lumMod val="85000"/>
                  <a:lumOff val="15000"/>
                </a:srgbClr>
              </a:solidFill>
              <a:uFillTx/>
              <a:latin typeface="+mn-ea"/>
              <a:cs typeface="+mn-ea"/>
              <a:sym typeface="+mn-ea"/>
            </a:endParaRPr>
          </a:p>
        </p:txBody>
      </p:sp>
      <p:sp>
        <p:nvSpPr>
          <p:cNvPr id="14" name="矩形 13"/>
          <p:cNvSpPr/>
          <p:nvPr>
            <p:custDataLst>
              <p:tags r:id="rId13"/>
            </p:custDataLst>
          </p:nvPr>
        </p:nvSpPr>
        <p:spPr>
          <a:xfrm>
            <a:off x="6396355" y="4383723"/>
            <a:ext cx="28800" cy="1080000"/>
          </a:xfrm>
          <a:prstGeom prst="rect">
            <a:avLst/>
          </a:prstGeom>
          <a:solidFill>
            <a:srgbClr val="376FFF">
              <a:lumMod val="60000"/>
              <a:lumOff val="40000"/>
              <a:alpha val="70000"/>
            </a:srgbClr>
          </a:solidFill>
          <a:ln w="12700" cap="flat" cmpd="sng" algn="ctr">
            <a:noFill/>
            <a:prstDash val="solid"/>
            <a:miter lim="800000"/>
          </a:ln>
          <a:effectLst/>
        </p:spPr>
        <p:style>
          <a:lnRef idx="2">
            <a:srgbClr val="376FFF">
              <a:lumMod val="75000"/>
            </a:srgbClr>
          </a:lnRef>
          <a:fillRef idx="1">
            <a:srgbClr val="376FFF"/>
          </a:fillRef>
          <a:effectRef idx="0">
            <a:srgbClr val="FFFFFF"/>
          </a:effectRef>
          <a:fontRef idx="minor">
            <a:srgbClr val="FFFFFF"/>
          </a:fontRef>
        </p:style>
        <p:txBody>
          <a:bodyPr rtlCol="0" anchor="ctr"/>
          <a:p>
            <a:pPr algn="ctr"/>
            <a:endParaRPr lang="zh-CN" altLang="en-US">
              <a:latin typeface="+mn-ea"/>
            </a:endParaRPr>
          </a:p>
        </p:txBody>
      </p:sp>
    </p:spTree>
    <p:custDataLst>
      <p:tags r:id="rId1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案例一：社保补缴</a:t>
            </a:r>
            <a:endParaRPr lang="zh-CN" altLang="en-US"/>
          </a:p>
        </p:txBody>
      </p:sp>
      <p:sp>
        <p:nvSpPr>
          <p:cNvPr id="3" name="文本框 2"/>
          <p:cNvSpPr txBox="1"/>
          <p:nvPr/>
        </p:nvSpPr>
        <p:spPr>
          <a:xfrm>
            <a:off x="695960" y="1302385"/>
            <a:ext cx="10800080" cy="5396865"/>
          </a:xfrm>
          <a:prstGeom prst="rect">
            <a:avLst/>
          </a:prstGeom>
          <a:noFill/>
        </p:spPr>
        <p:txBody>
          <a:bodyPr wrap="square" rtlCol="0" anchor="t">
            <a:noAutofit/>
          </a:bodyPr>
          <a:p>
            <a:pPr algn="l">
              <a:lnSpc>
                <a:spcPct val="140000"/>
              </a:lnSpc>
            </a:pPr>
            <a:r>
              <a:rPr lang="zh-CN" altLang="en-US" sz="1600" kern="100" dirty="0">
                <a:effectLst/>
                <a:latin typeface="+mn-ea"/>
                <a:cs typeface="江城圆体 400W" panose="020B0500000000000000" pitchFamily="34" charset="-122"/>
              </a:rPr>
              <a:t>一、基本案情</a:t>
            </a:r>
            <a:endParaRPr lang="zh-CN" altLang="en-US"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2007</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1974</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8</a:t>
            </a:r>
            <a:r>
              <a:rPr lang="zh-CN" altLang="en-US" sz="1600" kern="100" dirty="0">
                <a:effectLst/>
                <a:latin typeface="+mn-ea"/>
                <a:cs typeface="江城圆体 400W" panose="020B0500000000000000" pitchFamily="34" charset="-122"/>
              </a:rPr>
              <a:t>月</a:t>
            </a:r>
            <a:r>
              <a:rPr lang="en-US" altLang="zh-CN" sz="1600" kern="100" dirty="0">
                <a:effectLst/>
                <a:latin typeface="+mn-ea"/>
                <a:cs typeface="江城圆体 400W" panose="020B0500000000000000" pitchFamily="34" charset="-122"/>
              </a:rPr>
              <a:t>10</a:t>
            </a:r>
            <a:r>
              <a:rPr lang="zh-CN" altLang="en-US" sz="1600" kern="100" dirty="0">
                <a:effectLst/>
                <a:latin typeface="+mn-ea"/>
                <a:cs typeface="江城圆体 400W" panose="020B0500000000000000" pitchFamily="34" charset="-122"/>
              </a:rPr>
              <a:t>日出生的女职工</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某，入职肇庆市高要区的某公司，从事行政工作</a:t>
            </a:r>
            <a:r>
              <a:rPr lang="en-US" altLang="zh-CN" sz="1600" kern="100" dirty="0">
                <a:effectLst/>
                <a:latin typeface="+mn-ea"/>
                <a:cs typeface="江城圆体 400W" panose="020B0500000000000000" pitchFamily="34" charset="-122"/>
              </a:rPr>
              <a:t>,</a:t>
            </a:r>
            <a:r>
              <a:rPr lang="zh-CN" altLang="en-US" sz="1600" kern="100" dirty="0">
                <a:effectLst/>
                <a:latin typeface="+mn-ea"/>
                <a:cs typeface="江城圆体 400W" panose="020B0500000000000000" pitchFamily="34" charset="-122"/>
              </a:rPr>
              <a:t>双方签订了书面劳动合同。（笔者注：</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某入职时约</a:t>
            </a:r>
            <a:r>
              <a:rPr lang="en-US" altLang="zh-CN" sz="1600" kern="100" dirty="0">
                <a:effectLst/>
                <a:latin typeface="+mn-ea"/>
                <a:cs typeface="江城圆体 400W" panose="020B0500000000000000" pitchFamily="34" charset="-122"/>
              </a:rPr>
              <a:t>32</a:t>
            </a:r>
            <a:r>
              <a:rPr lang="zh-CN" altLang="en-US" sz="1600" kern="100" dirty="0">
                <a:effectLst/>
                <a:latin typeface="+mn-ea"/>
                <a:cs typeface="江城圆体 400W" panose="020B0500000000000000" pitchFamily="34" charset="-122"/>
              </a:rPr>
              <a:t>岁）</a:t>
            </a:r>
            <a:endParaRPr lang="en-US" altLang="zh-CN"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2009</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3</a:t>
            </a:r>
            <a:r>
              <a:rPr lang="zh-CN" altLang="en-US" sz="1600" kern="100" dirty="0">
                <a:effectLst/>
                <a:latin typeface="+mn-ea"/>
                <a:cs typeface="江城圆体 400W" panose="020B0500000000000000" pitchFamily="34" charset="-122"/>
              </a:rPr>
              <a:t>月</a:t>
            </a:r>
            <a:r>
              <a:rPr lang="en-US" altLang="zh-CN" sz="1600" kern="100" dirty="0">
                <a:effectLst/>
                <a:latin typeface="+mn-ea"/>
                <a:cs typeface="江城圆体 400W" panose="020B0500000000000000" pitchFamily="34" charset="-122"/>
              </a:rPr>
              <a:t>10</a:t>
            </a:r>
            <a:r>
              <a:rPr lang="zh-CN" altLang="en-US" sz="1600" kern="100" dirty="0">
                <a:effectLst/>
                <a:latin typeface="+mn-ea"/>
                <a:cs typeface="江城圆体 400W" panose="020B0500000000000000" pitchFamily="34" charset="-122"/>
              </a:rPr>
              <a:t>日，某公司向</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某出具《关于参加社会保险的告知书》，告知</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某于</a:t>
            </a:r>
            <a:r>
              <a:rPr lang="en-US" altLang="zh-CN" sz="1600" kern="100" dirty="0">
                <a:effectLst/>
                <a:latin typeface="+mn-ea"/>
                <a:cs typeface="江城圆体 400W" panose="020B0500000000000000" pitchFamily="34" charset="-122"/>
              </a:rPr>
              <a:t>2009</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4</a:t>
            </a:r>
            <a:r>
              <a:rPr lang="zh-CN" altLang="en-US" sz="1600" kern="100" dirty="0">
                <a:effectLst/>
                <a:latin typeface="+mn-ea"/>
                <a:cs typeface="江城圆体 400W" panose="020B0500000000000000" pitchFamily="34" charset="-122"/>
              </a:rPr>
              <a:t>月</a:t>
            </a:r>
            <a:r>
              <a:rPr lang="en-US" altLang="zh-CN" sz="1600" kern="100" dirty="0">
                <a:effectLst/>
                <a:latin typeface="+mn-ea"/>
                <a:cs typeface="江城圆体 400W" panose="020B0500000000000000" pitchFamily="34" charset="-122"/>
              </a:rPr>
              <a:t>10</a:t>
            </a:r>
            <a:r>
              <a:rPr lang="zh-CN" altLang="en-US" sz="1600" kern="100" dirty="0">
                <a:effectLst/>
                <a:latin typeface="+mn-ea"/>
                <a:cs typeface="江城圆体 400W" panose="020B0500000000000000" pitchFamily="34" charset="-122"/>
              </a:rPr>
              <a:t>日前到公司行政部办理参保手续。</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同日，</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某向公司递交《申请书》，主要内容为：</a:t>
            </a:r>
            <a:r>
              <a:rPr lang="en-US" altLang="zh-CN" sz="1600" kern="100" dirty="0">
                <a:effectLst/>
                <a:latin typeface="+mn-ea"/>
                <a:cs typeface="江城圆体 400W" panose="020B0500000000000000" pitchFamily="34" charset="-122"/>
              </a:rPr>
              <a:t>“</a:t>
            </a:r>
            <a:r>
              <a:rPr lang="zh-CN" altLang="en-US" sz="1600" kern="100" dirty="0">
                <a:effectLst/>
                <a:latin typeface="+mn-ea"/>
                <a:cs typeface="江城圆体 400W" panose="020B0500000000000000" pitchFamily="34" charset="-122"/>
              </a:rPr>
              <a:t>本人因家庭经济原因，声明自愿放弃参加社会保险，并承诺不追究某公司不为其购买社会保险的所有法律责任。</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某有在该《申请书》上签名和按捺手印。（笔者注：</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某当时</a:t>
            </a:r>
            <a:r>
              <a:rPr lang="en-US" altLang="zh-CN" sz="1600" kern="100" dirty="0">
                <a:effectLst/>
                <a:latin typeface="+mn-ea"/>
                <a:cs typeface="江城圆体 400W" panose="020B0500000000000000" pitchFamily="34" charset="-122"/>
              </a:rPr>
              <a:t>34</a:t>
            </a:r>
            <a:r>
              <a:rPr lang="zh-CN" altLang="en-US" sz="1600" kern="100" dirty="0">
                <a:effectLst/>
                <a:latin typeface="+mn-ea"/>
                <a:cs typeface="江城圆体 400W" panose="020B0500000000000000" pitchFamily="34" charset="-122"/>
              </a:rPr>
              <a:t>岁，可能由于还比较年轻，觉得退休还是比较遥远的事情，对社保缴纳问题不太重视）。</a:t>
            </a:r>
            <a:endParaRPr lang="zh-CN" altLang="en-US"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2017</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某因个人原因离职。（笔者注：</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某在某公司工作了</a:t>
            </a:r>
            <a:r>
              <a:rPr lang="en-US" altLang="zh-CN" sz="1600" kern="100" dirty="0">
                <a:effectLst/>
                <a:latin typeface="+mn-ea"/>
                <a:cs typeface="江城圆体 400W" panose="020B0500000000000000" pitchFamily="34" charset="-122"/>
              </a:rPr>
              <a:t>10</a:t>
            </a:r>
            <a:r>
              <a:rPr lang="zh-CN" altLang="en-US" sz="1600" kern="100" dirty="0">
                <a:effectLst/>
                <a:latin typeface="+mn-ea"/>
                <a:cs typeface="江城圆体 400W" panose="020B0500000000000000" pitchFamily="34" charset="-122"/>
              </a:rPr>
              <a:t>年后离职，离职时约</a:t>
            </a:r>
            <a:r>
              <a:rPr lang="en-US" altLang="zh-CN" sz="1600" kern="100" dirty="0">
                <a:effectLst/>
                <a:latin typeface="+mn-ea"/>
                <a:cs typeface="江城圆体 400W" panose="020B0500000000000000" pitchFamily="34" charset="-122"/>
              </a:rPr>
              <a:t>43</a:t>
            </a:r>
            <a:r>
              <a:rPr lang="zh-CN" altLang="en-US" sz="1600" kern="100" dirty="0">
                <a:effectLst/>
                <a:latin typeface="+mn-ea"/>
                <a:cs typeface="江城圆体 400W" panose="020B0500000000000000" pitchFamily="34" charset="-122"/>
              </a:rPr>
              <a:t>岁）</a:t>
            </a:r>
            <a:endParaRPr lang="en-US" altLang="zh-CN"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2018</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某再次入职某公司。（笔者注：</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某再次入职时约</a:t>
            </a:r>
            <a:r>
              <a:rPr lang="en-US" altLang="zh-CN" sz="1600" kern="100" dirty="0">
                <a:effectLst/>
                <a:latin typeface="+mn-ea"/>
                <a:cs typeface="江城圆体 400W" panose="020B0500000000000000" pitchFamily="34" charset="-122"/>
              </a:rPr>
              <a:t>44</a:t>
            </a:r>
            <a:r>
              <a:rPr lang="zh-CN" altLang="en-US" sz="1600" kern="100" dirty="0">
                <a:effectLst/>
                <a:latin typeface="+mn-ea"/>
                <a:cs typeface="江城圆体 400W" panose="020B0500000000000000" pitchFamily="34" charset="-122"/>
              </a:rPr>
              <a:t>岁）</a:t>
            </a:r>
            <a:endParaRPr lang="en-US" altLang="zh-CN"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2023</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2</a:t>
            </a:r>
            <a:r>
              <a:rPr lang="zh-CN" altLang="en-US" sz="1600" kern="100" dirty="0">
                <a:effectLst/>
                <a:latin typeface="+mn-ea"/>
                <a:cs typeface="江城圆体 400W" panose="020B0500000000000000" pitchFamily="34" charset="-122"/>
              </a:rPr>
              <a:t>月</a:t>
            </a:r>
            <a:r>
              <a:rPr lang="en-US" altLang="zh-CN" sz="1600" kern="100" dirty="0">
                <a:effectLst/>
                <a:latin typeface="+mn-ea"/>
                <a:cs typeface="江城圆体 400W" panose="020B0500000000000000" pitchFamily="34" charset="-122"/>
              </a:rPr>
              <a:t>21</a:t>
            </a:r>
            <a:r>
              <a:rPr lang="zh-CN" altLang="en-US" sz="1600" kern="100" dirty="0">
                <a:effectLst/>
                <a:latin typeface="+mn-ea"/>
                <a:cs typeface="江城圆体 400W" panose="020B0500000000000000" pitchFamily="34" charset="-122"/>
              </a:rPr>
              <a:t>日，</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某再次从某公司离职。（注：这一次</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某工作了约</a:t>
            </a:r>
            <a:r>
              <a:rPr lang="en-US" altLang="zh-CN" sz="1600" kern="100" dirty="0">
                <a:effectLst/>
                <a:latin typeface="+mn-ea"/>
                <a:cs typeface="江城圆体 400W" panose="020B0500000000000000" pitchFamily="34" charset="-122"/>
              </a:rPr>
              <a:t>5</a:t>
            </a:r>
            <a:r>
              <a:rPr lang="zh-CN" altLang="en-US" sz="1600" kern="100" dirty="0">
                <a:effectLst/>
                <a:latin typeface="+mn-ea"/>
                <a:cs typeface="江城圆体 400W" panose="020B0500000000000000" pitchFamily="34" charset="-122"/>
              </a:rPr>
              <a:t>年，离职时已经</a:t>
            </a:r>
            <a:r>
              <a:rPr lang="en-US" altLang="zh-CN" sz="1600" kern="100" dirty="0">
                <a:effectLst/>
                <a:latin typeface="+mn-ea"/>
                <a:cs typeface="江城圆体 400W" panose="020B0500000000000000" pitchFamily="34" charset="-122"/>
              </a:rPr>
              <a:t>48</a:t>
            </a:r>
            <a:r>
              <a:rPr lang="zh-CN" altLang="en-US" sz="1600" kern="100" dirty="0">
                <a:effectLst/>
                <a:latin typeface="+mn-ea"/>
                <a:cs typeface="江城圆体 400W" panose="020B0500000000000000" pitchFamily="34" charset="-122"/>
              </a:rPr>
              <a:t>岁了。）</a:t>
            </a:r>
            <a:endParaRPr lang="zh-CN" altLang="en-US" sz="1600" kern="100" dirty="0">
              <a:effectLst/>
              <a:latin typeface="+mn-ea"/>
              <a:cs typeface="江城圆体 400W" panose="020B0500000000000000" pitchFamily="34" charset="-122"/>
            </a:endParaRPr>
          </a:p>
          <a:p>
            <a:pPr algn="l">
              <a:lnSpc>
                <a:spcPct val="140000"/>
              </a:lnSpc>
            </a:pPr>
            <a:r>
              <a:rPr lang="zh-CN" altLang="en-US" sz="1600" b="1" kern="100" dirty="0">
                <a:solidFill>
                  <a:srgbClr val="FF0000"/>
                </a:solidFill>
                <a:effectLst/>
                <a:latin typeface="+mn-ea"/>
                <a:cs typeface="江城圆体 400W" panose="020B0500000000000000" pitchFamily="34" charset="-122"/>
              </a:rPr>
              <a:t>由于离职时已经</a:t>
            </a:r>
            <a:r>
              <a:rPr lang="en-US" altLang="zh-CN" sz="1600" b="1" kern="100" dirty="0">
                <a:solidFill>
                  <a:srgbClr val="FF0000"/>
                </a:solidFill>
                <a:effectLst/>
                <a:latin typeface="+mn-ea"/>
                <a:cs typeface="江城圆体 400W" panose="020B0500000000000000" pitchFamily="34" charset="-122"/>
              </a:rPr>
              <a:t>48</a:t>
            </a:r>
            <a:r>
              <a:rPr lang="zh-CN" altLang="en-US" sz="1600" b="1" kern="100" dirty="0">
                <a:solidFill>
                  <a:srgbClr val="FF0000"/>
                </a:solidFill>
                <a:effectLst/>
                <a:latin typeface="+mn-ea"/>
                <a:cs typeface="江城圆体 400W" panose="020B0500000000000000" pitchFamily="34" charset="-122"/>
              </a:rPr>
              <a:t>岁，按当时的女工人退休年龄</a:t>
            </a:r>
            <a:r>
              <a:rPr lang="en-US" altLang="zh-CN" sz="1600" b="1" kern="100" dirty="0">
                <a:solidFill>
                  <a:srgbClr val="FF0000"/>
                </a:solidFill>
                <a:effectLst/>
                <a:latin typeface="+mn-ea"/>
                <a:cs typeface="江城圆体 400W" panose="020B0500000000000000" pitchFamily="34" charset="-122"/>
              </a:rPr>
              <a:t>50</a:t>
            </a:r>
            <a:r>
              <a:rPr lang="zh-CN" altLang="en-US" sz="1600" b="1" kern="100" dirty="0">
                <a:solidFill>
                  <a:srgbClr val="FF0000"/>
                </a:solidFill>
                <a:effectLst/>
                <a:latin typeface="+mn-ea"/>
                <a:cs typeface="江城圆体 400W" panose="020B0500000000000000" pitchFamily="34" charset="-122"/>
              </a:rPr>
              <a:t>岁计算，</a:t>
            </a:r>
            <a:r>
              <a:rPr lang="en-US" altLang="zh-CN" sz="1600" b="1" kern="100" dirty="0">
                <a:solidFill>
                  <a:srgbClr val="FF0000"/>
                </a:solidFill>
                <a:effectLst/>
                <a:latin typeface="+mn-ea"/>
                <a:cs typeface="江城圆体 400W" panose="020B0500000000000000" pitchFamily="34" charset="-122"/>
              </a:rPr>
              <a:t>L</a:t>
            </a:r>
            <a:r>
              <a:rPr lang="zh-CN" altLang="en-US" sz="1600" b="1" kern="100" dirty="0">
                <a:solidFill>
                  <a:srgbClr val="FF0000"/>
                </a:solidFill>
                <a:effectLst/>
                <a:latin typeface="+mn-ea"/>
                <a:cs typeface="江城圆体 400W" panose="020B0500000000000000" pitchFamily="34" charset="-122"/>
              </a:rPr>
              <a:t>某距离退休年龄可能仅剩不到</a:t>
            </a:r>
            <a:r>
              <a:rPr lang="en-US" altLang="zh-CN" sz="1600" b="1" kern="100" dirty="0">
                <a:solidFill>
                  <a:srgbClr val="FF0000"/>
                </a:solidFill>
                <a:effectLst/>
                <a:latin typeface="+mn-ea"/>
                <a:cs typeface="江城圆体 400W" panose="020B0500000000000000" pitchFamily="34" charset="-122"/>
              </a:rPr>
              <a:t>2</a:t>
            </a:r>
            <a:r>
              <a:rPr lang="zh-CN" altLang="en-US" sz="1600" b="1" kern="100" dirty="0">
                <a:solidFill>
                  <a:srgbClr val="FF0000"/>
                </a:solidFill>
                <a:effectLst/>
                <a:latin typeface="+mn-ea"/>
                <a:cs typeface="江城圆体 400W" panose="020B0500000000000000" pitchFamily="34" charset="-122"/>
              </a:rPr>
              <a:t>年。此时，</a:t>
            </a:r>
            <a:r>
              <a:rPr lang="en-US" altLang="zh-CN" sz="1600" b="1" kern="100" dirty="0">
                <a:solidFill>
                  <a:srgbClr val="FF0000"/>
                </a:solidFill>
                <a:effectLst/>
                <a:latin typeface="+mn-ea"/>
                <a:cs typeface="江城圆体 400W" panose="020B0500000000000000" pitchFamily="34" charset="-122"/>
              </a:rPr>
              <a:t>L</a:t>
            </a:r>
            <a:r>
              <a:rPr lang="zh-CN" altLang="en-US" sz="1600" b="1" kern="100" dirty="0">
                <a:solidFill>
                  <a:srgbClr val="FF0000"/>
                </a:solidFill>
                <a:effectLst/>
                <a:latin typeface="+mn-ea"/>
                <a:cs typeface="江城圆体 400W" panose="020B0500000000000000" pitchFamily="34" charset="-122"/>
              </a:rPr>
              <a:t>某终于开始重视社保缴纳问题。</a:t>
            </a:r>
            <a:endParaRPr lang="zh-CN" altLang="en-US" sz="1600" b="1" kern="100" dirty="0">
              <a:solidFill>
                <a:srgbClr val="FF0000"/>
              </a:solidFill>
              <a:effectLst/>
              <a:latin typeface="+mn-ea"/>
              <a:cs typeface="江城圆体 400W" panose="020B0500000000000000" pitchFamily="34" charset="-122"/>
            </a:endParaRPr>
          </a:p>
          <a:p>
            <a:pPr algn="l">
              <a:lnSpc>
                <a:spcPct val="140000"/>
              </a:lnSpc>
            </a:pPr>
            <a:endParaRPr lang="zh-CN" altLang="en-US" sz="1600" b="1" kern="100" dirty="0">
              <a:solidFill>
                <a:srgbClr val="FF0000"/>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案例一：社保补缴</a:t>
            </a:r>
            <a:endParaRPr lang="zh-CN" altLang="en-US"/>
          </a:p>
        </p:txBody>
      </p:sp>
      <p:sp>
        <p:nvSpPr>
          <p:cNvPr id="3" name="文本框 2"/>
          <p:cNvSpPr txBox="1"/>
          <p:nvPr/>
        </p:nvSpPr>
        <p:spPr>
          <a:xfrm>
            <a:off x="695960" y="1302385"/>
            <a:ext cx="10800080" cy="3720465"/>
          </a:xfrm>
          <a:prstGeom prst="rect">
            <a:avLst/>
          </a:prstGeom>
          <a:noFill/>
        </p:spPr>
        <p:txBody>
          <a:bodyPr wrap="square" rtlCol="0" anchor="t">
            <a:noAutofit/>
          </a:bodyPr>
          <a:p>
            <a:pPr algn="l">
              <a:lnSpc>
                <a:spcPct val="140000"/>
              </a:lnSpc>
            </a:pPr>
            <a:r>
              <a:rPr lang="zh-CN" altLang="en-US" sz="1600" kern="100" dirty="0">
                <a:effectLst/>
                <a:latin typeface="+mn-ea"/>
                <a:cs typeface="江城圆体 400W" panose="020B0500000000000000" pitchFamily="34" charset="-122"/>
              </a:rPr>
              <a:t>一、基本案情</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经核对，某公司给</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某交社保的情况如下：</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1</a:t>
            </a: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2007</a:t>
            </a:r>
            <a:r>
              <a:rPr lang="zh-CN" altLang="en-US" sz="1600" kern="100" dirty="0">
                <a:effectLst/>
                <a:latin typeface="+mn-ea"/>
                <a:cs typeface="江城圆体 400W" panose="020B0500000000000000" pitchFamily="34" charset="-122"/>
              </a:rPr>
              <a:t>年至</a:t>
            </a:r>
            <a:r>
              <a:rPr lang="en-US" altLang="zh-CN" sz="1600" kern="100" dirty="0">
                <a:effectLst/>
                <a:latin typeface="+mn-ea"/>
                <a:cs typeface="江城圆体 400W" panose="020B0500000000000000" pitchFamily="34" charset="-122"/>
              </a:rPr>
              <a:t>2010</a:t>
            </a:r>
            <a:r>
              <a:rPr lang="zh-CN" altLang="en-US" sz="1600" kern="100" dirty="0">
                <a:effectLst/>
                <a:latin typeface="+mn-ea"/>
                <a:cs typeface="江城圆体 400W" panose="020B0500000000000000" pitchFamily="34" charset="-122"/>
              </a:rPr>
              <a:t>年之前，没交社保；</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2</a:t>
            </a: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2010</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11</a:t>
            </a:r>
            <a:r>
              <a:rPr lang="zh-CN" altLang="en-US" sz="1600" kern="100" dirty="0">
                <a:effectLst/>
                <a:latin typeface="+mn-ea"/>
                <a:cs typeface="江城圆体 400W" panose="020B0500000000000000" pitchFamily="34" charset="-122"/>
              </a:rPr>
              <a:t>月至</a:t>
            </a:r>
            <a:r>
              <a:rPr lang="en-US" altLang="zh-CN" sz="1600" kern="100" dirty="0">
                <a:effectLst/>
                <a:latin typeface="+mn-ea"/>
                <a:cs typeface="江城圆体 400W" panose="020B0500000000000000" pitchFamily="34" charset="-122"/>
              </a:rPr>
              <a:t>2017</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5</a:t>
            </a:r>
            <a:r>
              <a:rPr lang="zh-CN" altLang="en-US" sz="1600" kern="100" dirty="0">
                <a:effectLst/>
                <a:latin typeface="+mn-ea"/>
                <a:cs typeface="江城圆体 400W" panose="020B0500000000000000" pitchFamily="34" charset="-122"/>
              </a:rPr>
              <a:t>月，有交社保；</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3</a:t>
            </a:r>
            <a:r>
              <a:rPr lang="zh-CN" altLang="en-US" sz="1600" kern="100" dirty="0">
                <a:effectLst/>
                <a:latin typeface="+mn-ea"/>
                <a:cs typeface="江城圆体 400W" panose="020B0500000000000000" pitchFamily="34" charset="-122"/>
              </a:rPr>
              <a:t>）</a:t>
            </a:r>
            <a:r>
              <a:rPr lang="en-US" altLang="zh-CN" sz="1600" kern="100" dirty="0">
                <a:effectLst/>
                <a:latin typeface="+mn-ea"/>
                <a:cs typeface="江城圆体 400W" panose="020B0500000000000000" pitchFamily="34" charset="-122"/>
              </a:rPr>
              <a:t>2018</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4</a:t>
            </a:r>
            <a:r>
              <a:rPr lang="zh-CN" altLang="en-US" sz="1600" kern="100" dirty="0">
                <a:effectLst/>
                <a:latin typeface="+mn-ea"/>
                <a:cs typeface="江城圆体 400W" panose="020B0500000000000000" pitchFamily="34" charset="-122"/>
              </a:rPr>
              <a:t>月至</a:t>
            </a:r>
            <a:r>
              <a:rPr lang="en-US" altLang="zh-CN" sz="1600" kern="100" dirty="0">
                <a:effectLst/>
                <a:latin typeface="+mn-ea"/>
                <a:cs typeface="江城圆体 400W" panose="020B0500000000000000" pitchFamily="34" charset="-122"/>
              </a:rPr>
              <a:t>2023</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2</a:t>
            </a:r>
            <a:r>
              <a:rPr lang="zh-CN" altLang="en-US" sz="1600" kern="100" dirty="0">
                <a:effectLst/>
                <a:latin typeface="+mn-ea"/>
                <a:cs typeface="江城圆体 400W" panose="020B0500000000000000" pitchFamily="34" charset="-122"/>
              </a:rPr>
              <a:t>月，有交社保。</a:t>
            </a:r>
            <a:endParaRPr lang="zh-CN" altLang="en-US" sz="1600" kern="100" dirty="0">
              <a:effectLst/>
              <a:latin typeface="+mn-ea"/>
              <a:cs typeface="江城圆体 400W" panose="020B0500000000000000" pitchFamily="34" charset="-122"/>
            </a:endParaRPr>
          </a:p>
          <a:p>
            <a:pPr algn="l">
              <a:lnSpc>
                <a:spcPct val="140000"/>
              </a:lnSpc>
            </a:pPr>
            <a:endParaRPr lang="en-US" altLang="zh-CN" sz="1600" kern="100" dirty="0">
              <a:effectLst/>
              <a:latin typeface="+mn-ea"/>
              <a:cs typeface="江城圆体 400W" panose="020B0500000000000000" pitchFamily="34" charset="-122"/>
            </a:endParaRPr>
          </a:p>
          <a:p>
            <a:pPr algn="l">
              <a:lnSpc>
                <a:spcPct val="140000"/>
              </a:lnSpc>
            </a:pPr>
            <a:r>
              <a:rPr lang="en-US" altLang="zh-CN" sz="1600" kern="100" dirty="0">
                <a:effectLst/>
                <a:latin typeface="+mn-ea"/>
                <a:cs typeface="江城圆体 400W" panose="020B0500000000000000" pitchFamily="34" charset="-122"/>
              </a:rPr>
              <a:t>2024</a:t>
            </a:r>
            <a:r>
              <a:rPr lang="zh-CN" altLang="en-US" sz="1600" kern="100" dirty="0">
                <a:effectLst/>
                <a:latin typeface="+mn-ea"/>
                <a:cs typeface="江城圆体 400W" panose="020B0500000000000000" pitchFamily="34" charset="-122"/>
              </a:rPr>
              <a:t>年</a:t>
            </a:r>
            <a:r>
              <a:rPr lang="en-US" altLang="zh-CN" sz="1600" kern="100" dirty="0">
                <a:effectLst/>
                <a:latin typeface="+mn-ea"/>
                <a:cs typeface="江城圆体 400W" panose="020B0500000000000000" pitchFamily="34" charset="-122"/>
              </a:rPr>
              <a:t>11</a:t>
            </a:r>
            <a:r>
              <a:rPr lang="zh-CN" altLang="en-US" sz="1600" kern="100" dirty="0">
                <a:effectLst/>
                <a:latin typeface="+mn-ea"/>
                <a:cs typeface="江城圆体 400W" panose="020B0500000000000000" pitchFamily="34" charset="-122"/>
              </a:rPr>
              <a:t>月，</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某向税务部门进行投诉某公司为其补交</a:t>
            </a:r>
            <a:r>
              <a:rPr lang="en-US" altLang="zh-CN" sz="1600" kern="100" dirty="0">
                <a:effectLst/>
                <a:latin typeface="+mn-ea"/>
                <a:cs typeface="江城圆体 400W" panose="020B0500000000000000" pitchFamily="34" charset="-122"/>
              </a:rPr>
              <a:t>“</a:t>
            </a:r>
            <a:r>
              <a:rPr lang="en-US" altLang="zh-CN" sz="1600" b="1" kern="100" dirty="0">
                <a:solidFill>
                  <a:srgbClr val="FF0000"/>
                </a:solidFill>
                <a:effectLst/>
                <a:latin typeface="+mn-ea"/>
                <a:cs typeface="江城圆体 400W" panose="020B0500000000000000" pitchFamily="34" charset="-122"/>
              </a:rPr>
              <a:t>2009</a:t>
            </a:r>
            <a:r>
              <a:rPr lang="zh-CN" altLang="en-US" sz="1600" b="1" kern="100" dirty="0">
                <a:solidFill>
                  <a:srgbClr val="FF0000"/>
                </a:solidFill>
                <a:effectLst/>
                <a:latin typeface="+mn-ea"/>
                <a:cs typeface="江城圆体 400W" panose="020B0500000000000000" pitchFamily="34" charset="-122"/>
              </a:rPr>
              <a:t>年</a:t>
            </a:r>
            <a:r>
              <a:rPr lang="en-US" altLang="zh-CN" sz="1600" b="1" kern="100" dirty="0">
                <a:solidFill>
                  <a:srgbClr val="FF0000"/>
                </a:solidFill>
                <a:effectLst/>
                <a:latin typeface="+mn-ea"/>
                <a:cs typeface="江城圆体 400W" panose="020B0500000000000000" pitchFamily="34" charset="-122"/>
              </a:rPr>
              <a:t>1</a:t>
            </a:r>
            <a:r>
              <a:rPr lang="zh-CN" altLang="en-US" sz="1600" b="1" kern="100" dirty="0">
                <a:solidFill>
                  <a:srgbClr val="FF0000"/>
                </a:solidFill>
                <a:effectLst/>
                <a:latin typeface="+mn-ea"/>
                <a:cs typeface="江城圆体 400W" panose="020B0500000000000000" pitchFamily="34" charset="-122"/>
              </a:rPr>
              <a:t>月至</a:t>
            </a:r>
            <a:r>
              <a:rPr lang="en-US" altLang="zh-CN" sz="1600" b="1" kern="100" dirty="0">
                <a:solidFill>
                  <a:srgbClr val="FF0000"/>
                </a:solidFill>
                <a:effectLst/>
                <a:latin typeface="+mn-ea"/>
                <a:cs typeface="江城圆体 400W" panose="020B0500000000000000" pitchFamily="34" charset="-122"/>
              </a:rPr>
              <a:t>2010</a:t>
            </a:r>
            <a:r>
              <a:rPr lang="zh-CN" altLang="en-US" sz="1600" b="1" kern="100" dirty="0">
                <a:solidFill>
                  <a:srgbClr val="FF0000"/>
                </a:solidFill>
                <a:effectLst/>
                <a:latin typeface="+mn-ea"/>
                <a:cs typeface="江城圆体 400W" panose="020B0500000000000000" pitchFamily="34" charset="-122"/>
              </a:rPr>
              <a:t>年</a:t>
            </a:r>
            <a:r>
              <a:rPr lang="en-US" altLang="zh-CN" sz="1600" b="1" kern="100" dirty="0">
                <a:solidFill>
                  <a:srgbClr val="FF0000"/>
                </a:solidFill>
                <a:effectLst/>
                <a:latin typeface="+mn-ea"/>
                <a:cs typeface="江城圆体 400W" panose="020B0500000000000000" pitchFamily="34" charset="-122"/>
              </a:rPr>
              <a:t>10</a:t>
            </a:r>
            <a:r>
              <a:rPr lang="zh-CN" altLang="en-US" sz="1600" b="1" kern="100" dirty="0">
                <a:solidFill>
                  <a:srgbClr val="FF0000"/>
                </a:solidFill>
                <a:effectLst/>
                <a:latin typeface="+mn-ea"/>
                <a:cs typeface="江城圆体 400W" panose="020B0500000000000000" pitchFamily="34" charset="-122"/>
              </a:rPr>
              <a:t>月的社会保险，共</a:t>
            </a:r>
            <a:r>
              <a:rPr lang="en-US" altLang="zh-CN" sz="1600" b="1" kern="100" dirty="0">
                <a:solidFill>
                  <a:srgbClr val="FF0000"/>
                </a:solidFill>
                <a:effectLst/>
                <a:latin typeface="+mn-ea"/>
                <a:cs typeface="江城圆体 400W" panose="020B0500000000000000" pitchFamily="34" charset="-122"/>
              </a:rPr>
              <a:t>22</a:t>
            </a:r>
            <a:r>
              <a:rPr lang="zh-CN" altLang="en-US" sz="1600" b="1" kern="100" dirty="0">
                <a:solidFill>
                  <a:srgbClr val="FF0000"/>
                </a:solidFill>
                <a:effectLst/>
                <a:latin typeface="+mn-ea"/>
                <a:cs typeface="江城圆体 400W" panose="020B0500000000000000" pitchFamily="34" charset="-122"/>
              </a:rPr>
              <a:t>个月的社保</a:t>
            </a:r>
            <a:r>
              <a:rPr lang="en-US" altLang="zh-CN" sz="1600" kern="100" dirty="0">
                <a:effectLst/>
                <a:latin typeface="+mn-ea"/>
                <a:cs typeface="江城圆体 400W" panose="020B0500000000000000" pitchFamily="34" charset="-122"/>
              </a:rPr>
              <a:t>”</a:t>
            </a:r>
            <a:r>
              <a:rPr lang="zh-CN" altLang="en-US" sz="1600" kern="100" dirty="0">
                <a:effectLst/>
                <a:latin typeface="+mn-ea"/>
                <a:cs typeface="江城圆体 400W" panose="020B0500000000000000" pitchFamily="34" charset="-122"/>
              </a:rPr>
              <a:t>。</a:t>
            </a:r>
            <a:endParaRPr lang="en-US" altLang="zh-CN" sz="1600" kern="100" dirty="0">
              <a:effectLst/>
              <a:latin typeface="+mn-ea"/>
              <a:cs typeface="江城圆体 400W" panose="020B0500000000000000" pitchFamily="34" charset="-122"/>
            </a:endParaRPr>
          </a:p>
          <a:p>
            <a:pPr algn="l">
              <a:lnSpc>
                <a:spcPct val="140000"/>
              </a:lnSpc>
            </a:pPr>
            <a:endParaRPr lang="zh-CN" altLang="en-US" sz="1600" kern="100" dirty="0">
              <a:effectLst/>
              <a:latin typeface="+mn-ea"/>
              <a:cs typeface="江城圆体 400W" panose="020B0500000000000000" pitchFamily="34" charset="-122"/>
            </a:endParaRPr>
          </a:p>
        </p:txBody>
      </p:sp>
      <p:sp>
        <p:nvSpPr>
          <p:cNvPr id="4" name="文本框 3"/>
          <p:cNvSpPr txBox="1"/>
          <p:nvPr/>
        </p:nvSpPr>
        <p:spPr>
          <a:xfrm>
            <a:off x="695960" y="4400550"/>
            <a:ext cx="10495280" cy="779780"/>
          </a:xfrm>
          <a:prstGeom prst="rect">
            <a:avLst/>
          </a:prstGeom>
          <a:noFill/>
        </p:spPr>
        <p:txBody>
          <a:bodyPr wrap="square" rtlCol="0" anchor="t">
            <a:spAutoFit/>
          </a:bodyPr>
          <a:p>
            <a:pPr algn="l">
              <a:lnSpc>
                <a:spcPct val="140000"/>
              </a:lnSpc>
            </a:pPr>
            <a:r>
              <a:rPr lang="zh-CN" altLang="en-US" sz="1600" kern="100" dirty="0">
                <a:effectLst/>
                <a:latin typeface="+mn-ea"/>
                <a:cs typeface="江城圆体 400W" panose="020B0500000000000000" pitchFamily="34" charset="-122"/>
                <a:sym typeface="+mn-ea"/>
              </a:rPr>
              <a:t>经审核，国家税务总局肇庆市高要区税务局小湘税务分局作出《社会费事项告知书》（某事告【</a:t>
            </a:r>
            <a:r>
              <a:rPr lang="en-US" altLang="zh-CN" sz="1600" kern="100" dirty="0">
                <a:effectLst/>
                <a:latin typeface="+mn-ea"/>
                <a:cs typeface="江城圆体 400W" panose="020B0500000000000000" pitchFamily="34" charset="-122"/>
                <a:sym typeface="+mn-ea"/>
              </a:rPr>
              <a:t>2014</a:t>
            </a:r>
            <a:r>
              <a:rPr lang="zh-CN" altLang="en-US" sz="1600" kern="100" dirty="0">
                <a:effectLst/>
                <a:latin typeface="+mn-ea"/>
                <a:cs typeface="江城圆体 400W" panose="020B0500000000000000" pitchFamily="34" charset="-122"/>
                <a:sym typeface="+mn-ea"/>
              </a:rPr>
              <a:t>】</a:t>
            </a:r>
            <a:r>
              <a:rPr lang="en-US" altLang="zh-CN" sz="1600" kern="100" dirty="0">
                <a:effectLst/>
                <a:latin typeface="+mn-ea"/>
                <a:cs typeface="江城圆体 400W" panose="020B0500000000000000" pitchFamily="34" charset="-122"/>
                <a:sym typeface="+mn-ea"/>
              </a:rPr>
              <a:t>14</a:t>
            </a:r>
            <a:r>
              <a:rPr lang="zh-CN" altLang="en-US" sz="1600" kern="100" dirty="0">
                <a:effectLst/>
                <a:latin typeface="+mn-ea"/>
                <a:cs typeface="江城圆体 400W" panose="020B0500000000000000" pitchFamily="34" charset="-122"/>
                <a:sym typeface="+mn-ea"/>
              </a:rPr>
              <a:t>号），告知某公司：应于</a:t>
            </a:r>
            <a:r>
              <a:rPr lang="en-US" altLang="zh-CN" sz="1600" kern="100" dirty="0">
                <a:effectLst/>
                <a:latin typeface="+mn-ea"/>
                <a:cs typeface="江城圆体 400W" panose="020B0500000000000000" pitchFamily="34" charset="-122"/>
                <a:sym typeface="+mn-ea"/>
              </a:rPr>
              <a:t>2025</a:t>
            </a:r>
            <a:r>
              <a:rPr lang="zh-CN" altLang="en-US" sz="1600" kern="100" dirty="0">
                <a:effectLst/>
                <a:latin typeface="+mn-ea"/>
                <a:cs typeface="江城圆体 400W" panose="020B0500000000000000" pitchFamily="34" charset="-122"/>
                <a:sym typeface="+mn-ea"/>
              </a:rPr>
              <a:t>年</a:t>
            </a:r>
            <a:r>
              <a:rPr lang="en-US" altLang="zh-CN" sz="1600" kern="100" dirty="0">
                <a:effectLst/>
                <a:latin typeface="+mn-ea"/>
                <a:cs typeface="江城圆体 400W" panose="020B0500000000000000" pitchFamily="34" charset="-122"/>
                <a:sym typeface="+mn-ea"/>
              </a:rPr>
              <a:t>2</a:t>
            </a:r>
            <a:r>
              <a:rPr lang="zh-CN" altLang="en-US" sz="1600" kern="100" dirty="0">
                <a:effectLst/>
                <a:latin typeface="+mn-ea"/>
                <a:cs typeface="江城圆体 400W" panose="020B0500000000000000" pitchFamily="34" charset="-122"/>
                <a:sym typeface="+mn-ea"/>
              </a:rPr>
              <a:t>月</a:t>
            </a:r>
            <a:r>
              <a:rPr lang="en-US" altLang="zh-CN" sz="1600" kern="100" dirty="0">
                <a:effectLst/>
                <a:latin typeface="+mn-ea"/>
                <a:cs typeface="江城圆体 400W" panose="020B0500000000000000" pitchFamily="34" charset="-122"/>
                <a:sym typeface="+mn-ea"/>
              </a:rPr>
              <a:t>25</a:t>
            </a:r>
            <a:r>
              <a:rPr lang="zh-CN" altLang="en-US" sz="1600" kern="100" dirty="0">
                <a:effectLst/>
                <a:latin typeface="+mn-ea"/>
                <a:cs typeface="江城圆体 400W" panose="020B0500000000000000" pitchFamily="34" charset="-122"/>
                <a:sym typeface="+mn-ea"/>
              </a:rPr>
              <a:t>日前为</a:t>
            </a:r>
            <a:r>
              <a:rPr lang="en-US" altLang="zh-CN" sz="1600" kern="100" dirty="0">
                <a:effectLst/>
                <a:latin typeface="+mn-ea"/>
                <a:cs typeface="江城圆体 400W" panose="020B0500000000000000" pitchFamily="34" charset="-122"/>
                <a:sym typeface="+mn-ea"/>
              </a:rPr>
              <a:t>L</a:t>
            </a:r>
            <a:r>
              <a:rPr lang="zh-CN" altLang="en-US" sz="1600" kern="100" dirty="0">
                <a:effectLst/>
                <a:latin typeface="+mn-ea"/>
                <a:cs typeface="江城圆体 400W" panose="020B0500000000000000" pitchFamily="34" charset="-122"/>
                <a:sym typeface="+mn-ea"/>
              </a:rPr>
              <a:t>某补缴</a:t>
            </a:r>
            <a:r>
              <a:rPr lang="en-US" altLang="zh-CN" sz="1600" kern="100" dirty="0">
                <a:effectLst/>
                <a:latin typeface="+mn-ea"/>
                <a:cs typeface="江城圆体 400W" panose="020B0500000000000000" pitchFamily="34" charset="-122"/>
                <a:sym typeface="+mn-ea"/>
              </a:rPr>
              <a:t>2009</a:t>
            </a:r>
            <a:r>
              <a:rPr lang="zh-CN" altLang="en-US" sz="1600" kern="100" dirty="0">
                <a:effectLst/>
                <a:latin typeface="+mn-ea"/>
                <a:cs typeface="江城圆体 400W" panose="020B0500000000000000" pitchFamily="34" charset="-122"/>
                <a:sym typeface="+mn-ea"/>
              </a:rPr>
              <a:t>年</a:t>
            </a:r>
            <a:r>
              <a:rPr lang="en-US" altLang="zh-CN" sz="1600" kern="100" dirty="0">
                <a:effectLst/>
                <a:latin typeface="+mn-ea"/>
                <a:cs typeface="江城圆体 400W" panose="020B0500000000000000" pitchFamily="34" charset="-122"/>
                <a:sym typeface="+mn-ea"/>
              </a:rPr>
              <a:t>1</a:t>
            </a:r>
            <a:r>
              <a:rPr lang="zh-CN" altLang="en-US" sz="1600" kern="100" dirty="0">
                <a:effectLst/>
                <a:latin typeface="+mn-ea"/>
                <a:cs typeface="江城圆体 400W" panose="020B0500000000000000" pitchFamily="34" charset="-122"/>
                <a:sym typeface="+mn-ea"/>
              </a:rPr>
              <a:t>月至</a:t>
            </a:r>
            <a:r>
              <a:rPr lang="en-US" altLang="zh-CN" sz="1600" kern="100" dirty="0">
                <a:effectLst/>
                <a:latin typeface="+mn-ea"/>
                <a:cs typeface="江城圆体 400W" panose="020B0500000000000000" pitchFamily="34" charset="-122"/>
                <a:sym typeface="+mn-ea"/>
              </a:rPr>
              <a:t>2010</a:t>
            </a:r>
            <a:r>
              <a:rPr lang="zh-CN" altLang="en-US" sz="1600" kern="100" dirty="0">
                <a:effectLst/>
                <a:latin typeface="+mn-ea"/>
                <a:cs typeface="江城圆体 400W" panose="020B0500000000000000" pitchFamily="34" charset="-122"/>
                <a:sym typeface="+mn-ea"/>
              </a:rPr>
              <a:t>年</a:t>
            </a:r>
            <a:r>
              <a:rPr lang="en-US" altLang="zh-CN" sz="1600" kern="100" dirty="0">
                <a:effectLst/>
                <a:latin typeface="+mn-ea"/>
                <a:cs typeface="江城圆体 400W" panose="020B0500000000000000" pitchFamily="34" charset="-122"/>
                <a:sym typeface="+mn-ea"/>
              </a:rPr>
              <a:t>10</a:t>
            </a:r>
            <a:r>
              <a:rPr lang="zh-CN" altLang="en-US" sz="1600" kern="100" dirty="0">
                <a:effectLst/>
                <a:latin typeface="+mn-ea"/>
                <a:cs typeface="江城圆体 400W" panose="020B0500000000000000" pitchFamily="34" charset="-122"/>
                <a:sym typeface="+mn-ea"/>
              </a:rPr>
              <a:t>月期间补缴的金额和滞纳金合计</a:t>
            </a:r>
            <a:r>
              <a:rPr lang="en-US" altLang="zh-CN" sz="1600" kern="100" dirty="0">
                <a:effectLst/>
                <a:latin typeface="+mn-ea"/>
                <a:cs typeface="江城圆体 400W" panose="020B0500000000000000" pitchFamily="34" charset="-122"/>
                <a:sym typeface="+mn-ea"/>
              </a:rPr>
              <a:t>17991.92</a:t>
            </a:r>
            <a:r>
              <a:rPr lang="zh-CN" altLang="en-US" sz="1600" kern="100" dirty="0">
                <a:effectLst/>
                <a:latin typeface="+mn-ea"/>
                <a:cs typeface="江城圆体 400W" panose="020B0500000000000000" pitchFamily="34" charset="-122"/>
                <a:sym typeface="+mn-ea"/>
              </a:rPr>
              <a:t>元。</a:t>
            </a:r>
            <a:endParaRPr lang="zh-CN" altLang="en-US" sz="1600" kern="100" dirty="0">
              <a:effectLst/>
              <a:latin typeface="+mn-ea"/>
              <a:cs typeface="江城圆体 400W" panose="020B0500000000000000" pitchFamily="34"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案例一：社保补缴</a:t>
            </a:r>
            <a:endParaRPr lang="zh-CN" altLang="en-US"/>
          </a:p>
        </p:txBody>
      </p:sp>
      <p:sp>
        <p:nvSpPr>
          <p:cNvPr id="3" name="文本框 2"/>
          <p:cNvSpPr txBox="1"/>
          <p:nvPr/>
        </p:nvSpPr>
        <p:spPr>
          <a:xfrm>
            <a:off x="695960" y="1302385"/>
            <a:ext cx="10800080" cy="3720465"/>
          </a:xfrm>
          <a:prstGeom prst="rect">
            <a:avLst/>
          </a:prstGeom>
          <a:noFill/>
        </p:spPr>
        <p:txBody>
          <a:bodyPr wrap="square" rtlCol="0" anchor="t">
            <a:noAutofit/>
          </a:bodyPr>
          <a:p>
            <a:pPr algn="l">
              <a:lnSpc>
                <a:spcPct val="140000"/>
              </a:lnSpc>
            </a:pPr>
            <a:r>
              <a:rPr lang="zh-CN" altLang="en-US" sz="1600" kern="100" dirty="0">
                <a:effectLst/>
                <a:latin typeface="+mn-ea"/>
                <a:cs typeface="江城圆体 400W" panose="020B0500000000000000" pitchFamily="34" charset="-122"/>
              </a:rPr>
              <a:t>一审判决：</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一、被告</a:t>
            </a:r>
            <a:r>
              <a:rPr lang="en-US" altLang="zh-CN" sz="1600" kern="100" dirty="0">
                <a:effectLst/>
                <a:latin typeface="+mn-ea"/>
                <a:cs typeface="江城圆体 400W" panose="020B0500000000000000" pitchFamily="34" charset="-122"/>
              </a:rPr>
              <a:t>L</a:t>
            </a:r>
            <a:r>
              <a:rPr lang="zh-CN" altLang="en-US" sz="1600" kern="100" dirty="0">
                <a:effectLst/>
                <a:latin typeface="+mn-ea"/>
                <a:cs typeface="江城圆体 400W" panose="020B0500000000000000" pitchFamily="34" charset="-122"/>
              </a:rPr>
              <a:t>某于本判决发生法律效力之日起十日内向原告某公司返还补缴社会保险的滞纳金</a:t>
            </a:r>
            <a:r>
              <a:rPr lang="en-US" altLang="zh-CN" sz="1600" kern="100" dirty="0">
                <a:effectLst/>
                <a:latin typeface="+mn-ea"/>
                <a:cs typeface="江城圆体 400W" panose="020B0500000000000000" pitchFamily="34" charset="-122"/>
              </a:rPr>
              <a:t>5397.58</a:t>
            </a:r>
            <a:r>
              <a:rPr lang="zh-CN" altLang="en-US" sz="1600" kern="100" dirty="0">
                <a:effectLst/>
                <a:latin typeface="+mn-ea"/>
                <a:cs typeface="江城圆体 400W" panose="020B0500000000000000" pitchFamily="34" charset="-122"/>
              </a:rPr>
              <a:t>元。</a:t>
            </a: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二、驳回原告某公司的其他诉讼请求。</a:t>
            </a:r>
            <a:endParaRPr lang="en-US" altLang="zh-CN"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一审判决理由</a:t>
            </a:r>
            <a:r>
              <a:rPr lang="en-US" altLang="zh-CN" sz="1600" kern="100" dirty="0">
                <a:effectLst/>
                <a:latin typeface="+mn-ea"/>
                <a:cs typeface="江城圆体 400W" panose="020B0500000000000000" pitchFamily="34" charset="-122"/>
              </a:rPr>
              <a:t>:</a:t>
            </a:r>
            <a:endParaRPr lang="en-US" altLang="zh-CN"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本院认为：本案为社会保险纠纷。结合双方当事人的诉辩意见，本案争议的焦点为：</a:t>
            </a:r>
            <a:endParaRPr lang="en-US" altLang="zh-CN"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关于放弃缴纳社保的问题，案中原、被告之间存在劳动关系，依照《中华人民共和国社会保险法》、《中华人民共和国劳动法》的相关规定，</a:t>
            </a:r>
            <a:r>
              <a:rPr lang="zh-CN" altLang="en-US" sz="1600" b="1" kern="100" dirty="0">
                <a:solidFill>
                  <a:srgbClr val="FF0000"/>
                </a:solidFill>
                <a:effectLst/>
                <a:latin typeface="+mn-ea"/>
                <a:cs typeface="江城圆体 400W" panose="020B0500000000000000" pitchFamily="34" charset="-122"/>
              </a:rPr>
              <a:t>参加社会保险、缴纳社会保险费用对于用人单位和劳动者来说都是法定的义务和责任，并不因用人单位和劳动者之间的合意而被免除，双方无权对是否建立社会保险关系以及如何缴纳社保费予以协商变更，《申请书》违反了法律的强制性规定，根据《中华人民共和国劳动合同法》第二十六条的规定，属无效合同。</a:t>
            </a:r>
            <a:endParaRPr lang="zh-CN" altLang="en-US" sz="1600" b="1" kern="100" dirty="0">
              <a:solidFill>
                <a:srgbClr val="FF0000"/>
              </a:solidFill>
              <a:effectLst/>
              <a:latin typeface="+mn-ea"/>
              <a:cs typeface="江城圆体 400W" panose="020B0500000000000000" pitchFamily="34" charset="-122"/>
            </a:endParaRPr>
          </a:p>
          <a:p>
            <a:pPr algn="l">
              <a:lnSpc>
                <a:spcPct val="140000"/>
              </a:lnSpc>
            </a:pPr>
            <a:endParaRPr lang="zh-CN" altLang="en-US" sz="1600" kern="100" dirty="0">
              <a:effectLst/>
              <a:latin typeface="+mn-ea"/>
              <a:cs typeface="江城圆体 400W" panose="020B0500000000000000" pitchFamily="34" charset="-122"/>
            </a:endParaRPr>
          </a:p>
          <a:p>
            <a:pPr algn="l">
              <a:lnSpc>
                <a:spcPct val="140000"/>
              </a:lnSpc>
            </a:pPr>
            <a:r>
              <a:rPr lang="zh-CN" altLang="en-US" sz="1600" kern="100" dirty="0">
                <a:effectLst/>
                <a:latin typeface="+mn-ea"/>
                <a:cs typeface="江城圆体 400W" panose="020B0500000000000000" pitchFamily="34" charset="-122"/>
              </a:rPr>
              <a:t>关于补缴社保的责任问题，原告没有及时依法为被告参加社会保险及缴纳社会保险费，导致后来补缴而产生滞纳金及利息，公司对未依法缴纳社保存在一定过错；而被告作为完全民事行为能力人，</a:t>
            </a:r>
            <a:r>
              <a:rPr lang="zh-CN" altLang="en-US" sz="1600" b="1" kern="100" dirty="0">
                <a:solidFill>
                  <a:srgbClr val="FF0000"/>
                </a:solidFill>
                <a:effectLst/>
                <a:latin typeface="+mn-ea"/>
                <a:cs typeface="江城圆体 400W" panose="020B0500000000000000" pitchFamily="34" charset="-122"/>
              </a:rPr>
              <a:t>其自愿签订了《申请书》和《告知书》，是对上述情况表示明知和同意，因此，其应遵从诚实信用原则，承担相应的法律后果。据此，原、被告双方对此均存在过错。根据双方的过错程度，综合本案实际情况，本院酌定劳动者与用人单位对上述滞纳金分别负担</a:t>
            </a:r>
            <a:r>
              <a:rPr lang="en-US" altLang="zh-CN" sz="1600" b="1" kern="100" dirty="0">
                <a:solidFill>
                  <a:srgbClr val="FF0000"/>
                </a:solidFill>
                <a:effectLst/>
                <a:latin typeface="+mn-ea"/>
                <a:cs typeface="江城圆体 400W" panose="020B0500000000000000" pitchFamily="34" charset="-122"/>
              </a:rPr>
              <a:t>60%</a:t>
            </a:r>
            <a:r>
              <a:rPr lang="zh-CN" altLang="en-US" sz="1600" b="1" kern="100" dirty="0">
                <a:solidFill>
                  <a:srgbClr val="FF0000"/>
                </a:solidFill>
                <a:effectLst/>
                <a:latin typeface="+mn-ea"/>
                <a:cs typeface="江城圆体 400W" panose="020B0500000000000000" pitchFamily="34" charset="-122"/>
              </a:rPr>
              <a:t>和</a:t>
            </a:r>
            <a:r>
              <a:rPr lang="en-US" altLang="zh-CN" sz="1600" b="1" kern="100" dirty="0">
                <a:solidFill>
                  <a:srgbClr val="FF0000"/>
                </a:solidFill>
                <a:effectLst/>
                <a:latin typeface="+mn-ea"/>
                <a:cs typeface="江城圆体 400W" panose="020B0500000000000000" pitchFamily="34" charset="-122"/>
              </a:rPr>
              <a:t>40%</a:t>
            </a:r>
            <a:r>
              <a:rPr lang="zh-CN" altLang="en-US" sz="1600" b="1" kern="100" dirty="0">
                <a:solidFill>
                  <a:srgbClr val="FF0000"/>
                </a:solidFill>
                <a:effectLst/>
                <a:latin typeface="+mn-ea"/>
                <a:cs typeface="江城圆体 400W" panose="020B0500000000000000" pitchFamily="34" charset="-122"/>
              </a:rPr>
              <a:t>，即被告应返还原告滞纳金</a:t>
            </a:r>
            <a:r>
              <a:rPr lang="en-US" altLang="zh-CN" sz="1600" b="1" kern="100" dirty="0">
                <a:solidFill>
                  <a:srgbClr val="FF0000"/>
                </a:solidFill>
                <a:effectLst/>
                <a:latin typeface="+mn-ea"/>
                <a:cs typeface="江城圆体 400W" panose="020B0500000000000000" pitchFamily="34" charset="-122"/>
              </a:rPr>
              <a:t>5397.58</a:t>
            </a:r>
            <a:r>
              <a:rPr lang="zh-CN" altLang="en-US" sz="1600" b="1" kern="100" dirty="0">
                <a:solidFill>
                  <a:srgbClr val="FF0000"/>
                </a:solidFill>
                <a:effectLst/>
                <a:latin typeface="+mn-ea"/>
                <a:cs typeface="江城圆体 400W" panose="020B0500000000000000" pitchFamily="34" charset="-122"/>
              </a:rPr>
              <a:t>元（</a:t>
            </a:r>
            <a:r>
              <a:rPr lang="en-US" altLang="zh-CN" sz="1600" b="1" kern="100" dirty="0">
                <a:solidFill>
                  <a:srgbClr val="FF0000"/>
                </a:solidFill>
                <a:effectLst/>
                <a:latin typeface="+mn-ea"/>
                <a:cs typeface="江城圆体 400W" panose="020B0500000000000000" pitchFamily="34" charset="-122"/>
              </a:rPr>
              <a:t>8995.96</a:t>
            </a:r>
            <a:r>
              <a:rPr lang="zh-CN" altLang="en-US" sz="1600" b="1" kern="100" dirty="0">
                <a:solidFill>
                  <a:srgbClr val="FF0000"/>
                </a:solidFill>
                <a:effectLst/>
                <a:latin typeface="+mn-ea"/>
                <a:cs typeface="江城圆体 400W" panose="020B0500000000000000" pitchFamily="34" charset="-122"/>
              </a:rPr>
              <a:t>元</a:t>
            </a:r>
            <a:r>
              <a:rPr lang="en-US" altLang="en-US" sz="1600" b="1" kern="100" dirty="0">
                <a:solidFill>
                  <a:srgbClr val="FF0000"/>
                </a:solidFill>
                <a:effectLst/>
                <a:latin typeface="+mn-ea"/>
                <a:cs typeface="江城圆体 400W" panose="020B0500000000000000" pitchFamily="34" charset="-122"/>
              </a:rPr>
              <a:t>ⅹ</a:t>
            </a:r>
            <a:r>
              <a:rPr lang="en-US" altLang="zh-CN" sz="1600" b="1" kern="100" dirty="0">
                <a:solidFill>
                  <a:srgbClr val="FF0000"/>
                </a:solidFill>
                <a:effectLst/>
                <a:latin typeface="+mn-ea"/>
                <a:cs typeface="江城圆体 400W" panose="020B0500000000000000" pitchFamily="34" charset="-122"/>
              </a:rPr>
              <a:t>60%=5397.58</a:t>
            </a:r>
            <a:r>
              <a:rPr lang="zh-CN" altLang="en-US" sz="1600" b="1" kern="100" dirty="0">
                <a:solidFill>
                  <a:srgbClr val="FF0000"/>
                </a:solidFill>
                <a:effectLst/>
                <a:latin typeface="+mn-ea"/>
                <a:cs typeface="江城圆体 400W" panose="020B0500000000000000" pitchFamily="34" charset="-122"/>
              </a:rPr>
              <a:t>元），某公司则依法应为被告补缴社保费用及滞纳金。</a:t>
            </a:r>
            <a:endParaRPr lang="zh-CN" altLang="en-US" sz="1600" b="1" kern="100" dirty="0">
              <a:solidFill>
                <a:srgbClr val="FF0000"/>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案例一：社保补缴</a:t>
            </a:r>
            <a:endParaRPr lang="zh-CN" altLang="en-US"/>
          </a:p>
        </p:txBody>
      </p:sp>
      <p:sp>
        <p:nvSpPr>
          <p:cNvPr id="3" name="文本框 2"/>
          <p:cNvSpPr txBox="1"/>
          <p:nvPr/>
        </p:nvSpPr>
        <p:spPr>
          <a:xfrm>
            <a:off x="1370330" y="2045335"/>
            <a:ext cx="9607550" cy="3969385"/>
          </a:xfrm>
          <a:prstGeom prst="rect">
            <a:avLst/>
          </a:prstGeom>
          <a:noFill/>
        </p:spPr>
        <p:txBody>
          <a:bodyPr wrap="square" rtlCol="0" anchor="t">
            <a:spAutoFit/>
          </a:bodyPr>
          <a:p>
            <a:pPr algn="l">
              <a:lnSpc>
                <a:spcPct val="140000"/>
              </a:lnSpc>
            </a:pPr>
            <a:r>
              <a:rPr lang="en-US" altLang="zh-CN" sz="2000" kern="100" dirty="0">
                <a:effectLst/>
                <a:latin typeface="+mn-ea"/>
                <a:cs typeface="江城圆体 400W" panose="020B0500000000000000" pitchFamily="34" charset="-122"/>
              </a:rPr>
              <a:t>2025</a:t>
            </a:r>
            <a:r>
              <a:rPr lang="zh-CN" altLang="en-US" sz="2000" kern="100" dirty="0">
                <a:effectLst/>
                <a:latin typeface="+mn-ea"/>
                <a:cs typeface="江城圆体 400W" panose="020B0500000000000000" pitchFamily="34" charset="-122"/>
              </a:rPr>
              <a:t>年</a:t>
            </a:r>
            <a:r>
              <a:rPr lang="en-US" altLang="zh-CN" sz="2000" kern="100" dirty="0">
                <a:effectLst/>
                <a:latin typeface="+mn-ea"/>
                <a:cs typeface="江城圆体 400W" panose="020B0500000000000000" pitchFamily="34" charset="-122"/>
              </a:rPr>
              <a:t>9</a:t>
            </a:r>
            <a:r>
              <a:rPr lang="zh-CN" altLang="en-US" sz="2000" kern="100" dirty="0">
                <a:effectLst/>
                <a:latin typeface="+mn-ea"/>
                <a:cs typeface="江城圆体 400W" panose="020B0500000000000000" pitchFamily="34" charset="-122"/>
              </a:rPr>
              <a:t>月</a:t>
            </a:r>
            <a:r>
              <a:rPr lang="en-US" altLang="zh-CN" sz="2000" kern="100" dirty="0">
                <a:effectLst/>
                <a:latin typeface="+mn-ea"/>
                <a:cs typeface="江城圆体 400W" panose="020B0500000000000000" pitchFamily="34" charset="-122"/>
              </a:rPr>
              <a:t>1</a:t>
            </a:r>
            <a:r>
              <a:rPr lang="zh-CN" altLang="en-US" sz="2000" kern="100" dirty="0">
                <a:effectLst/>
                <a:latin typeface="+mn-ea"/>
                <a:cs typeface="江城圆体 400W" panose="020B0500000000000000" pitchFamily="34" charset="-122"/>
              </a:rPr>
              <a:t>日起施行的《最高人民法院关于审理劳动争议案件适用法律问题的解释（二）》</a:t>
            </a:r>
            <a:endParaRPr lang="zh-CN" altLang="en-US" sz="2000" kern="100" dirty="0">
              <a:effectLst/>
              <a:latin typeface="+mn-ea"/>
              <a:cs typeface="江城圆体 400W" panose="020B0500000000000000" pitchFamily="34" charset="-122"/>
            </a:endParaRPr>
          </a:p>
          <a:p>
            <a:pPr algn="l">
              <a:lnSpc>
                <a:spcPct val="140000"/>
              </a:lnSpc>
            </a:pPr>
            <a:endParaRPr lang="zh-CN" altLang="en-US" sz="2000" kern="100" dirty="0">
              <a:effectLst/>
              <a:latin typeface="+mn-ea"/>
              <a:cs typeface="江城圆体 400W" panose="020B0500000000000000" pitchFamily="34" charset="-122"/>
            </a:endParaRPr>
          </a:p>
          <a:p>
            <a:pPr algn="l">
              <a:lnSpc>
                <a:spcPct val="140000"/>
              </a:lnSpc>
            </a:pPr>
            <a:r>
              <a:rPr lang="zh-CN" altLang="en-US" sz="2000" kern="100" dirty="0">
                <a:effectLst/>
                <a:latin typeface="+mn-ea"/>
                <a:cs typeface="江城圆体 400W" panose="020B0500000000000000" pitchFamily="34" charset="-122"/>
              </a:rPr>
              <a:t>第十九条　用人单位与劳动者约定或者劳动者向用人单位承诺无需缴纳社会保险费的，</a:t>
            </a:r>
            <a:r>
              <a:rPr lang="zh-CN" altLang="en-US" sz="2000" b="1" kern="100" dirty="0">
                <a:solidFill>
                  <a:srgbClr val="FF0000"/>
                </a:solidFill>
                <a:effectLst/>
                <a:latin typeface="+mn-ea"/>
                <a:cs typeface="江城圆体 400W" panose="020B0500000000000000" pitchFamily="34" charset="-122"/>
              </a:rPr>
              <a:t>人民法院应当认定该约定或者承诺无效。</a:t>
            </a:r>
            <a:r>
              <a:rPr lang="zh-CN" altLang="en-US" sz="2000" kern="100" dirty="0">
                <a:effectLst/>
                <a:latin typeface="+mn-ea"/>
                <a:cs typeface="江城圆体 400W" panose="020B0500000000000000" pitchFamily="34" charset="-122"/>
              </a:rPr>
              <a:t>用人单位未依法缴纳社会保险费，劳动者根据劳动合同法第三十八条第一款第三项规定请求解除劳动合同、由用人单位支付经济补偿的，人民法院依法予以支持。</a:t>
            </a:r>
            <a:endParaRPr lang="en-US" altLang="zh-CN" sz="2000" kern="100" dirty="0">
              <a:effectLst/>
              <a:latin typeface="+mn-ea"/>
              <a:cs typeface="江城圆体 400W" panose="020B0500000000000000" pitchFamily="34" charset="-122"/>
            </a:endParaRPr>
          </a:p>
          <a:p>
            <a:pPr algn="l">
              <a:lnSpc>
                <a:spcPct val="140000"/>
              </a:lnSpc>
            </a:pPr>
            <a:r>
              <a:rPr lang="zh-CN" altLang="en-US" sz="2000" b="1" kern="100" dirty="0">
                <a:solidFill>
                  <a:srgbClr val="FF0000"/>
                </a:solidFill>
                <a:effectLst/>
                <a:latin typeface="+mn-ea"/>
                <a:cs typeface="江城圆体 400W" panose="020B0500000000000000" pitchFamily="34" charset="-122"/>
              </a:rPr>
              <a:t>有前款规定情形，用人单位依法补缴社会保险费后，请求劳动者返还已支付的社会保险费补偿的，人民法院依法予以支持。</a:t>
            </a:r>
            <a:endParaRPr lang="zh-CN" altLang="en-US" sz="2000" b="1" kern="100" dirty="0">
              <a:solidFill>
                <a:srgbClr val="FF0000"/>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案例二：迟到是否算工伤？</a:t>
            </a:r>
            <a:endParaRPr lang="zh-CN" altLang="en-US"/>
          </a:p>
        </p:txBody>
      </p:sp>
      <p:sp>
        <p:nvSpPr>
          <p:cNvPr id="3" name="文本框 2"/>
          <p:cNvSpPr txBox="1"/>
          <p:nvPr/>
        </p:nvSpPr>
        <p:spPr>
          <a:xfrm>
            <a:off x="1370330" y="1630680"/>
            <a:ext cx="9607550" cy="3878580"/>
          </a:xfrm>
          <a:prstGeom prst="rect">
            <a:avLst/>
          </a:prstGeom>
          <a:noFill/>
        </p:spPr>
        <p:txBody>
          <a:bodyPr wrap="square" rtlCol="0" anchor="t">
            <a:spAutoFit/>
          </a:bodyPr>
          <a:p>
            <a:pPr algn="l">
              <a:lnSpc>
                <a:spcPct val="140000"/>
              </a:lnSpc>
            </a:pPr>
            <a:r>
              <a:rPr lang="zh-CN" altLang="en-US" sz="1600" kern="100" dirty="0">
                <a:solidFill>
                  <a:schemeClr val="tx1"/>
                </a:solidFill>
                <a:effectLst/>
                <a:latin typeface="+mn-ea"/>
                <a:cs typeface="江城圆体 400W" panose="020B0500000000000000" pitchFamily="34" charset="-122"/>
                <a:sym typeface="+mn-ea"/>
              </a:rPr>
              <a:t>一、基本案情</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en-US" altLang="zh-CN" sz="1600" kern="100" dirty="0">
                <a:solidFill>
                  <a:schemeClr val="tx1"/>
                </a:solidFill>
                <a:effectLst/>
                <a:latin typeface="+mn-ea"/>
                <a:cs typeface="江城圆体 400W" panose="020B0500000000000000" pitchFamily="34" charset="-122"/>
              </a:rPr>
              <a:t>2022</a:t>
            </a:r>
            <a:r>
              <a:rPr lang="zh-CN" altLang="en-US" sz="1600" kern="100" dirty="0">
                <a:solidFill>
                  <a:schemeClr val="tx1"/>
                </a:solidFill>
                <a:effectLst/>
                <a:latin typeface="+mn-ea"/>
                <a:cs typeface="江城圆体 400W" panose="020B0500000000000000" pitchFamily="34" charset="-122"/>
              </a:rPr>
              <a:t>年</a:t>
            </a:r>
            <a:r>
              <a:rPr lang="en-US" altLang="zh-CN" sz="1600" kern="100" dirty="0">
                <a:solidFill>
                  <a:schemeClr val="tx1"/>
                </a:solidFill>
                <a:effectLst/>
                <a:latin typeface="+mn-ea"/>
                <a:cs typeface="江城圆体 400W" panose="020B0500000000000000" pitchFamily="34" charset="-122"/>
              </a:rPr>
              <a:t>11</a:t>
            </a:r>
            <a:r>
              <a:rPr lang="zh-CN" altLang="en-US" sz="1600" kern="100" dirty="0">
                <a:solidFill>
                  <a:schemeClr val="tx1"/>
                </a:solidFill>
                <a:effectLst/>
                <a:latin typeface="+mn-ea"/>
                <a:cs typeface="江城圆体 400W" panose="020B0500000000000000" pitchFamily="34" charset="-122"/>
              </a:rPr>
              <a:t>月，何某入职贵港市某合作社工作，</a:t>
            </a:r>
            <a:r>
              <a:rPr lang="zh-CN" altLang="en-US" sz="1600" b="1" kern="100" dirty="0">
                <a:solidFill>
                  <a:srgbClr val="FF0000"/>
                </a:solidFill>
                <a:effectLst/>
                <a:latin typeface="+mn-ea"/>
                <a:cs typeface="江城圆体 400W" panose="020B0500000000000000" pitchFamily="34" charset="-122"/>
              </a:rPr>
              <a:t>双方未签订劳动合同</a:t>
            </a:r>
            <a:r>
              <a:rPr lang="zh-CN" altLang="en-US" sz="1600" kern="100" dirty="0">
                <a:solidFill>
                  <a:schemeClr val="tx1"/>
                </a:solidFill>
                <a:effectLst/>
                <a:latin typeface="+mn-ea"/>
                <a:cs typeface="江城圆体 400W" panose="020B0500000000000000" pitchFamily="34" charset="-122"/>
              </a:rPr>
              <a:t>，口头约定实习期为</a:t>
            </a:r>
            <a:r>
              <a:rPr lang="en-US" altLang="zh-CN" sz="1600" kern="100" dirty="0">
                <a:solidFill>
                  <a:schemeClr val="tx1"/>
                </a:solidFill>
                <a:effectLst/>
                <a:latin typeface="+mn-ea"/>
                <a:cs typeface="江城圆体 400W" panose="020B0500000000000000" pitchFamily="34" charset="-122"/>
              </a:rPr>
              <a:t>1</a:t>
            </a:r>
            <a:r>
              <a:rPr lang="zh-CN" altLang="en-US" sz="1600" kern="100" dirty="0">
                <a:solidFill>
                  <a:schemeClr val="tx1"/>
                </a:solidFill>
                <a:effectLst/>
                <a:latin typeface="+mn-ea"/>
                <a:cs typeface="江城圆体 400W" panose="020B0500000000000000" pitchFamily="34" charset="-122"/>
              </a:rPr>
              <a:t>个月，每天上班时间为</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分至</a:t>
            </a:r>
            <a:r>
              <a:rPr lang="en-US" altLang="zh-CN" sz="1600" kern="100" dirty="0">
                <a:solidFill>
                  <a:schemeClr val="tx1"/>
                </a:solidFill>
                <a:effectLst/>
                <a:latin typeface="+mn-ea"/>
                <a:cs typeface="江城圆体 400W" panose="020B0500000000000000" pitchFamily="34" charset="-122"/>
              </a:rPr>
              <a:t>12</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14</a:t>
            </a:r>
            <a:r>
              <a:rPr lang="zh-CN" altLang="en-US" sz="1600" kern="100" dirty="0">
                <a:solidFill>
                  <a:schemeClr val="tx1"/>
                </a:solidFill>
                <a:effectLst/>
                <a:latin typeface="+mn-ea"/>
                <a:cs typeface="江城圆体 400W" panose="020B0500000000000000" pitchFamily="34" charset="-122"/>
              </a:rPr>
              <a:t>时至</a:t>
            </a:r>
            <a:r>
              <a:rPr lang="en-US" altLang="zh-CN" sz="1600" kern="100" dirty="0">
                <a:solidFill>
                  <a:schemeClr val="tx1"/>
                </a:solidFill>
                <a:effectLst/>
                <a:latin typeface="+mn-ea"/>
                <a:cs typeface="江城圆体 400W" panose="020B0500000000000000" pitchFamily="34" charset="-122"/>
              </a:rPr>
              <a:t>18</a:t>
            </a:r>
            <a:r>
              <a:rPr lang="zh-CN" altLang="en-US" sz="1600" kern="100" dirty="0">
                <a:solidFill>
                  <a:schemeClr val="tx1"/>
                </a:solidFill>
                <a:effectLst/>
                <a:latin typeface="+mn-ea"/>
                <a:cs typeface="江城圆体 400W" panose="020B0500000000000000" pitchFamily="34" charset="-122"/>
              </a:rPr>
              <a:t>时。工作期间，</a:t>
            </a:r>
            <a:r>
              <a:rPr lang="zh-CN" altLang="en-US" sz="1600" b="1" kern="100" dirty="0">
                <a:solidFill>
                  <a:srgbClr val="FF0000"/>
                </a:solidFill>
                <a:effectLst/>
                <a:latin typeface="+mn-ea"/>
                <a:cs typeface="江城圆体 400W" panose="020B0500000000000000" pitchFamily="34" charset="-122"/>
              </a:rPr>
              <a:t>合作社没有为何某缴纳工伤保险</a:t>
            </a:r>
            <a:r>
              <a:rPr lang="zh-CN" altLang="en-US" sz="1600" kern="100" dirty="0">
                <a:solidFill>
                  <a:schemeClr val="tx1"/>
                </a:solidFill>
                <a:effectLst/>
                <a:latin typeface="+mn-ea"/>
                <a:cs typeface="江城圆体 400W" panose="020B0500000000000000" pitchFamily="34" charset="-122"/>
              </a:rPr>
              <a:t>。</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endParaRPr lang="en-US" altLang="zh-CN" sz="1600" kern="100" dirty="0">
              <a:solidFill>
                <a:schemeClr val="tx1"/>
              </a:solidFill>
              <a:effectLst/>
              <a:latin typeface="+mn-ea"/>
              <a:cs typeface="江城圆体 400W" panose="020B0500000000000000" pitchFamily="34" charset="-122"/>
            </a:endParaRPr>
          </a:p>
          <a:p>
            <a:pPr algn="l">
              <a:lnSpc>
                <a:spcPct val="140000"/>
              </a:lnSpc>
            </a:pPr>
            <a:r>
              <a:rPr lang="en-US" altLang="zh-CN" sz="1600" kern="100" dirty="0">
                <a:solidFill>
                  <a:schemeClr val="tx1"/>
                </a:solidFill>
                <a:effectLst/>
                <a:latin typeface="+mn-ea"/>
                <a:cs typeface="江城圆体 400W" panose="020B0500000000000000" pitchFamily="34" charset="-122"/>
              </a:rPr>
              <a:t>2022</a:t>
            </a:r>
            <a:r>
              <a:rPr lang="zh-CN" altLang="en-US" sz="1600" kern="100" dirty="0">
                <a:solidFill>
                  <a:schemeClr val="tx1"/>
                </a:solidFill>
                <a:effectLst/>
                <a:latin typeface="+mn-ea"/>
                <a:cs typeface="江城圆体 400W" panose="020B0500000000000000" pitchFamily="34" charset="-122"/>
              </a:rPr>
              <a:t>年</a:t>
            </a:r>
            <a:r>
              <a:rPr lang="en-US" altLang="zh-CN" sz="1600" kern="100" dirty="0">
                <a:solidFill>
                  <a:schemeClr val="tx1"/>
                </a:solidFill>
                <a:effectLst/>
                <a:latin typeface="+mn-ea"/>
                <a:cs typeface="江城圆体 400W" panose="020B0500000000000000" pitchFamily="34" charset="-122"/>
              </a:rPr>
              <a:t>12</a:t>
            </a:r>
            <a:r>
              <a:rPr lang="zh-CN" altLang="en-US" sz="1600" kern="100" dirty="0">
                <a:solidFill>
                  <a:schemeClr val="tx1"/>
                </a:solidFill>
                <a:effectLst/>
                <a:latin typeface="+mn-ea"/>
                <a:cs typeface="江城圆体 400W" panose="020B0500000000000000" pitchFamily="34" charset="-122"/>
              </a:rPr>
              <a:t>月</a:t>
            </a:r>
            <a:r>
              <a:rPr lang="en-US" altLang="zh-CN" sz="1600" kern="100" dirty="0">
                <a:solidFill>
                  <a:schemeClr val="tx1"/>
                </a:solidFill>
                <a:effectLst/>
                <a:latin typeface="+mn-ea"/>
                <a:cs typeface="江城圆体 400W" panose="020B0500000000000000" pitchFamily="34" charset="-122"/>
              </a:rPr>
              <a:t>3</a:t>
            </a:r>
            <a:r>
              <a:rPr lang="zh-CN" altLang="en-US" sz="1600" kern="100" dirty="0">
                <a:solidFill>
                  <a:schemeClr val="tx1"/>
                </a:solidFill>
                <a:effectLst/>
                <a:latin typeface="+mn-ea"/>
                <a:cs typeface="江城圆体 400W" panose="020B0500000000000000" pitchFamily="34" charset="-122"/>
              </a:rPr>
              <a:t>日</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分许，何某驾车行驶至临近上班地点路段发生交通事故，随后被送至医院治疗，医嘱全休</a:t>
            </a:r>
            <a:r>
              <a:rPr lang="en-US" altLang="zh-CN" sz="1600" kern="100" dirty="0">
                <a:solidFill>
                  <a:schemeClr val="tx1"/>
                </a:solidFill>
                <a:effectLst/>
                <a:latin typeface="+mn-ea"/>
                <a:cs typeface="江城圆体 400W" panose="020B0500000000000000" pitchFamily="34" charset="-122"/>
              </a:rPr>
              <a:t>3</a:t>
            </a:r>
            <a:r>
              <a:rPr lang="zh-CN" altLang="en-US" sz="1600" kern="100" dirty="0">
                <a:solidFill>
                  <a:schemeClr val="tx1"/>
                </a:solidFill>
                <a:effectLst/>
                <a:latin typeface="+mn-ea"/>
                <a:cs typeface="江城圆体 400W" panose="020B0500000000000000" pitchFamily="34" charset="-122"/>
              </a:rPr>
              <a:t>个月。经交警部门认定，何某在</a:t>
            </a:r>
            <a:r>
              <a:rPr lang="zh-CN" altLang="en-US" sz="1600" b="1" kern="100" dirty="0">
                <a:solidFill>
                  <a:srgbClr val="FF0000"/>
                </a:solidFill>
                <a:effectLst/>
                <a:latin typeface="+mn-ea"/>
                <a:cs typeface="江城圆体 400W" panose="020B0500000000000000" pitchFamily="34" charset="-122"/>
              </a:rPr>
              <a:t>此次交通事故中无责任</a:t>
            </a:r>
            <a:r>
              <a:rPr lang="zh-CN" altLang="en-US" sz="1600" kern="100" dirty="0">
                <a:solidFill>
                  <a:schemeClr val="tx1"/>
                </a:solidFill>
                <a:effectLst/>
                <a:latin typeface="+mn-ea"/>
                <a:cs typeface="江城圆体 400W" panose="020B0500000000000000" pitchFamily="34" charset="-122"/>
              </a:rPr>
              <a:t>。随后，何某向人社局申请工伤认定，人社局作出</a:t>
            </a:r>
            <a:r>
              <a:rPr lang="zh-CN" altLang="en-US" sz="1600" b="1" kern="100" dirty="0">
                <a:solidFill>
                  <a:srgbClr val="FF0000"/>
                </a:solidFill>
                <a:effectLst/>
                <a:latin typeface="+mn-ea"/>
                <a:cs typeface="江城圆体 400W" panose="020B0500000000000000" pitchFamily="34" charset="-122"/>
              </a:rPr>
              <a:t>《认定工伤决定书》</a:t>
            </a:r>
            <a:r>
              <a:rPr lang="zh-CN" altLang="en-US" sz="1600" kern="100" dirty="0">
                <a:solidFill>
                  <a:schemeClr val="tx1"/>
                </a:solidFill>
                <a:effectLst/>
                <a:latin typeface="+mn-ea"/>
                <a:cs typeface="江城圆体 400W" panose="020B0500000000000000" pitchFamily="34" charset="-122"/>
              </a:rPr>
              <a:t>，认定何某所受事故伤害属于工伤。</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合作社不服人社局作出的《认定工伤决定书》，向贵港市港南区人民法院提起诉讼。合作社认为，何某早上上班时间是</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分至</a:t>
            </a:r>
            <a:r>
              <a:rPr lang="en-US" altLang="zh-CN" sz="1600" kern="100" dirty="0">
                <a:solidFill>
                  <a:schemeClr val="tx1"/>
                </a:solidFill>
                <a:effectLst/>
                <a:latin typeface="+mn-ea"/>
                <a:cs typeface="江城圆体 400W" panose="020B0500000000000000" pitchFamily="34" charset="-122"/>
              </a:rPr>
              <a:t>12</a:t>
            </a:r>
            <a:r>
              <a:rPr lang="zh-CN" altLang="en-US" sz="1600" kern="100" dirty="0">
                <a:solidFill>
                  <a:schemeClr val="tx1"/>
                </a:solidFill>
                <a:effectLst/>
                <a:latin typeface="+mn-ea"/>
                <a:cs typeface="江城圆体 400W" panose="020B0500000000000000" pitchFamily="34" charset="-122"/>
              </a:rPr>
              <a:t>时，但其发生交通事故的时间是</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分左右，此时应为何某上班时间，但其却未到达工作地点，不应认定为上下班过程受伤，不应认定为工伤。</a:t>
            </a:r>
            <a:endParaRPr lang="zh-CN" altLang="en-US" sz="1600" kern="100" dirty="0">
              <a:solidFill>
                <a:schemeClr val="tx1"/>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案例二：迟到是否算工伤？</a:t>
            </a:r>
            <a:endParaRPr lang="zh-CN" altLang="en-US"/>
          </a:p>
        </p:txBody>
      </p:sp>
      <p:sp>
        <p:nvSpPr>
          <p:cNvPr id="3" name="文本框 2"/>
          <p:cNvSpPr txBox="1"/>
          <p:nvPr/>
        </p:nvSpPr>
        <p:spPr>
          <a:xfrm>
            <a:off x="1370330" y="1630680"/>
            <a:ext cx="9607550" cy="4911725"/>
          </a:xfrm>
          <a:prstGeom prst="rect">
            <a:avLst/>
          </a:prstGeom>
          <a:noFill/>
        </p:spPr>
        <p:txBody>
          <a:bodyPr wrap="square" rtlCol="0" anchor="t">
            <a:spAutoFit/>
          </a:bodyPr>
          <a:p>
            <a:pPr algn="l">
              <a:lnSpc>
                <a:spcPct val="140000"/>
              </a:lnSpc>
            </a:pPr>
            <a:r>
              <a:rPr lang="zh-CN" altLang="en-US" sz="1600" kern="100" dirty="0">
                <a:solidFill>
                  <a:schemeClr val="tx1"/>
                </a:solidFill>
                <a:effectLst/>
                <a:latin typeface="+mn-ea"/>
                <a:cs typeface="江城圆体 400W" panose="020B0500000000000000" pitchFamily="34" charset="-122"/>
              </a:rPr>
              <a:t>法院审理后认为，根据《工伤保险条例》第</a:t>
            </a:r>
            <a:r>
              <a:rPr lang="en-US" altLang="zh-CN" sz="1600" kern="100" dirty="0">
                <a:solidFill>
                  <a:schemeClr val="tx1"/>
                </a:solidFill>
                <a:effectLst/>
                <a:latin typeface="+mn-ea"/>
                <a:cs typeface="江城圆体 400W" panose="020B0500000000000000" pitchFamily="34" charset="-122"/>
              </a:rPr>
              <a:t>14</a:t>
            </a:r>
            <a:r>
              <a:rPr lang="zh-CN" altLang="en-US" sz="1600" kern="100" dirty="0">
                <a:solidFill>
                  <a:schemeClr val="tx1"/>
                </a:solidFill>
                <a:effectLst/>
                <a:latin typeface="+mn-ea"/>
                <a:cs typeface="江城圆体 400W" panose="020B0500000000000000" pitchFamily="34" charset="-122"/>
              </a:rPr>
              <a:t>条的规定，</a:t>
            </a:r>
            <a:r>
              <a:rPr lang="en-US" altLang="zh-CN" sz="1600" kern="100" dirty="0">
                <a:solidFill>
                  <a:schemeClr val="tx1"/>
                </a:solidFill>
                <a:effectLst/>
                <a:latin typeface="+mn-ea"/>
                <a:cs typeface="江城圆体 400W" panose="020B0500000000000000" pitchFamily="34" charset="-122"/>
              </a:rPr>
              <a:t>“</a:t>
            </a:r>
            <a:r>
              <a:rPr lang="zh-CN" altLang="en-US" sz="1600" kern="100" dirty="0">
                <a:solidFill>
                  <a:schemeClr val="tx1"/>
                </a:solidFill>
                <a:effectLst/>
                <a:latin typeface="+mn-ea"/>
                <a:cs typeface="江城圆体 400W" panose="020B0500000000000000" pitchFamily="34" charset="-122"/>
              </a:rPr>
              <a:t>上下班途中</a:t>
            </a:r>
            <a:r>
              <a:rPr lang="en-US" altLang="zh-CN" sz="1600" kern="100" dirty="0">
                <a:solidFill>
                  <a:schemeClr val="tx1"/>
                </a:solidFill>
                <a:effectLst/>
                <a:latin typeface="+mn-ea"/>
                <a:cs typeface="江城圆体 400W" panose="020B0500000000000000" pitchFamily="34" charset="-122"/>
              </a:rPr>
              <a:t>”</a:t>
            </a:r>
            <a:r>
              <a:rPr lang="zh-CN" altLang="en-US" sz="1600" kern="100" dirty="0">
                <a:solidFill>
                  <a:schemeClr val="tx1"/>
                </a:solidFill>
                <a:effectLst/>
                <a:latin typeface="+mn-ea"/>
                <a:cs typeface="江城圆体 400W" panose="020B0500000000000000" pitchFamily="34" charset="-122"/>
              </a:rPr>
              <a:t>是指以上下班为目的，在合理时间内往返于工作生活所需要的活动的合理路线。</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何某在合作社工作期间，上午上班时间为</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分至</a:t>
            </a:r>
            <a:r>
              <a:rPr lang="en-US" altLang="zh-CN" sz="1600" kern="100" dirty="0">
                <a:solidFill>
                  <a:schemeClr val="tx1"/>
                </a:solidFill>
                <a:effectLst/>
                <a:latin typeface="+mn-ea"/>
                <a:cs typeface="江城圆体 400W" panose="020B0500000000000000" pitchFamily="34" charset="-122"/>
              </a:rPr>
              <a:t>12</a:t>
            </a:r>
            <a:r>
              <a:rPr lang="zh-CN" altLang="en-US" sz="1600" kern="100" dirty="0">
                <a:solidFill>
                  <a:schemeClr val="tx1"/>
                </a:solidFill>
                <a:effectLst/>
                <a:latin typeface="+mn-ea"/>
                <a:cs typeface="江城圆体 400W" panose="020B0500000000000000" pitchFamily="34" charset="-122"/>
              </a:rPr>
              <a:t>时。事故当天系何某的工作日，何某从家中出发前往合作社上班，于</a:t>
            </a:r>
            <a:r>
              <a:rPr lang="en-US" altLang="zh-CN" sz="1600" kern="100" dirty="0">
                <a:solidFill>
                  <a:schemeClr val="tx1"/>
                </a:solidFill>
                <a:effectLst/>
                <a:latin typeface="+mn-ea"/>
                <a:cs typeface="江城圆体 400W" panose="020B0500000000000000" pitchFamily="34" charset="-122"/>
              </a:rPr>
              <a:t>7</a:t>
            </a:r>
            <a:r>
              <a:rPr lang="zh-CN" altLang="en-US" sz="1600" kern="100" dirty="0">
                <a:solidFill>
                  <a:schemeClr val="tx1"/>
                </a:solidFill>
                <a:effectLst/>
                <a:latin typeface="+mn-ea"/>
                <a:cs typeface="江城圆体 400W" panose="020B0500000000000000" pitchFamily="34" charset="-122"/>
              </a:rPr>
              <a:t>时</a:t>
            </a:r>
            <a:r>
              <a:rPr lang="en-US" altLang="zh-CN" sz="1600" kern="100" dirty="0">
                <a:solidFill>
                  <a:schemeClr val="tx1"/>
                </a:solidFill>
                <a:effectLst/>
                <a:latin typeface="+mn-ea"/>
                <a:cs typeface="江城圆体 400W" panose="020B0500000000000000" pitchFamily="34" charset="-122"/>
              </a:rPr>
              <a:t>30</a:t>
            </a:r>
            <a:r>
              <a:rPr lang="zh-CN" altLang="en-US" sz="1600" kern="100" dirty="0">
                <a:solidFill>
                  <a:schemeClr val="tx1"/>
                </a:solidFill>
                <a:effectLst/>
                <a:latin typeface="+mn-ea"/>
                <a:cs typeface="江城圆体 400W" panose="020B0500000000000000" pitchFamily="34" charset="-122"/>
              </a:rPr>
              <a:t>分在临近上班地点路段发生交通事故，事故路段属于何某上下班途中的合理路线，事故发生时间虽已到上班时间，但事故路段离合作社的距离不远，该时间属于何某前往合作社的合理时间。对于合作社的上述主张，法院不予采信。</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何某符合上述规定的以上下班为目的的合理时间、合理路线，其因案涉交通事故受到伤害，且不负此次交通事故责任，符合《工伤保险条例》第</a:t>
            </a:r>
            <a:r>
              <a:rPr lang="en-US" altLang="zh-CN" sz="1600" kern="100" dirty="0">
                <a:solidFill>
                  <a:schemeClr val="tx1"/>
                </a:solidFill>
                <a:effectLst/>
                <a:latin typeface="+mn-ea"/>
                <a:cs typeface="江城圆体 400W" panose="020B0500000000000000" pitchFamily="34" charset="-122"/>
              </a:rPr>
              <a:t>14</a:t>
            </a:r>
            <a:r>
              <a:rPr lang="zh-CN" altLang="en-US" sz="1600" kern="100" dirty="0">
                <a:solidFill>
                  <a:schemeClr val="tx1"/>
                </a:solidFill>
                <a:effectLst/>
                <a:latin typeface="+mn-ea"/>
                <a:cs typeface="江城圆体 400W" panose="020B0500000000000000" pitchFamily="34" charset="-122"/>
              </a:rPr>
              <a:t>条的规定，应当认定为工伤。</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人社局在受理何某的工伤认定申请后，经调查、审核，在法定期限内作出的《认定工伤决定书》，事实清楚、程序合法、适用法律正确。</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港南区法院作出一审判决：驳回合作社的诉讼请求。</a:t>
            </a:r>
            <a:endParaRPr lang="zh-CN" altLang="en-US" sz="1600" kern="100" dirty="0">
              <a:solidFill>
                <a:schemeClr val="tx1"/>
              </a:solidFill>
              <a:effectLst/>
              <a:latin typeface="+mn-ea"/>
              <a:cs typeface="江城圆体 400W" panose="020B0500000000000000" pitchFamily="34" charset="-122"/>
            </a:endParaRPr>
          </a:p>
          <a:p>
            <a:pPr algn="l">
              <a:lnSpc>
                <a:spcPct val="140000"/>
              </a:lnSpc>
            </a:pPr>
            <a:endParaRPr lang="en-US" altLang="zh-CN" sz="1600" kern="100" dirty="0">
              <a:solidFill>
                <a:schemeClr val="tx1"/>
              </a:solidFill>
              <a:effectLst/>
              <a:latin typeface="+mn-ea"/>
              <a:cs typeface="江城圆体 400W" panose="020B0500000000000000" pitchFamily="34" charset="-122"/>
            </a:endParaRPr>
          </a:p>
          <a:p>
            <a:pPr algn="l">
              <a:lnSpc>
                <a:spcPct val="140000"/>
              </a:lnSpc>
            </a:pPr>
            <a:r>
              <a:rPr lang="zh-CN" altLang="en-US" sz="1600" kern="100" dirty="0">
                <a:solidFill>
                  <a:schemeClr val="tx1"/>
                </a:solidFill>
                <a:effectLst/>
                <a:latin typeface="+mn-ea"/>
                <a:cs typeface="江城圆体 400W" panose="020B0500000000000000" pitchFamily="34" charset="-122"/>
              </a:rPr>
              <a:t>合作社不服该判决，上诉至贵港市中级人民法院。近日，贵港市中院驳回上诉、维持原判。</a:t>
            </a:r>
            <a:endParaRPr lang="zh-CN" altLang="en-US" sz="1600" kern="100" dirty="0">
              <a:solidFill>
                <a:schemeClr val="tx1"/>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案例二：迟到是否算工伤？</a:t>
            </a:r>
            <a:endParaRPr lang="zh-CN" altLang="en-US"/>
          </a:p>
        </p:txBody>
      </p:sp>
      <p:sp>
        <p:nvSpPr>
          <p:cNvPr id="3" name="文本框 2"/>
          <p:cNvSpPr txBox="1"/>
          <p:nvPr/>
        </p:nvSpPr>
        <p:spPr>
          <a:xfrm>
            <a:off x="1370330" y="1630680"/>
            <a:ext cx="9607550" cy="3538220"/>
          </a:xfrm>
          <a:prstGeom prst="rect">
            <a:avLst/>
          </a:prstGeom>
          <a:noFill/>
        </p:spPr>
        <p:txBody>
          <a:bodyPr wrap="square" rtlCol="0" anchor="t">
            <a:spAutoFit/>
          </a:bodyPr>
          <a:p>
            <a:pPr algn="l">
              <a:lnSpc>
                <a:spcPct val="140000"/>
              </a:lnSpc>
            </a:pPr>
            <a:r>
              <a:rPr lang="zh-CN" altLang="en-US" sz="2000" kern="100" dirty="0">
                <a:solidFill>
                  <a:schemeClr val="tx1"/>
                </a:solidFill>
                <a:effectLst/>
                <a:latin typeface="+mn-ea"/>
                <a:cs typeface="江城圆体 400W" panose="020B0500000000000000" pitchFamily="34" charset="-122"/>
              </a:rPr>
              <a:t>关于</a:t>
            </a:r>
            <a:r>
              <a:rPr lang="en-US" altLang="zh-CN" sz="2000" kern="100" dirty="0">
                <a:solidFill>
                  <a:schemeClr val="tx1"/>
                </a:solidFill>
                <a:effectLst/>
                <a:latin typeface="+mn-ea"/>
                <a:cs typeface="江城圆体 400W" panose="020B0500000000000000" pitchFamily="34" charset="-122"/>
              </a:rPr>
              <a:t>“</a:t>
            </a:r>
            <a:r>
              <a:rPr lang="zh-CN" altLang="en-US" sz="2000" kern="100" dirty="0">
                <a:solidFill>
                  <a:schemeClr val="tx1"/>
                </a:solidFill>
                <a:effectLst/>
                <a:latin typeface="+mn-ea"/>
                <a:cs typeface="江城圆体 400W" panose="020B0500000000000000" pitchFamily="34" charset="-122"/>
              </a:rPr>
              <a:t>上下班途中</a:t>
            </a:r>
            <a:r>
              <a:rPr lang="en-US" altLang="zh-CN" sz="2000" kern="100" dirty="0">
                <a:solidFill>
                  <a:schemeClr val="tx1"/>
                </a:solidFill>
                <a:effectLst/>
                <a:latin typeface="+mn-ea"/>
                <a:cs typeface="江城圆体 400W" panose="020B0500000000000000" pitchFamily="34" charset="-122"/>
              </a:rPr>
              <a:t>”</a:t>
            </a:r>
            <a:r>
              <a:rPr lang="zh-CN" altLang="en-US" sz="2000" kern="100" dirty="0">
                <a:solidFill>
                  <a:schemeClr val="tx1"/>
                </a:solidFill>
                <a:effectLst/>
                <a:latin typeface="+mn-ea"/>
                <a:cs typeface="江城圆体 400W" panose="020B0500000000000000" pitchFamily="34" charset="-122"/>
              </a:rPr>
              <a:t>的认定，包括以下三个方面：</a:t>
            </a:r>
            <a:endParaRPr lang="zh-CN" altLang="en-US" sz="2000" kern="100" dirty="0">
              <a:solidFill>
                <a:schemeClr val="tx1"/>
              </a:solidFill>
              <a:effectLst/>
              <a:latin typeface="+mn-ea"/>
              <a:cs typeface="江城圆体 400W" panose="020B0500000000000000" pitchFamily="34" charset="-122"/>
            </a:endParaRPr>
          </a:p>
          <a:p>
            <a:pPr algn="l">
              <a:lnSpc>
                <a:spcPct val="140000"/>
              </a:lnSpc>
            </a:pPr>
            <a:r>
              <a:rPr lang="zh-CN" altLang="en-US" sz="2000" kern="100" dirty="0">
                <a:solidFill>
                  <a:schemeClr val="tx1"/>
                </a:solidFill>
                <a:effectLst/>
                <a:latin typeface="+mn-ea"/>
                <a:cs typeface="江城圆体 400W" panose="020B0500000000000000" pitchFamily="34" charset="-122"/>
              </a:rPr>
              <a:t>一是</a:t>
            </a:r>
            <a:r>
              <a:rPr lang="zh-CN" altLang="en-US" sz="2000" b="1" kern="100" dirty="0">
                <a:solidFill>
                  <a:srgbClr val="FF0000"/>
                </a:solidFill>
                <a:effectLst/>
                <a:latin typeface="+mn-ea"/>
                <a:cs typeface="江城圆体 400W" panose="020B0500000000000000" pitchFamily="34" charset="-122"/>
              </a:rPr>
              <a:t>合理时间范围</a:t>
            </a:r>
            <a:r>
              <a:rPr lang="zh-CN" altLang="en-US" sz="2000" kern="100" dirty="0">
                <a:solidFill>
                  <a:schemeClr val="tx1"/>
                </a:solidFill>
                <a:effectLst/>
                <a:latin typeface="+mn-ea"/>
                <a:cs typeface="江城圆体 400W" panose="020B0500000000000000" pitchFamily="34" charset="-122"/>
              </a:rPr>
              <a:t>，</a:t>
            </a:r>
            <a:r>
              <a:rPr lang="zh-CN" altLang="en-US" sz="2000" b="1" kern="100" dirty="0">
                <a:solidFill>
                  <a:srgbClr val="FF0000"/>
                </a:solidFill>
                <a:effectLst/>
                <a:latin typeface="+mn-ea"/>
                <a:cs typeface="江城圆体 400W" panose="020B0500000000000000" pitchFamily="34" charset="-122"/>
              </a:rPr>
              <a:t>应包括正常通勤时间及其必要延伸。</a:t>
            </a:r>
            <a:r>
              <a:rPr lang="zh-CN" altLang="en-US" sz="2000" kern="100" dirty="0">
                <a:solidFill>
                  <a:schemeClr val="tx1"/>
                </a:solidFill>
                <a:effectLst/>
                <a:latin typeface="+mn-ea"/>
                <a:cs typeface="江城圆体 400W" panose="020B0500000000000000" pitchFamily="34" charset="-122"/>
              </a:rPr>
              <a:t>因个人原因导致迟到（如未及时起床、交通选择不当等）导致迟到，需判断延误是否超出合理限度。</a:t>
            </a:r>
            <a:endParaRPr lang="zh-CN" altLang="en-US" sz="2000" kern="100" dirty="0">
              <a:solidFill>
                <a:schemeClr val="tx1"/>
              </a:solidFill>
              <a:effectLst/>
              <a:latin typeface="+mn-ea"/>
              <a:cs typeface="江城圆体 400W" panose="020B0500000000000000" pitchFamily="34" charset="-122"/>
            </a:endParaRPr>
          </a:p>
          <a:p>
            <a:pPr algn="l">
              <a:lnSpc>
                <a:spcPct val="140000"/>
              </a:lnSpc>
            </a:pPr>
            <a:r>
              <a:rPr lang="zh-CN" altLang="en-US" sz="2000" kern="100" dirty="0">
                <a:solidFill>
                  <a:schemeClr val="tx1"/>
                </a:solidFill>
                <a:effectLst/>
                <a:latin typeface="+mn-ea"/>
                <a:cs typeface="江城圆体 400W" panose="020B0500000000000000" pitchFamily="34" charset="-122"/>
              </a:rPr>
              <a:t>二是</a:t>
            </a:r>
            <a:r>
              <a:rPr lang="zh-CN" altLang="en-US" sz="2000" b="1" kern="100" dirty="0">
                <a:solidFill>
                  <a:srgbClr val="FF0000"/>
                </a:solidFill>
                <a:effectLst/>
                <a:latin typeface="+mn-ea"/>
                <a:cs typeface="江城圆体 400W" panose="020B0500000000000000" pitchFamily="34" charset="-122"/>
              </a:rPr>
              <a:t>合理路线判断</a:t>
            </a:r>
            <a:r>
              <a:rPr lang="zh-CN" altLang="en-US" sz="2000" kern="100" dirty="0">
                <a:solidFill>
                  <a:schemeClr val="tx1"/>
                </a:solidFill>
                <a:effectLst/>
                <a:latin typeface="+mn-ea"/>
                <a:cs typeface="江城圆体 400W" panose="020B0500000000000000" pitchFamily="34" charset="-122"/>
              </a:rPr>
              <a:t>，即使职工上班迟到，只要行进路线符合从居住地到工作地的常规路线，或基于生活必需的其他合理路线，认可是为上下班途中。</a:t>
            </a:r>
            <a:endParaRPr lang="zh-CN" altLang="en-US" sz="2000" kern="100" dirty="0">
              <a:solidFill>
                <a:schemeClr val="tx1"/>
              </a:solidFill>
              <a:effectLst/>
              <a:latin typeface="+mn-ea"/>
              <a:cs typeface="江城圆体 400W" panose="020B0500000000000000" pitchFamily="34" charset="-122"/>
            </a:endParaRPr>
          </a:p>
          <a:p>
            <a:pPr algn="l">
              <a:lnSpc>
                <a:spcPct val="140000"/>
              </a:lnSpc>
            </a:pPr>
            <a:r>
              <a:rPr lang="zh-CN" altLang="en-US" sz="2000" kern="100" dirty="0">
                <a:solidFill>
                  <a:schemeClr val="tx1"/>
                </a:solidFill>
                <a:effectLst/>
                <a:latin typeface="+mn-ea"/>
                <a:cs typeface="江城圆体 400W" panose="020B0500000000000000" pitchFamily="34" charset="-122"/>
              </a:rPr>
              <a:t>三是</a:t>
            </a:r>
            <a:r>
              <a:rPr lang="zh-CN" altLang="en-US" sz="2000" b="1" kern="100" dirty="0">
                <a:solidFill>
                  <a:srgbClr val="FF0000"/>
                </a:solidFill>
                <a:effectLst/>
                <a:latin typeface="+mn-ea"/>
                <a:cs typeface="江城圆体 400W" panose="020B0500000000000000" pitchFamily="34" charset="-122"/>
              </a:rPr>
              <a:t>行动目的关联性，行程需以</a:t>
            </a:r>
            <a:r>
              <a:rPr lang="en-US" altLang="zh-CN" sz="2000" b="1" kern="100" dirty="0">
                <a:solidFill>
                  <a:srgbClr val="FF0000"/>
                </a:solidFill>
                <a:effectLst/>
                <a:latin typeface="+mn-ea"/>
                <a:cs typeface="江城圆体 400W" panose="020B0500000000000000" pitchFamily="34" charset="-122"/>
              </a:rPr>
              <a:t>“</a:t>
            </a:r>
            <a:r>
              <a:rPr lang="zh-CN" altLang="en-US" sz="2000" b="1" kern="100" dirty="0">
                <a:solidFill>
                  <a:srgbClr val="FF0000"/>
                </a:solidFill>
                <a:effectLst/>
                <a:latin typeface="+mn-ea"/>
                <a:cs typeface="江城圆体 400W" panose="020B0500000000000000" pitchFamily="34" charset="-122"/>
              </a:rPr>
              <a:t>上下班</a:t>
            </a:r>
            <a:r>
              <a:rPr lang="en-US" altLang="zh-CN" sz="2000" b="1" kern="100" dirty="0">
                <a:solidFill>
                  <a:srgbClr val="FF0000"/>
                </a:solidFill>
                <a:effectLst/>
                <a:latin typeface="+mn-ea"/>
                <a:cs typeface="江城圆体 400W" panose="020B0500000000000000" pitchFamily="34" charset="-122"/>
              </a:rPr>
              <a:t>”</a:t>
            </a:r>
            <a:r>
              <a:rPr lang="zh-CN" altLang="en-US" sz="2000" b="1" kern="100" dirty="0">
                <a:solidFill>
                  <a:srgbClr val="FF0000"/>
                </a:solidFill>
                <a:effectLst/>
                <a:latin typeface="+mn-ea"/>
                <a:cs typeface="江城圆体 400W" panose="020B0500000000000000" pitchFamily="34" charset="-122"/>
              </a:rPr>
              <a:t>为核心目的。</a:t>
            </a:r>
            <a:r>
              <a:rPr lang="zh-CN" altLang="en-US" sz="2000" kern="100" dirty="0">
                <a:solidFill>
                  <a:schemeClr val="tx1"/>
                </a:solidFill>
                <a:effectLst/>
                <a:latin typeface="+mn-ea"/>
                <a:cs typeface="江城圆体 400W" panose="020B0500000000000000" pitchFamily="34" charset="-122"/>
              </a:rPr>
              <a:t>如迟到系因处理私人事务（如购物、访友等）导致的，可能中断上下班行为的连续性，进而否定其工伤属性。但若迟到仅为通勤过程中的时间偏差，未改变行为目的，则不影响认定。</a:t>
            </a:r>
            <a:endParaRPr lang="zh-CN" altLang="en-US" sz="2000" kern="100" dirty="0">
              <a:solidFill>
                <a:schemeClr val="tx1"/>
              </a:solidFill>
              <a:effectLst/>
              <a:latin typeface="+mn-ea"/>
              <a:cs typeface="江城圆体 400W" panose="020B0500000000000000" pitchFamily="34" charset="-122"/>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14340" y="3048000"/>
            <a:ext cx="6171565" cy="1760220"/>
          </a:xfrm>
        </p:spPr>
        <p:txBody>
          <a:bodyPr anchor="ctr" anchorCtr="0"/>
          <a:lstStyle/>
          <a:p>
            <a:pPr algn="ctr"/>
            <a:r>
              <a:rPr lang="en-US" altLang="zh-CN"/>
              <a:t>“</a:t>
            </a:r>
            <a:r>
              <a:rPr lang="zh-CN" altLang="en-US"/>
              <a:t>无忧用工</a:t>
            </a:r>
            <a:r>
              <a:rPr lang="en-US" altLang="zh-CN"/>
              <a:t>”</a:t>
            </a:r>
            <a:r>
              <a:rPr lang="zh-CN" altLang="en-US"/>
              <a:t>劳动合规全案</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03</a:t>
            </a:r>
            <a:endParaRPr lang="en-US" altLang="zh-CN"/>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107274" y="347615"/>
            <a:ext cx="9184104" cy="1425558"/>
          </a:xfrm>
          <a:prstGeom prst="rect">
            <a:avLst/>
          </a:prstGeom>
          <a:noFill/>
          <a:ln cap="sq">
            <a:noFill/>
          </a:ln>
        </p:spPr>
        <p:txBody>
          <a:bodyPr vert="horz" wrap="square" lIns="0" tIns="0" rIns="0" bIns="0" rtlCol="0" anchor="t"/>
          <a:lstStyle/>
          <a:p>
            <a:pPr algn="l">
              <a:lnSpc>
                <a:spcPct val="200000"/>
              </a:lnSpc>
            </a:pPr>
            <a:r>
              <a:rPr kumimoji="1" lang="zh-CN" altLang="en-US" sz="3200" b="1">
                <a:solidFill>
                  <a:schemeClr val="tx1"/>
                </a:solidFill>
                <a:latin typeface="微软雅黑" panose="020B0503020204020204" charset="-122"/>
                <a:ea typeface="微软雅黑" panose="020B0503020204020204" charset="-122"/>
                <a:cs typeface="微软雅黑" panose="020B0503020204020204" charset="-122"/>
              </a:rPr>
              <a:t>产品名称与定位</a:t>
            </a:r>
            <a:endParaRPr kumimoji="1" lang="zh-CN" altLang="en-US" sz="3200" b="1">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en-US" sz="2400">
                <a:latin typeface="微软雅黑" panose="020B0503020204020204" charset="-122"/>
                <a:ea typeface="微软雅黑" panose="020B0503020204020204" charset="-122"/>
                <a:cs typeface="微软雅黑" panose="020B0503020204020204" charset="-122"/>
              </a:rPr>
              <a:t></a:t>
            </a:r>
            <a:endParaRPr kumimoji="1" lang="en-US"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en-US" sz="2400">
                <a:latin typeface="微软雅黑" panose="020B0503020204020204" charset="-122"/>
                <a:ea typeface="微软雅黑" panose="020B0503020204020204" charset="-122"/>
                <a:cs typeface="微软雅黑" panose="020B0503020204020204" charset="-122"/>
              </a:rPr>
              <a:t></a:t>
            </a:r>
            <a:r>
              <a:rPr kumimoji="1" lang="zh-CN" altLang="en-US" sz="2400">
                <a:latin typeface="微软雅黑" panose="020B0503020204020204" charset="-122"/>
                <a:ea typeface="微软雅黑" panose="020B0503020204020204" charset="-122"/>
                <a:cs typeface="微软雅黑" panose="020B0503020204020204" charset="-122"/>
              </a:rPr>
              <a:t>定位：系统解决企业用工风险</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en-US" sz="2400">
                <a:latin typeface="微软雅黑" panose="020B0503020204020204" charset="-122"/>
                <a:ea typeface="微软雅黑" panose="020B0503020204020204" charset="-122"/>
                <a:cs typeface="微软雅黑" panose="020B0503020204020204" charset="-122"/>
              </a:rPr>
              <a:t></a:t>
            </a:r>
            <a:r>
              <a:rPr kumimoji="1" lang="zh-CN" altLang="en-US" sz="2400">
                <a:latin typeface="微软雅黑" panose="020B0503020204020204" charset="-122"/>
                <a:ea typeface="微软雅黑" panose="020B0503020204020204" charset="-122"/>
                <a:cs typeface="微软雅黑" panose="020B0503020204020204" charset="-122"/>
              </a:rPr>
              <a:t>核心服务：企业用工合规风险诊断、系统防范、有效解决，降低劳动用工风险，</a:t>
            </a:r>
            <a:r>
              <a:rPr kumimoji="1" lang="zh-CN" altLang="en-US" sz="2400" b="1">
                <a:solidFill>
                  <a:srgbClr val="FF0000"/>
                </a:solidFill>
                <a:latin typeface="微软雅黑" panose="020B0503020204020204" charset="-122"/>
                <a:ea typeface="微软雅黑" panose="020B0503020204020204" charset="-122"/>
                <a:cs typeface="微软雅黑" panose="020B0503020204020204" charset="-122"/>
              </a:rPr>
              <a:t>建立良好的劳资关系</a:t>
            </a:r>
            <a:r>
              <a:rPr kumimoji="1" lang="zh-CN" altLang="en-US" sz="2400">
                <a:latin typeface="微软雅黑" panose="020B0503020204020204" charset="-122"/>
                <a:ea typeface="微软雅黑" panose="020B0503020204020204" charset="-122"/>
                <a:cs typeface="微软雅黑" panose="020B0503020204020204" charset="-122"/>
              </a:rPr>
              <a:t>。</a:t>
            </a:r>
            <a:endParaRPr kumimoji="1" lang="zh-CN" altLang="en-US" sz="2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343494" y="404765"/>
            <a:ext cx="9184104" cy="1425558"/>
          </a:xfrm>
          <a:prstGeom prst="rect">
            <a:avLst/>
          </a:prstGeom>
          <a:noFill/>
          <a:ln cap="sq">
            <a:noFill/>
          </a:ln>
        </p:spPr>
        <p:txBody>
          <a:bodyPr vert="horz" wrap="square" lIns="0" tIns="0" rIns="0" bIns="0" rtlCol="0" anchor="t"/>
          <a:lstStyle/>
          <a:p>
            <a:pPr algn="l">
              <a:lnSpc>
                <a:spcPct val="200000"/>
              </a:lnSpc>
              <a:buClrTx/>
              <a:buSzTx/>
              <a:buFontTx/>
            </a:pPr>
            <a:r>
              <a:rPr kumimoji="1" lang="en-US" altLang="zh-CN" sz="3200" b="1">
                <a:solidFill>
                  <a:schemeClr val="tx1"/>
                </a:solidFill>
                <a:latin typeface="微软雅黑" panose="020B0503020204020204" charset="-122"/>
                <a:ea typeface="微软雅黑" panose="020B0503020204020204" charset="-122"/>
                <a:cs typeface="微软雅黑" panose="020B0503020204020204" charset="-122"/>
              </a:rPr>
              <a:t>“</a:t>
            </a:r>
            <a:r>
              <a:rPr kumimoji="1" lang="zh-CN" altLang="en-US" sz="3200" b="1">
                <a:solidFill>
                  <a:schemeClr val="tx1"/>
                </a:solidFill>
                <a:latin typeface="微软雅黑" panose="020B0503020204020204" charset="-122"/>
                <a:ea typeface="微软雅黑" panose="020B0503020204020204" charset="-122"/>
                <a:cs typeface="微软雅黑" panose="020B0503020204020204" charset="-122"/>
              </a:rPr>
              <a:t>无忧用工</a:t>
            </a:r>
            <a:r>
              <a:rPr kumimoji="1" lang="en-US" altLang="zh-CN" sz="3200" b="1">
                <a:solidFill>
                  <a:schemeClr val="tx1"/>
                </a:solidFill>
                <a:latin typeface="微软雅黑" panose="020B0503020204020204" charset="-122"/>
                <a:ea typeface="微软雅黑" panose="020B0503020204020204" charset="-122"/>
                <a:cs typeface="微软雅黑" panose="020B0503020204020204" charset="-122"/>
              </a:rPr>
              <a:t>” </a:t>
            </a:r>
            <a:r>
              <a:rPr kumimoji="1" lang="zh-CN" altLang="en-US" sz="3200" b="1">
                <a:solidFill>
                  <a:schemeClr val="tx1"/>
                </a:solidFill>
                <a:latin typeface="微软雅黑" panose="020B0503020204020204" charset="-122"/>
                <a:ea typeface="微软雅黑" panose="020B0503020204020204" charset="-122"/>
                <a:cs typeface="微软雅黑" panose="020B0503020204020204" charset="-122"/>
              </a:rPr>
              <a:t>服务流程</a:t>
            </a:r>
            <a:endParaRPr kumimoji="1" lang="zh-CN" altLang="en-US" sz="3200" b="1">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1.</a:t>
            </a:r>
            <a:r>
              <a:rPr kumimoji="1" lang="zh-CN" altLang="en-US" sz="2400">
                <a:latin typeface="微软雅黑" panose="020B0503020204020204" charset="-122"/>
                <a:ea typeface="微软雅黑" panose="020B0503020204020204" charset="-122"/>
                <a:cs typeface="微软雅黑" panose="020B0503020204020204" charset="-122"/>
              </a:rPr>
              <a:t>人事盘点；</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2.</a:t>
            </a:r>
            <a:r>
              <a:rPr kumimoji="1" lang="zh-CN" altLang="en-US" sz="2400">
                <a:latin typeface="微软雅黑" panose="020B0503020204020204" charset="-122"/>
                <a:ea typeface="微软雅黑" panose="020B0503020204020204" charset="-122"/>
                <a:cs typeface="微软雅黑" panose="020B0503020204020204" charset="-122"/>
              </a:rPr>
              <a:t>关键风控点识别；</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3.</a:t>
            </a:r>
            <a:r>
              <a:rPr kumimoji="1" lang="zh-CN" altLang="en-US" sz="2400">
                <a:latin typeface="微软雅黑" panose="020B0503020204020204" charset="-122"/>
                <a:ea typeface="微软雅黑" panose="020B0503020204020204" charset="-122"/>
                <a:cs typeface="微软雅黑" panose="020B0503020204020204" charset="-122"/>
              </a:rPr>
              <a:t>文本再造、制度建立、工具包设计；</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4.</a:t>
            </a:r>
            <a:r>
              <a:rPr kumimoji="1" lang="zh-CN" altLang="en-US" sz="2400">
                <a:latin typeface="微软雅黑" panose="020B0503020204020204" charset="-122"/>
                <a:ea typeface="微软雅黑" panose="020B0503020204020204" charset="-122"/>
                <a:cs typeface="微软雅黑" panose="020B0503020204020204" charset="-122"/>
              </a:rPr>
              <a:t>制度合规、文本套用、操作培训和指导、方案落地执行；</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5.</a:t>
            </a:r>
            <a:r>
              <a:rPr kumimoji="1" lang="zh-CN" altLang="en-US" sz="2400">
                <a:latin typeface="微软雅黑" panose="020B0503020204020204" charset="-122"/>
                <a:ea typeface="微软雅黑" panose="020B0503020204020204" charset="-122"/>
                <a:cs typeface="微软雅黑" panose="020B0503020204020204" charset="-122"/>
              </a:rPr>
              <a:t>日常咨询和服务、关键问题协助、劳动纠纷支持；</a:t>
            </a:r>
            <a:endParaRPr kumimoji="1" lang="zh-CN" altLang="en-US" sz="2400">
              <a:latin typeface="微软雅黑" panose="020B0503020204020204" charset="-122"/>
              <a:ea typeface="微软雅黑" panose="020B0503020204020204" charset="-122"/>
              <a:cs typeface="微软雅黑" panose="020B0503020204020204" charset="-122"/>
            </a:endParaRPr>
          </a:p>
          <a:p>
            <a:pPr algn="l">
              <a:lnSpc>
                <a:spcPct val="200000"/>
              </a:lnSpc>
            </a:pPr>
            <a:r>
              <a:rPr kumimoji="1" lang="en-US" altLang="zh-CN" sz="2400">
                <a:latin typeface="微软雅黑" panose="020B0503020204020204" charset="-122"/>
                <a:ea typeface="微软雅黑" panose="020B0503020204020204" charset="-122"/>
                <a:cs typeface="微软雅黑" panose="020B0503020204020204" charset="-122"/>
              </a:rPr>
              <a:t>6.</a:t>
            </a:r>
            <a:r>
              <a:rPr kumimoji="1" lang="zh-CN" altLang="en-US" sz="2400">
                <a:latin typeface="微软雅黑" panose="020B0503020204020204" charset="-122"/>
                <a:ea typeface="微软雅黑" panose="020B0503020204020204" charset="-122"/>
                <a:cs typeface="微软雅黑" panose="020B0503020204020204" charset="-122"/>
              </a:rPr>
              <a:t>年审、年度培训。</a:t>
            </a:r>
            <a:endParaRPr kumimoji="1" lang="zh-CN" altLang="en-US" sz="24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14340" y="3048000"/>
            <a:ext cx="6171565" cy="1760220"/>
          </a:xfrm>
        </p:spPr>
        <p:txBody>
          <a:bodyPr anchor="ctr" anchorCtr="0"/>
          <a:lstStyle/>
          <a:p>
            <a:pPr algn="ctr"/>
            <a:r>
              <a:rPr lang="zh-CN"/>
              <a:t>自由交流环节</a:t>
            </a:r>
            <a:endParaRPr lang="zh-CN"/>
          </a:p>
        </p:txBody>
      </p:sp>
      <p:sp>
        <p:nvSpPr>
          <p:cNvPr id="6" name="节编号"/>
          <p:cNvSpPr>
            <a:spLocks noGrp="1"/>
          </p:cNvSpPr>
          <p:nvPr>
            <p:ph type="body" sz="quarter" idx="13"/>
            <p:custDataLst>
              <p:tags r:id="rId2"/>
            </p:custDataLst>
          </p:nvPr>
        </p:nvSpPr>
        <p:spPr/>
        <p:txBody>
          <a:bodyPr/>
          <a:lstStyle/>
          <a:p>
            <a:r>
              <a:rPr lang="en-US" altLang="zh-CN"/>
              <a:t>04</a:t>
            </a:r>
            <a:endParaRPr lang="en-US" altLang="zh-CN"/>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2267866" y="3119979"/>
            <a:ext cx="8810024" cy="1222785"/>
          </a:xfrm>
        </p:spPr>
        <p:txBody>
          <a:bodyPr/>
          <a:lstStyle/>
          <a:p>
            <a:r>
              <a:rPr lang="zh-CN" altLang="en-US"/>
              <a:t>感谢您的参与</a:t>
            </a:r>
            <a:endParaRPr lang="zh-CN" altLang="en-US"/>
          </a:p>
        </p:txBody>
      </p:sp>
      <p:pic>
        <p:nvPicPr>
          <p:cNvPr id="3" name="图片 2" descr="斯塔管理咨询LOGO2"/>
          <p:cNvPicPr>
            <a:picLocks noChangeAspect="1"/>
          </p:cNvPicPr>
          <p:nvPr/>
        </p:nvPicPr>
        <p:blipFill>
          <a:blip r:embed="rId2"/>
          <a:stretch>
            <a:fillRect/>
          </a:stretch>
        </p:blipFill>
        <p:spPr>
          <a:xfrm>
            <a:off x="7988935" y="290195"/>
            <a:ext cx="3312795" cy="109537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34.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0.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9.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0.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7.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19"/>
</p:tagLst>
</file>

<file path=ppt/tags/tag10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19"/>
</p:tagLst>
</file>

<file path=ppt/tags/tag11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19"/>
  <p:tag name="KSO_WM_TEMPLATE_CATEGORY" val="custom"/>
  <p:tag name="KSO_WM_TEMPLATE_MASTER_TYPE" val="0"/>
  <p:tag name="KSO_WM_TEMPLATE_COLORSEQUENCE" val="1,2,3,1,2,3"/>
</p:tagLst>
</file>

<file path=ppt/tags/tag111.xml><?xml version="1.0" encoding="utf-8"?>
<p:tagLst xmlns:p="http://schemas.openxmlformats.org/presentationml/2006/main">
  <p:tag name="KSO_WM_UNIT_TYPE" val="a"/>
  <p:tag name="KSO_WM_UNIT_INDEX" val="1"/>
  <p:tag name="KSO_WM_BEAUTIFY_FLAG" val="#wm#"/>
  <p:tag name="KSO_WM_TAG_VERSION" val="3.0"/>
  <p:tag name="KSO_WM_UNIT_PRESET_TEXT" val="单击此处&#13;添加文档标题内容"/>
  <p:tag name="KSO_WM_UNIT_ID" val="custom20235919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1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5919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VALUE" val="11"/>
</p:tagLst>
</file>

<file path=ppt/tags/tag11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19"/>
  <p:tag name="KSO_WM_TEMPLATE_CATEGORY" val="custom"/>
  <p:tag name="KSO_WM_SLIDE_INDEX" val="1"/>
  <p:tag name="KSO_WM_SLIDE_ID" val="custom20235919_1"/>
  <p:tag name="KSO_WM_TEMPLATE_MASTER_TYPE" val="0"/>
  <p:tag name="KSO_WM_SLIDE_LAYOUT" val="a_f"/>
  <p:tag name="KSO_WM_SLIDE_LAYOUT_CNT" val="1_2"/>
  <p:tag name="KSO_WM_TEMPLATE_COLORSEQUENCE" val="1,2,3,1,2,3"/>
</p:tagLst>
</file>

<file path=ppt/tags/tag114.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5919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Lst>
</file>

<file path=ppt/tags/tag115.xml><?xml version="1.0" encoding="utf-8"?>
<p:tagLst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solid&quot;:{&quot;brightness&quot;:0,&quot;colorType&quot;:1,&quot;foreColorIndex&quot;:2,&quot;transparency&quot;:0},&quot;type&quot;:1},&quot;glow&quot;:{&quot;colorType&quot;:0},&quot;line&quot;:{&quot;type&quot;:0},&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6.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UNIT_PRESET_TEXT" val="添加目录项标题"/>
  <p:tag name="KSO_WM_DIAGRAM_GROUP_CODE" val="l1-1"/>
  <p:tag name="KSO_WM_DIAGRAM_COLOR_TRICK" val="1"/>
  <p:tag name="KSO_WM_DIAGRAM_COLOR_TEXT_CAN_REMOVE" val="n"/>
  <p:tag name="KSO_WM_UNIT_ID" val="custom20235919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UNIT_SUBTYPE" val="a"/>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17.xml><?xml version="1.0" encoding="utf-8"?>
<p:tagLst xmlns:p="http://schemas.openxmlformats.org/presentationml/2006/main">
  <p:tag name="KSO_WM_UNIT_TYPE" val="l_h_i"/>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gradient&quot;:[{&quot;brightness&quot;:0.800000011920929,&quot;colorType&quot;:1,&quot;foreColorIndex&quot;:5,&quot;pos&quot;:0.30000001192092896,&quot;transparency&quot;:1},{&quot;brightness&quot;:0.80000001192092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8.xml><?xml version="1.0" encoding="utf-8"?>
<p:tagLst xmlns:p="http://schemas.openxmlformats.org/presentationml/2006/main">
  <p:tag name="KSO_WM_UNIT_TYPE" val="l_h_i"/>
  <p:tag name="KSO_WM_UNIT_SUBTYPE" val="d"/>
  <p:tag name="KSO_WM_UNIT_INDEX" val="1_1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1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9.xml><?xml version="1.0" encoding="utf-8"?>
<p:tagLst xmlns:p="http://schemas.openxmlformats.org/presentationml/2006/main">
  <p:tag name="KSO_WM_UNIT_TYPE" val="l_h_i"/>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solid&quot;:{&quot;brightness&quot;:0,&quot;colorType&quot;:1,&quot;foreColorIndex&quot;:2,&quot;transparency&quot;:0},&quot;type&quot;:1},&quot;glow&quot;:{&quot;colorType&quot;:0},&quot;line&quot;:{&quot;type&quot;:0},&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0.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UNIT_PRESET_TEXT" val="添加目录项标题"/>
  <p:tag name="KSO_WM_DIAGRAM_GROUP_CODE" val="l1-1"/>
  <p:tag name="KSO_WM_DIAGRAM_COLOR_TRICK" val="1"/>
  <p:tag name="KSO_WM_DIAGRAM_COLOR_TEXT_CAN_REMOVE" val="n"/>
  <p:tag name="KSO_WM_UNIT_ID" val="custom20235919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UNIT_SUBTYPE" val="a"/>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21.xml><?xml version="1.0" encoding="utf-8"?>
<p:tagLst xmlns:p="http://schemas.openxmlformats.org/presentationml/2006/main">
  <p:tag name="KSO_WM_UNIT_TYPE" val="l_h_i"/>
  <p:tag name="KSO_WM_UNIT_INDEX" val="1_2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2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gradient&quot;:[{&quot;brightness&quot;:0.800000011920929,&quot;colorType&quot;:1,&quot;foreColorIndex&quot;:5,&quot;pos&quot;:0.30000001192092896,&quot;transparency&quot;:1},{&quot;brightness&quot;:0.80000001192092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2.xml><?xml version="1.0" encoding="utf-8"?>
<p:tagLst xmlns:p="http://schemas.openxmlformats.org/presentationml/2006/main">
  <p:tag name="KSO_WM_UNIT_TYPE" val="l_h_i"/>
  <p:tag name="KSO_WM_UNIT_SUBTYPE" val="d"/>
  <p:tag name="KSO_WM_UNIT_INDEX" val="1_2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2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3.xml><?xml version="1.0" encoding="utf-8"?>
<p:tagLst xmlns:p="http://schemas.openxmlformats.org/presentationml/2006/main">
  <p:tag name="KSO_WM_UNIT_TYPE" val="l_h_i"/>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solid&quot;:{&quot;brightness&quot;:0,&quot;colorType&quot;:1,&quot;foreColorIndex&quot;:2,&quot;transparency&quot;:0},&quot;type&quot;:1},&quot;glow&quot;:{&quot;colorType&quot;:0},&quot;line&quot;:{&quot;type&quot;:0},&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4.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UNIT_PRESET_TEXT" val="添加目录项标题"/>
  <p:tag name="KSO_WM_DIAGRAM_GROUP_CODE" val="l1-1"/>
  <p:tag name="KSO_WM_DIAGRAM_COLOR_TRICK" val="1"/>
  <p:tag name="KSO_WM_DIAGRAM_COLOR_TEXT_CAN_REMOVE" val="n"/>
  <p:tag name="KSO_WM_UNIT_ID" val="custom20235919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UNIT_SUBTYPE" val="a"/>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25.xml><?xml version="1.0" encoding="utf-8"?>
<p:tagLst xmlns:p="http://schemas.openxmlformats.org/presentationml/2006/main">
  <p:tag name="KSO_WM_UNIT_TYPE" val="l_h_i"/>
  <p:tag name="KSO_WM_UNIT_INDEX" val="1_3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gradient&quot;:[{&quot;brightness&quot;:0.800000011920929,&quot;colorType&quot;:1,&quot;foreColorIndex&quot;:5,&quot;pos&quot;:0.30000001192092896,&quot;transparency&quot;:1},{&quot;brightness&quot;:0.80000001192092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6.xml><?xml version="1.0" encoding="utf-8"?>
<p:tagLst xmlns:p="http://schemas.openxmlformats.org/presentationml/2006/main">
  <p:tag name="KSO_WM_UNIT_TYPE" val="l_h_i"/>
  <p:tag name="KSO_WM_UNIT_SUBTYPE" val="d"/>
  <p:tag name="KSO_WM_UNIT_INDEX" val="1_3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3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7.xml><?xml version="1.0" encoding="utf-8"?>
<p:tagLst xmlns:p="http://schemas.openxmlformats.org/presentationml/2006/main">
  <p:tag name="KSO_WM_UNIT_TYPE" val="l_h_i"/>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solid&quot;:{&quot;brightness&quot;:0,&quot;colorType&quot;:1,&quot;foreColorIndex&quot;:2,&quot;transparency&quot;:0},&quot;type&quot;:1},&quot;glow&quot;:{&quot;colorType&quot;:0},&quot;line&quot;:{&quot;type&quot;:0},&quot;shadow&quot;:{&quot;brightness&quot;:0.6000000238418579,&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28.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UNIT_PRESET_TEXT" val="添加目录项标题"/>
  <p:tag name="KSO_WM_DIAGRAM_GROUP_CODE" val="l1-1"/>
  <p:tag name="KSO_WM_DIAGRAM_COLOR_TRICK" val="1"/>
  <p:tag name="KSO_WM_DIAGRAM_COLOR_TEXT_CAN_REMOVE" val="n"/>
  <p:tag name="KSO_WM_UNIT_ID" val="custom20235919_4*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UNIT_SUBTYPE" val="a"/>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29.xml><?xml version="1.0" encoding="utf-8"?>
<p:tagLst xmlns:p="http://schemas.openxmlformats.org/presentationml/2006/main">
  <p:tag name="KSO_WM_UNIT_TYPE" val="l_h_i"/>
  <p:tag name="KSO_WM_UNIT_INDEX" val="1_4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gradient&quot;:[{&quot;brightness&quot;:0.800000011920929,&quot;colorType&quot;:1,&quot;foreColorIndex&quot;:5,&quot;pos&quot;:0.30000001192092896,&quot;transparency&quot;:1},{&quot;brightness&quot;:0.80000001192092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0.xml><?xml version="1.0" encoding="utf-8"?>
<p:tagLst xmlns:p="http://schemas.openxmlformats.org/presentationml/2006/main">
  <p:tag name="KSO_WM_UNIT_TYPE" val="l_h_i"/>
  <p:tag name="KSO_WM_UNIT_SUBTYPE" val="d"/>
  <p:tag name="KSO_WM_UNIT_INDEX" val="1_4_3"/>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19_4*l_h_i*1_4_3"/>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19"/>
  <p:tag name="KSO_WM_TEMPLATE_CATEGORY" val="custom"/>
  <p:tag name="KSO_WM_DIAGRAM_MAX_ITEMCNT" val="6"/>
  <p:tag name="KSO_WM_DIAGRAM_MIN_ITEMCNT" val="2"/>
  <p:tag name="KSO_WM_DIAGRAM_VIRTUALLY_FRAME" val="{&quot;height&quot;:266.669921875,&quot;left&quot;:66.12503051757821,&quot;top&quot;:171.98299181840548,&quot;width&quot;:827.7499389648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1.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5919"/>
  <p:tag name="KSO_WM_TEMPLATE_CATEGORY" val="custom"/>
  <p:tag name="KSO_WM_SLIDE_INDEX" val="4"/>
  <p:tag name="KSO_WM_SLIDE_ID" val="custom20235919_4"/>
  <p:tag name="KSO_WM_TEMPLATE_MASTER_TYPE" val="0"/>
  <p:tag name="KSO_WM_SLIDE_LAYOUT" val="a_l"/>
  <p:tag name="KSO_WM_SLIDE_LAYOUT_CNT" val="1_1"/>
  <p:tag name="KSO_WM_SLIDE_DIAGTYPE" val="l"/>
  <p:tag name="KSO_WM_TEMPLATE_COLORSEQUENCE" val="1,2,3,1,2,3"/>
</p:tagLst>
</file>

<file path=ppt/tags/tag132.xml><?xml version="1.0" encoding="utf-8"?>
<p:tagLst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5919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33.xml><?xml version="1.0" encoding="utf-8"?>
<p:tagLst xmlns:p="http://schemas.openxmlformats.org/presentationml/2006/main">
  <p:tag name="KSO_WM_UNIT_TYPE" val="e"/>
  <p:tag name="KSO_WM_UNIT_INDEX" val="1"/>
  <p:tag name="KSO_WM_BEAUTIFY_FLAG" val="#wm#"/>
  <p:tag name="KSO_WM_TAG_VERSION" val="3.0"/>
  <p:tag name="KSO_WM_UNIT_ID" val="custom20235919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Lst>
</file>

<file path=ppt/tags/tag13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7"/>
  <p:tag name="KSO_WM_SLIDE_ID" val="custom20235919_7"/>
  <p:tag name="KSO_WM_TEMPLATE_MASTER_TYPE" val="0"/>
  <p:tag name="KSO_WM_SLIDE_LAYOUT" val="a_e"/>
  <p:tag name="KSO_WM_SLIDE_LAYOUT_CNT" val="1_1"/>
  <p:tag name="KSO_WM_TEMPLATE_COLORSEQUENCE" val="1,2,3,1,2,3"/>
</p:tagLst>
</file>

<file path=ppt/tags/tag135.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3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添加文本"/>
  <p:tag name="KSO_WM_UNIT_ID" val="custom20235919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TEXT_TYPE" val="1"/>
</p:tagLst>
</file>

<file path=ppt/tags/tag137.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138.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3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添加文本"/>
  <p:tag name="KSO_WM_UNIT_ID" val="custom20235919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TEXT_TYPE" val="1"/>
</p:tagLst>
</file>

<file path=ppt/tags/tag140.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141.xml><?xml version="1.0" encoding="utf-8"?>
<p:tagLst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5919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42.xml><?xml version="1.0" encoding="utf-8"?>
<p:tagLst xmlns:p="http://schemas.openxmlformats.org/presentationml/2006/main">
  <p:tag name="KSO_WM_UNIT_TYPE" val="e"/>
  <p:tag name="KSO_WM_UNIT_INDEX" val="1"/>
  <p:tag name="KSO_WM_BEAUTIFY_FLAG" val="#wm#"/>
  <p:tag name="KSO_WM_TAG_VERSION" val="3.0"/>
  <p:tag name="KSO_WM_UNIT_ID" val="custom20235919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Lst>
</file>

<file path=ppt/tags/tag14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7"/>
  <p:tag name="KSO_WM_SLIDE_ID" val="custom20235919_7"/>
  <p:tag name="KSO_WM_TEMPLATE_MASTER_TYPE" val="0"/>
  <p:tag name="KSO_WM_SLIDE_LAYOUT" val="a_e"/>
  <p:tag name="KSO_WM_SLIDE_LAYOUT_CNT" val="1_1"/>
  <p:tag name="KSO_WM_TEMPLATE_COLORSEQUENCE" val="1,2,3,1,2,3"/>
</p:tagLst>
</file>

<file path=ppt/tags/tag1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6953_3*a*1"/>
  <p:tag name="KSO_WM_TEMPLATE_CATEGORY" val="diagram"/>
  <p:tag name="KSO_WM_TEMPLATE_INDEX" val="20236953"/>
  <p:tag name="KSO_WM_UNIT_LAYERLEVEL" val="1"/>
  <p:tag name="KSO_WM_TAG_VERSION" val="3.0"/>
  <p:tag name="KSO_WM_BEAUTIFY_FLAG" val="#wm#"/>
  <p:tag name="KSO_WM_UNIT_PRESET_TEXT" val="单击此处添加标题"/>
  <p:tag name="KSO_WM_UNIT_TEXT_TYPE" val="1"/>
</p:tagLst>
</file>

<file path=ppt/tags/tag145.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3_3*l_h_i*1_2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146.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3_3*l_h_i*1_3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147.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3_3*l_h_i*1_1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148.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3_3*l_h_a*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PRESET_TEXT" val="添加标题"/>
  <p:tag name="KSO_WM_UNIT_TEXT_FILL_FORE_SCHEMECOLOR_INDEX" val="1"/>
  <p:tag name="KSO_WM_UNIT_TEXT_FILL_TYPE" val="1"/>
  <p:tag name="KSO_WM_UNIT_TEXT_TYPE" val="1"/>
</p:tagLst>
</file>

<file path=ppt/tags/tag149.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3_3*l_h_f*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Lst>
</file>

<file path=ppt/tags/tag150.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3_3*l_h_i*1_4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Lst>
</file>

<file path=ppt/tags/tag151.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3_3*l_h_a*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PRESET_TEXT" val="添加标题"/>
  <p:tag name="KSO_WM_UNIT_TEXT_FILL_FORE_SCHEMECOLOR_INDEX" val="1"/>
  <p:tag name="KSO_WM_UNIT_TEXT_FILL_TYPE" val="1"/>
  <p:tag name="KSO_WM_UNIT_TEXT_TYPE" val="1"/>
</p:tagLst>
</file>

<file path=ppt/tags/tag152.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3_3*l_h_f*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Lst>
</file>

<file path=ppt/tags/tag153.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3_3*l_h_i*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Lst>
</file>

<file path=ppt/tags/tag154.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3_3*l_h_a*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PRESET_TEXT" val="添加标题"/>
  <p:tag name="KSO_WM_UNIT_TEXT_FILL_FORE_SCHEMECOLOR_INDEX" val="1"/>
  <p:tag name="KSO_WM_UNIT_TEXT_FILL_TYPE" val="1"/>
  <p:tag name="KSO_WM_UNIT_TEXT_TYPE" val="1"/>
</p:tagLst>
</file>

<file path=ppt/tags/tag155.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3_3*l_h_f*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Lst>
</file>

<file path=ppt/tags/tag156.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3_3*l_h_i*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Lst>
</file>

<file path=ppt/tags/tag157.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6953_3*l_h_a*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PRESET_TEXT" val="添加标题"/>
  <p:tag name="KSO_WM_UNIT_TEXT_FILL_FORE_SCHEMECOLOR_INDEX" val="1"/>
  <p:tag name="KSO_WM_UNIT_TEXT_FILL_TYPE" val="1"/>
  <p:tag name="KSO_WM_UNIT_TEXT_TYPE" val="1"/>
</p:tagLst>
</file>

<file path=ppt/tags/tag158.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3_3*l_h_f*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Lst>
</file>

<file path=ppt/tags/tag159.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3_3*l_h_i*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Lst>
</file>

<file path=ppt/tags/tag160.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3_3*l_h_i*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Lst>
</file>

<file path=ppt/tags/tag161.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9*74"/>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6953_3*l_h_x*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Lst>
</file>

<file path=ppt/tags/tag162.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4*79"/>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6953_3*l_h_x*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Lst>
</file>

<file path=ppt/tags/tag163.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9*79"/>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6953_3*l_h_x*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Lst>
</file>

<file path=ppt/tags/tag164.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92*9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6953_3*l_h_x*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Lst>
</file>

<file path=ppt/tags/tag165.xml><?xml version="1.0" encoding="utf-8"?>
<p:tagLst xmlns:p="http://schemas.openxmlformats.org/presentationml/2006/main">
  <p:tag name="KSO_WM_SLIDE_ID" val="diagram20236953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7.3*270.586"/>
  <p:tag name="KSO_WM_SLIDE_POSITION" val="82.6*179.814"/>
  <p:tag name="KSO_WM_DIAGRAM_GROUP_CODE" val="l1-1"/>
  <p:tag name="KSO_WM_SLIDE_DIAGTYPE" val="l"/>
  <p:tag name="KSO_WM_TAG_VERSION" val="3.0"/>
  <p:tag name="KSO_WM_BEAUTIFY_FLAG" val="#wm#"/>
  <p:tag name="KSO_WM_TEMPLATE_CATEGORY" val="diagram"/>
  <p:tag name="KSO_WM_TEMPLATE_INDEX" val="20236953"/>
  <p:tag name="KSO_WM_SLIDE_LAYOUT" val="a_l"/>
  <p:tag name="KSO_WM_SLIDE_LAYOUT_CNT" val="1_1"/>
</p:tagLst>
</file>

<file path=ppt/tags/tag166.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5612_7*l_i*1_1"/>
  <p:tag name="KSO_WM_TEMPLATE_CATEGORY" val="diagram"/>
  <p:tag name="KSO_WM_TEMPLATE_INDEX" val="20235612"/>
  <p:tag name="KSO_WM_UNIT_LAYERLEVEL" val="1_1"/>
  <p:tag name="KSO_WM_TAG_VERSION" val="3.0"/>
  <p:tag name="KSO_WM_BEAUTIFY_FLAG" val="#wm#"/>
  <p:tag name="KSO_WM_DIAGRAM_VERSION" val="3"/>
  <p:tag name="KSO_WM_DIAGRAM_COLOR_TRICK" val="1"/>
  <p:tag name="KSO_WM_DIAGRAM_COLOR_TEXT_CAN_REMOVE" val="n"/>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68.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VALUE" val="9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612_7*l_h_f*1_1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69.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VALUE" val="14"/>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612_7*l_h_a*1_1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0.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612_7*l_h_f*1_5_1"/>
  <p:tag name="KSO_WM_TEMPLATE_CATEGORY" val="diagram"/>
  <p:tag name="KSO_WM_TEMPLATE_INDEX" val="20235612"/>
  <p:tag name="KSO_WM_UNIT_LAYERLEVEL" val="1_1_1"/>
  <p:tag name="KSO_WM_TAG_VERSION" val="3.0"/>
  <p:tag name="KSO_WM_BEAUTIFY_FLAG" val="#wm#"/>
  <p:tag name="KSO_WM_UNIT_VALUE" val="90"/>
  <p:tag name="KSO_WM_DIAGRAM_VERSION" val="3"/>
  <p:tag name="KSO_WM_DIAGRAM_COLOR_TRICK" val="1"/>
  <p:tag name="KSO_WM_DIAGRAM_COLOR_TEXT_CAN_REMOVE" val="n"/>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1.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5612_7*l_h_a*1_5_1"/>
  <p:tag name="KSO_WM_TEMPLATE_CATEGORY" val="diagram"/>
  <p:tag name="KSO_WM_TEMPLATE_INDEX" val="20235612"/>
  <p:tag name="KSO_WM_UNIT_LAYERLEVEL" val="1_1_1"/>
  <p:tag name="KSO_WM_TAG_VERSION" val="3.0"/>
  <p:tag name="KSO_WM_BEAUTIFY_FLAG" val="#wm#"/>
  <p:tag name="KSO_WM_UNIT_VALUE" val="14"/>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2.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612_7*l_h_f*1_2_1"/>
  <p:tag name="KSO_WM_TEMPLATE_CATEGORY" val="diagram"/>
  <p:tag name="KSO_WM_TEMPLATE_INDEX" val="20235612"/>
  <p:tag name="KSO_WM_UNIT_LAYERLEVEL" val="1_1_1"/>
  <p:tag name="KSO_WM_TAG_VERSION" val="3.0"/>
  <p:tag name="KSO_WM_BEAUTIFY_FLAG" val="#wm#"/>
  <p:tag name="KSO_WM_UNIT_VALUE" val="90"/>
  <p:tag name="KSO_WM_DIAGRAM_VERSION" val="3"/>
  <p:tag name="KSO_WM_DIAGRAM_COLOR_TRICK" val="1"/>
  <p:tag name="KSO_WM_DIAGRAM_COLOR_TEXT_CAN_REMOVE" val="n"/>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3.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612_7*l_h_a*1_2_1"/>
  <p:tag name="KSO_WM_TEMPLATE_CATEGORY" val="diagram"/>
  <p:tag name="KSO_WM_TEMPLATE_INDEX" val="20235612"/>
  <p:tag name="KSO_WM_UNIT_LAYERLEVEL" val="1_1_1"/>
  <p:tag name="KSO_WM_TAG_VERSION" val="3.0"/>
  <p:tag name="KSO_WM_BEAUTIFY_FLAG" val="#wm#"/>
  <p:tag name="KSO_WM_UNIT_VALUE" val="14"/>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4.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612_7*l_h_f*1_6_1"/>
  <p:tag name="KSO_WM_TEMPLATE_CATEGORY" val="diagram"/>
  <p:tag name="KSO_WM_TEMPLATE_INDEX" val="20235612"/>
  <p:tag name="KSO_WM_UNIT_LAYERLEVEL" val="1_1_1"/>
  <p:tag name="KSO_WM_TAG_VERSION" val="3.0"/>
  <p:tag name="KSO_WM_BEAUTIFY_FLAG" val="#wm#"/>
  <p:tag name="KSO_WM_UNIT_VALUE" val="90"/>
  <p:tag name="KSO_WM_DIAGRAM_VERSION" val="3"/>
  <p:tag name="KSO_WM_DIAGRAM_COLOR_TRICK" val="1"/>
  <p:tag name="KSO_WM_DIAGRAM_COLOR_TEXT_CAN_REMOVE" val="n"/>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5.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35612_7*l_h_a*1_6_1"/>
  <p:tag name="KSO_WM_TEMPLATE_CATEGORY" val="diagram"/>
  <p:tag name="KSO_WM_TEMPLATE_INDEX" val="20235612"/>
  <p:tag name="KSO_WM_UNIT_LAYERLEVEL" val="1_1_1"/>
  <p:tag name="KSO_WM_TAG_VERSION" val="3.0"/>
  <p:tag name="KSO_WM_BEAUTIFY_FLAG" val="#wm#"/>
  <p:tag name="KSO_WM_UNIT_VALUE" val="14"/>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6.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612_7*l_h_f*1_3_1"/>
  <p:tag name="KSO_WM_TEMPLATE_CATEGORY" val="diagram"/>
  <p:tag name="KSO_WM_TEMPLATE_INDEX" val="20235612"/>
  <p:tag name="KSO_WM_UNIT_LAYERLEVEL" val="1_1_1"/>
  <p:tag name="KSO_WM_TAG_VERSION" val="3.0"/>
  <p:tag name="KSO_WM_BEAUTIFY_FLAG" val="#wm#"/>
  <p:tag name="KSO_WM_UNIT_VALUE" val="90"/>
  <p:tag name="KSO_WM_DIAGRAM_VERSION" val="3"/>
  <p:tag name="KSO_WM_DIAGRAM_COLOR_TRICK" val="1"/>
  <p:tag name="KSO_WM_DIAGRAM_COLOR_TEXT_CAN_REMOVE" val="n"/>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7.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5612_7*l_h_a*1_3_1"/>
  <p:tag name="KSO_WM_TEMPLATE_CATEGORY" val="diagram"/>
  <p:tag name="KSO_WM_TEMPLATE_INDEX" val="20235612"/>
  <p:tag name="KSO_WM_UNIT_LAYERLEVEL" val="1_1_1"/>
  <p:tag name="KSO_WM_TAG_VERSION" val="3.0"/>
  <p:tag name="KSO_WM_BEAUTIFY_FLAG" val="#wm#"/>
  <p:tag name="KSO_WM_UNIT_VALUE" val="14"/>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8.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35612_7*l_h_f*1_7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79.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7_1"/>
  <p:tag name="KSO_WM_UNIT_ID" val="diagram20235612_7*l_h_a*1_7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80.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612_7*l_h_f*1_4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VALUE" val="90"/>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81.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5612_7*l_h_a*1_4_1"/>
  <p:tag name="KSO_WM_TEMPLATE_CATEGORY" val="diagram"/>
  <p:tag name="KSO_WM_TEMPLATE_INDEX" val="20235612"/>
  <p:tag name="KSO_WM_UNIT_LAYERLEVEL" val="1_1_1"/>
  <p:tag name="KSO_WM_TAG_VERSION" val="3.0"/>
  <p:tag name="KSO_WM_BEAUTIFY_FLAG" val="#wm#"/>
  <p:tag name="KSO_WM_UNIT_VALUE" val="14"/>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82.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35612_7*l_h_f*1_8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VALUE" val="90"/>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83.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8_1"/>
  <p:tag name="KSO_WM_UNIT_ID" val="diagram20235612_7*l_h_a*1_8_1"/>
  <p:tag name="KSO_WM_TEMPLATE_CATEGORY" val="diagram"/>
  <p:tag name="KSO_WM_TEMPLATE_INDEX" val="20235612"/>
  <p:tag name="KSO_WM_UNIT_LAYERLEVEL" val="1_1_1"/>
  <p:tag name="KSO_WM_TAG_VERSION" val="3.0"/>
  <p:tag name="KSO_WM_BEAUTIFY_FLAG" val="#wm#"/>
  <p:tag name="KSO_WM_DIAGRAM_VERSION" val="3"/>
  <p:tag name="KSO_WM_DIAGRAM_COLOR_TRICK" val="1"/>
  <p:tag name="KSO_WM_DIAGRAM_COLOR_TEXT_CAN_REMOVE" val="n"/>
  <p:tag name="KSO_WM_UNIT_VALUE" val="14"/>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6.6082680697704,&quot;left&quot;:47.87503937007874,&quot;top&quot;:220.37078704833985,&quot;width&quot;:86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84.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 name="resource_record_key" val="{&quot;65&quot;:[20235919],&quot;70&quot;:[3426464,3405429,3405765,3405781,3405531,3405445]}"/>
</p:tagLst>
</file>

<file path=ppt/tags/tag185.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670_6*l_h_i*1_2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8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670_6*l_h_f*1_1_1"/>
  <p:tag name="KSO_WM_TEMPLATE_CATEGORY" val="diagram"/>
  <p:tag name="KSO_WM_TEMPLATE_INDEX" val="20235670"/>
  <p:tag name="KSO_WM_UNIT_LAYERLEVEL" val="1_1_1"/>
  <p:tag name="KSO_WM_TAG_VERSION" val="3.0"/>
  <p:tag name="KSO_WM_BEAUTIFY_FLAG" val="#wm#"/>
  <p:tag name="KSO_WM_UNIT_VALUE" val="30"/>
  <p:tag name="KSO_WM_UNIT_PRESET_TEXT" val="单击添加正文，文字是思想的提炼，请言简意赅的阐述您的观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8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670_6*l_h_a*1_1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8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670_6*l_h_f*1_2_1"/>
  <p:tag name="KSO_WM_TEMPLATE_CATEGORY" val="diagram"/>
  <p:tag name="KSO_WM_TEMPLATE_INDEX" val="20235670"/>
  <p:tag name="KSO_WM_UNIT_LAYERLEVEL" val="1_1_1"/>
  <p:tag name="KSO_WM_TAG_VERSION" val="3.0"/>
  <p:tag name="KSO_WM_BEAUTIFY_FLAG" val="#wm#"/>
  <p:tag name="KSO_WM_UNIT_PRESET_TEXT" val="单击添加正文，文字是您思想的提炼，请尽量言简阐述内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670_6*l_h_a*1_2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670_6*l_h_i*1_3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670_6*l_h_f*1_3_1"/>
  <p:tag name="KSO_WM_TEMPLATE_CATEGORY" val="diagram"/>
  <p:tag name="KSO_WM_TEMPLATE_INDEX" val="20235670"/>
  <p:tag name="KSO_WM_UNIT_LAYERLEVEL" val="1_1_1"/>
  <p:tag name="KSO_WM_TAG_VERSION" val="3.0"/>
  <p:tag name="KSO_WM_BEAUTIFY_FLAG" val="#wm#"/>
  <p:tag name="KSO_WM_UNIT_PRESET_TEXT" val="单击添加正文，文字是思想的提炼，请言简意赅的阐述您的观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5670_6*l_h_a*1_3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5670_6*l_h_i*1_4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670_6*l_h_f*1_4_1"/>
  <p:tag name="KSO_WM_TEMPLATE_CATEGORY" val="diagram"/>
  <p:tag name="KSO_WM_TEMPLATE_INDEX" val="20235670"/>
  <p:tag name="KSO_WM_UNIT_LAYERLEVEL" val="1_1_1"/>
  <p:tag name="KSO_WM_TAG_VERSION" val="3.0"/>
  <p:tag name="KSO_WM_BEAUTIFY_FLAG" val="#wm#"/>
  <p:tag name="KSO_WM_UNIT_PRESET_TEXT" val="单击添加正文，文字是您思想的提炼，请尽量言简阐述内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5670_6*l_h_a*1_4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35670_6*l_h_i*1_6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670_6*l_h_f*1_5_1"/>
  <p:tag name="KSO_WM_TEMPLATE_CATEGORY" val="diagram"/>
  <p:tag name="KSO_WM_TEMPLATE_INDEX" val="20235670"/>
  <p:tag name="KSO_WM_UNIT_LAYERLEVEL" val="1_1_1"/>
  <p:tag name="KSO_WM_TAG_VERSION" val="3.0"/>
  <p:tag name="KSO_WM_BEAUTIFY_FLAG" val="#wm#"/>
  <p:tag name="KSO_WM_UNIT_PRESET_TEXT" val="单击添加正文，文字是您思想的提炼，请尽量言简阐述内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5670_6*l_h_a*1_5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670_6*l_h_f*1_6_1"/>
  <p:tag name="KSO_WM_TEMPLATE_CATEGORY" val="diagram"/>
  <p:tag name="KSO_WM_TEMPLATE_INDEX" val="20235670"/>
  <p:tag name="KSO_WM_UNIT_LAYERLEVEL" val="1_1_1"/>
  <p:tag name="KSO_WM_TAG_VERSION" val="3.0"/>
  <p:tag name="KSO_WM_BEAUTIFY_FLAG" val="#wm#"/>
  <p:tag name="KSO_WM_UNIT_PRESET_TEXT" val="单击添加正文，文字是思想的提炼，请言简意赅的阐述您的观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35670_6*l_h_a*1_6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7_1"/>
  <p:tag name="KSO_WM_UNIT_ID" val="diagram20235670_6*l_h_i*1_7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0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35670_6*l_h_f*1_7_1"/>
  <p:tag name="KSO_WM_TEMPLATE_CATEGORY" val="diagram"/>
  <p:tag name="KSO_WM_TEMPLATE_INDEX" val="20235670"/>
  <p:tag name="KSO_WM_UNIT_LAYERLEVEL" val="1_1_1"/>
  <p:tag name="KSO_WM_TAG_VERSION" val="3.0"/>
  <p:tag name="KSO_WM_BEAUTIFY_FLAG" val="#wm#"/>
  <p:tag name="KSO_WM_UNIT_PRESET_TEXT" val="单击添加正文，文字是您思想的提炼，请尽量言简阐述内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7_1"/>
  <p:tag name="KSO_WM_UNIT_ID" val="diagram20235670_6*l_h_a*1_7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8_1"/>
  <p:tag name="KSO_WM_UNIT_ID" val="diagram20235670_6*l_h_i*1_8_1"/>
  <p:tag name="KSO_WM_TEMPLATE_CATEGORY" val="diagram"/>
  <p:tag name="KSO_WM_TEMPLATE_INDEX" val="20235670"/>
  <p:tag name="KSO_WM_UNIT_LAYERLEVEL" val="1_1_1"/>
  <p:tag name="KSO_WM_TAG_VERSION" val="3.0"/>
  <p:tag name="KSO_WM_BEAUTIFY_FLAG" val="#wm#"/>
  <p:tag name="KSO_WM_UNIT_LINE_FORE_SCHEMECOLOR_INDEX" val="-2"/>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gradient&quot;:[{&quot;brightness&quot;:0,&quot;colorType&quot;:1,&quot;foreColorIndex&quot;:5,&quot;pos&quot;:0.10000000149011612,&quot;transparency&quot;:1},{&quot;brightness&quot;:0,&quot;colorType&quot;:1,&quot;foreColorIndex&quot;:5,&quot;pos&quot;:0.5,&quot;transparency&quot;:0.5},{&quot;brightness&quot;:0,&quot;colorType&quot;:1,&quot;foreColorIndex&quot;:5,&quot;pos&quot;:0.8999999761581421,&quot;transparency&quot;:1}],&quot;type&quot;:2},&quot;shadow&quot;:{&quot;colorType&quot;:0},&quot;threeD&quot;:{&quot;curvedSurface&quot;:{&quot;brightness&quot;:0,&quot;colorType&quot;:2,&quot;rgb&quot;:&quot;#000000&quot;},&quot;depth&quot;:{&quot;colorType&quot;:0}}},&quot;text&quot;:{&quot;fill&quot;:{},&quot;glow&quot;:{},&quot;line&quot;:{},&quot;shadow&quot;:{},&quot;threeD&quot;:{}}}"/>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35670_6*l_h_f*1_8_1"/>
  <p:tag name="KSO_WM_TEMPLATE_CATEGORY" val="diagram"/>
  <p:tag name="KSO_WM_TEMPLATE_INDEX" val="20235670"/>
  <p:tag name="KSO_WM_UNIT_LAYERLEVEL" val="1_1_1"/>
  <p:tag name="KSO_WM_TAG_VERSION" val="3.0"/>
  <p:tag name="KSO_WM_BEAUTIFY_FLAG" val="#wm#"/>
  <p:tag name="KSO_WM_UNIT_PRESET_TEXT" val="单击添加正文，文字是思想的提炼，请言简意赅的阐述您的观点。"/>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8_1"/>
  <p:tag name="KSO_WM_UNIT_ID" val="diagram20235670_6*l_h_a*1_8_1"/>
  <p:tag name="KSO_WM_TEMPLATE_CATEGORY" val="diagram"/>
  <p:tag name="KSO_WM_TEMPLATE_INDEX" val="2023567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8"/>
  <p:tag name="KSO_WM_DIAGRAM_MIN_ITEMCNT" val="3"/>
  <p:tag name="KSO_WM_DIAGRAM_VIRTUALLY_FRAME" val="{&quot;height&quot;:170.95385826771653,&quot;left&quot;:47.92498779296875,&quot;top&quot;:243.20007874015747,&quot;width&quot;:864.150051577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08.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 name="resource_record_key" val="{&quot;65&quot;:[20235919],&quot;70&quot;:[3426464,3405429,3405781,3405765,3407006]}"/>
</p:tagLst>
</file>

<file path=ppt/tags/tag209.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i*1_1"/>
  <p:tag name="KSO_WM_TEMPLATE_CATEGORY" val="diagram"/>
  <p:tag name="KSO_WM_TEMPLATE_INDEX" val="20235612"/>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f*1_1_1"/>
  <p:tag name="KSO_WM_TEMPLATE_CATEGORY" val="diagram"/>
  <p:tag name="KSO_WM_TEMPLATE_INDEX" val="20235612"/>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VALUE" val="92"/>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a*1_1_1"/>
  <p:tag name="KSO_WM_TEMPLATE_CATEGORY" val="diagram"/>
  <p:tag name="KSO_WM_TEMPLATE_INDEX" val="20235612"/>
  <p:tag name="KSO_WM_UNIT_LAYERLEVEL" val="1_1_1"/>
  <p:tag name="KSO_WM_TAG_VERSION" val="3.0"/>
  <p:tag name="KSO_WM_BEAUTIFY_FLAG" val="#wm#"/>
  <p:tag name="KSO_WM_UNIT_ISCONTENTSTITLE" val="0"/>
  <p:tag name="KSO_WM_UNIT_ISNUMDGMTITLE" val="0"/>
  <p:tag name="KSO_WM_UNIT_PRESET_TEXT_INDEX" val="-1"/>
  <p:tag name="KSO_WM_UNIT_PRESET_TEXT_LEN"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UNIT_VALUE" val="18"/>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f*1_4_1"/>
  <p:tag name="KSO_WM_TEMPLATE_CATEGORY" val="diagram"/>
  <p:tag name="KSO_WM_TEMPLATE_INDEX" val="20235612"/>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VALUE" val="92"/>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a*1_4_1"/>
  <p:tag name="KSO_WM_TEMPLATE_CATEGORY" val="diagram"/>
  <p:tag name="KSO_WM_TEMPLATE_INDEX" val="20235612"/>
  <p:tag name="KSO_WM_UNIT_LAYERLEVEL" val="1_1_1"/>
  <p:tag name="KSO_WM_TAG_VERSION" val="3.0"/>
  <p:tag name="KSO_WM_BEAUTIFY_FLAG" val="#wm#"/>
  <p:tag name="KSO_WM_UNIT_ISCONTENTSTITLE" val="0"/>
  <p:tag name="KSO_WM_UNIT_ISNUMDGMTITLE" val="0"/>
  <p:tag name="KSO_WM_UNIT_PRESET_TEXT_INDEX" val="-1"/>
  <p:tag name="KSO_WM_UNIT_PRESET_TEXT_LEN"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UNIT_VALUE" val="18"/>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f*1_2_1"/>
  <p:tag name="KSO_WM_TEMPLATE_CATEGORY" val="diagram"/>
  <p:tag name="KSO_WM_TEMPLATE_INDEX" val="20235612"/>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VALUE" val="92"/>
  <p:tag name="KSO_WM_UNIT_PRESET_TEXT" val="添加正文 ，文字是您思想的提炼，为了最终演示发布的良好效果，请尽量言简意赅的阐述观点。根据需要可酌情增减文字。单击此处添加正文，文字是您思想的提炼，请言简意赅的阐述您的观点。"/>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a*1_2_1"/>
  <p:tag name="KSO_WM_TEMPLATE_CATEGORY" val="diagram"/>
  <p:tag name="KSO_WM_TEMPLATE_INDEX" val="20235612"/>
  <p:tag name="KSO_WM_UNIT_LAYERLEVEL" val="1_1_1"/>
  <p:tag name="KSO_WM_TAG_VERSION" val="3.0"/>
  <p:tag name="KSO_WM_BEAUTIFY_FLAG" val="#wm#"/>
  <p:tag name="KSO_WM_UNIT_ISCONTENTSTITLE" val="0"/>
  <p:tag name="KSO_WM_UNIT_ISNUMDGMTITLE" val="0"/>
  <p:tag name="KSO_WM_UNIT_PRESET_TEXT_INDEX" val="-1"/>
  <p:tag name="KSO_WM_UNIT_PRESET_TEXT_LEN" val="0"/>
  <p:tag name="KSO_WM_UNIT_NOCLEAR" val="0"/>
  <p:tag name="KSO_WM_DIAGRAM_GROUP_CODE" val="l1-1"/>
  <p:tag name="KSO_WM_UNIT_TYPE" val="l_h_a"/>
  <p:tag name="KSO_WM_UNIT_INDEX" val="1_2_1"/>
  <p:tag name="KSO_WM_DIAGRAM_VERSION" val="3"/>
  <p:tag name="KSO_WM_DIAGRAM_COLOR_TRICK" val="1"/>
  <p:tag name="KSO_WM_DIAGRAM_COLOR_TEXT_CAN_REMOVE" val="n"/>
  <p:tag name="KSO_WM_UNIT_VALUE" val="18"/>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f*1_5_1"/>
  <p:tag name="KSO_WM_TEMPLATE_CATEGORY" val="diagram"/>
  <p:tag name="KSO_WM_TEMPLATE_INDEX" val="20235612"/>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l1-1"/>
  <p:tag name="KSO_WM_UNIT_TYPE" val="l_h_f"/>
  <p:tag name="KSO_WM_UNIT_INDEX" val="1_5_1"/>
  <p:tag name="KSO_WM_DIAGRAM_VERSION" val="3"/>
  <p:tag name="KSO_WM_DIAGRAM_COLOR_TRICK" val="1"/>
  <p:tag name="KSO_WM_DIAGRAM_COLOR_TEXT_CAN_REMOVE" val="n"/>
  <p:tag name="KSO_WM_UNIT_VALUE" val="92"/>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a*1_5_1"/>
  <p:tag name="KSO_WM_TEMPLATE_CATEGORY" val="diagram"/>
  <p:tag name="KSO_WM_TEMPLATE_INDEX" val="20235612"/>
  <p:tag name="KSO_WM_UNIT_LAYERLEVEL" val="1_1_1"/>
  <p:tag name="KSO_WM_TAG_VERSION" val="3.0"/>
  <p:tag name="KSO_WM_BEAUTIFY_FLAG" val="#wm#"/>
  <p:tag name="KSO_WM_UNIT_ISCONTENTSTITLE" val="0"/>
  <p:tag name="KSO_WM_UNIT_ISNUMDGMTITLE" val="0"/>
  <p:tag name="KSO_WM_UNIT_PRESET_TEXT_INDEX" val="-1"/>
  <p:tag name="KSO_WM_UNIT_PRESET_TEXT_LEN" val="0"/>
  <p:tag name="KSO_WM_UNIT_NOCLEAR" val="0"/>
  <p:tag name="KSO_WM_DIAGRAM_GROUP_CODE" val="l1-1"/>
  <p:tag name="KSO_WM_UNIT_TYPE" val="l_h_a"/>
  <p:tag name="KSO_WM_UNIT_INDEX" val="1_5_1"/>
  <p:tag name="KSO_WM_DIAGRAM_VERSION" val="3"/>
  <p:tag name="KSO_WM_DIAGRAM_COLOR_TRICK" val="1"/>
  <p:tag name="KSO_WM_DIAGRAM_COLOR_TEXT_CAN_REMOVE" val="n"/>
  <p:tag name="KSO_WM_UNIT_VALUE" val="18"/>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f*1_3_1"/>
  <p:tag name="KSO_WM_TEMPLATE_CATEGORY" val="diagram"/>
  <p:tag name="KSO_WM_TEMPLATE_INDEX" val="20235612"/>
  <p:tag name="KSO_WM_UNIT_LAYERLEVEL" val="1_1_1"/>
  <p:tag name="KSO_WM_TAG_VERSION" val="3.0"/>
  <p:tag name="KSO_WM_BEAUTIFY_FLAG" val="#wm#"/>
  <p:tag name="KSO_WM_UNIT_SUBTYPE" val="a"/>
  <p:tag name="KSO_WM_UNIT_TEXT_LAYER_COUNT" val="1"/>
  <p:tag name="KSO_WM_UNIT_PRESET_TEXT_INDEX" val="-1"/>
  <p:tag name="KSO_WM_UNIT_PRESET_TEXT_LEN" val="0"/>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VALUE" val="92"/>
  <p:tag name="KSO_WM_UNIT_PRESET_TEXT" val="单击此处添加正文，文字是您思想的提炼，为了最终演示发布的良好效果，请您言简意赅的阐述观点。根据您的需要可以酌情增减文字，以便观者准确理解您所传达的信息。文字是您思想的提炼。"/>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12_4*l_h_a*1_3_1"/>
  <p:tag name="KSO_WM_TEMPLATE_CATEGORY" val="diagram"/>
  <p:tag name="KSO_WM_TEMPLATE_INDEX" val="20235612"/>
  <p:tag name="KSO_WM_UNIT_LAYERLEVEL" val="1_1_1"/>
  <p:tag name="KSO_WM_TAG_VERSION" val="3.0"/>
  <p:tag name="KSO_WM_BEAUTIFY_FLAG" val="#wm#"/>
  <p:tag name="KSO_WM_UNIT_ISCONTENTSTITLE" val="0"/>
  <p:tag name="KSO_WM_UNIT_ISNUMDGMTITLE" val="0"/>
  <p:tag name="KSO_WM_UNIT_PRESET_TEXT_INDEX" val="-1"/>
  <p:tag name="KSO_WM_UNIT_PRESET_TEXT_LEN" val="0"/>
  <p:tag name="KSO_WM_UNIT_NOCLEAR" val="0"/>
  <p:tag name="KSO_WM_DIAGRAM_GROUP_CODE" val="l1-1"/>
  <p:tag name="KSO_WM_UNIT_TYPE" val="l_h_a"/>
  <p:tag name="KSO_WM_UNIT_INDEX" val="1_3_1"/>
  <p:tag name="KSO_WM_DIAGRAM_VERSION" val="3"/>
  <p:tag name="KSO_WM_DIAGRAM_COLOR_TRICK" val="1"/>
  <p:tag name="KSO_WM_DIAGRAM_COLOR_TEXT_CAN_REMOVE" val="n"/>
  <p:tag name="KSO_WM_UNIT_VALUE" val="18"/>
  <p:tag name="KSO_WM_UNIT_PRESET_TEXT" val="单击添加项标题"/>
  <p:tag name="KSO_WM_UNIT_TEXT_FILL_FORE_SCHEMECOLOR_INDEX" val="1"/>
  <p:tag name="KSO_WM_UNIT_TEXT_FILL_TYPE" val="1"/>
  <p:tag name="KSO_WM_UNIT_TEXT_TYPE" val="1"/>
  <p:tag name="KSO_WM_DIAGRAM_MAX_ITEMCNT" val="8"/>
  <p:tag name="KSO_WM_DIAGRAM_MIN_ITEMCNT" val="2"/>
  <p:tag name="KSO_WM_DIAGRAM_VIRTUALLY_FRAME" val="{&quot;height&quot;:218.3750457763672,&quot;left&quot;:48.30000610351563,&quot;top&quot;:218.7124771118164,&quot;width&quot;:86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1.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 name="resource_record_key" val="{&quot;65&quot;:[20235919],&quot;70&quot;:[3426464,3405429,3405781,3405765,3407006]}"/>
</p:tagLst>
</file>

<file path=ppt/tags/tag222.xml><?xml version="1.0" encoding="utf-8"?>
<p:tagLst xmlns:p="http://schemas.openxmlformats.org/presentationml/2006/main">
  <p:tag name="KSO_WM_UNIT_TYPE" val="a"/>
  <p:tag name="KSO_WM_UNIT_INDEX" val="1"/>
  <p:tag name="KSO_WM_BEAUTIFY_FLAG" val="#wm#"/>
  <p:tag name="KSO_WM_TAG_VERSION" val="3.0"/>
  <p:tag name="KSO_WM_UNIT_PRESET_TEXT" val="单击此处添加标题"/>
  <p:tag name="KSO_WM_UNIT_ID" val="custom20235919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a*1_1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PRESET_TEXT" val="单击此处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f*1_1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i*1_1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
  <p:tag name="KSO_WM_UNIT_FILL_TYPE" val="1"/>
  <p:tag name="KSO_WM_UNIT_FILL_FORE_SCHEMECOLOR_INDEX" val="5"/>
  <p:tag name="KSO_WM_UNIT_FILL_FORE_SCHEMECOLOR_INDEX_BRIGHTNESS" val="0.4"/>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a*1_2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PRESET_TEXT" val="单击此处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f*1_2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PRESET_TEXT" val="单击添加正文，文字是您思想的提炼，为了最终演示发布的良好效果，请言简意赅的阐述观点。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i*1_2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
  <p:tag name="KSO_WM_UNIT_FILL_TYPE" val="1"/>
  <p:tag name="KSO_WM_UNIT_FILL_FORE_SCHEMECOLOR_INDEX" val="5"/>
  <p:tag name="KSO_WM_UNIT_FILL_FORE_SCHEMECOLOR_INDEX_BRIGHTNESS" val="0.4"/>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a*1_3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单击此处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f*1_3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添加正文，文字是您思想的提炼，为了最终演示发布的良好效果，请言简意赅的阐述观点。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i*1_3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
  <p:tag name="KSO_WM_UNIT_FILL_TYPE" val="1"/>
  <p:tag name="KSO_WM_UNIT_FILL_FORE_SCHEMECOLOR_INDEX" val="5"/>
  <p:tag name="KSO_WM_UNIT_FILL_FORE_SCHEMECOLOR_INDEX_BRIGHTNESS" val="0.4"/>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a*1_4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4_1"/>
  <p:tag name="KSO_WM_UNIT_PRESET_TEXT" val="单击此处添加项目标题"/>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f*1_4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4_1"/>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78_3*l_h_i*1_4_1"/>
  <p:tag name="KSO_WM_TEMPLATE_CATEGORY" val="diagram"/>
  <p:tag name="KSO_WM_TEMPLATE_INDEX" val="40492878"/>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4_1"/>
  <p:tag name="KSO_WM_UNIT_FILL_TYPE" val="1"/>
  <p:tag name="KSO_WM_UNIT_FILL_FORE_SCHEMECOLOR_INDEX" val="5"/>
  <p:tag name="KSO_WM_UNIT_FILL_FORE_SCHEMECOLOR_INDEX_BRIGHTNESS" val="0.4"/>
  <p:tag name="KSO_WM_DIAGRAM_MAX_ITEMCNT" val="4"/>
  <p:tag name="KSO_WM_DIAGRAM_MIN_ITEMCNT" val="2"/>
  <p:tag name="KSO_WM_DIAGRAM_VIRTUALLY_FRAME" val="{&quot;height&quot;:216.32504089595767,&quot;left&quot;:47.75,&quot;top&quot;:220.4999984741211,&quot;width&quot;:864.5}"/>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35.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 name="resource_record_key" val="{&quot;65&quot;:[20235919],&quot;70&quot;:[3426464,3405429,3405781,3405765,3407006]}"/>
</p:tagLst>
</file>

<file path=ppt/tags/tag23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7.xml><?xml version="1.0" encoding="utf-8"?>
<p:tagLst xmlns:p="http://schemas.openxmlformats.org/presentationml/2006/main">
  <p:tag name="KSO_WM_BEAUTIFY_FLAG" val="#wm#"/>
  <p:tag name="KSO_WM_TEMPLATE_CATEGORY" val="custom"/>
  <p:tag name="KSO_WM_TEMPLATE_INDEX" val="20235919"/>
</p:tagLst>
</file>

<file path=ppt/tags/tag23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9.xml><?xml version="1.0" encoding="utf-8"?>
<p:tagLst xmlns:p="http://schemas.openxmlformats.org/presentationml/2006/main">
  <p:tag name="KSO_WM_BEAUTIFY_FLAG" val="#wm#"/>
  <p:tag name="KSO_WM_TEMPLATE_CATEGORY" val="custom"/>
  <p:tag name="KSO_WM_TEMPLATE_INDEX" val="20235919"/>
</p:tagLst>
</file>

<file path=ppt/tags/tag24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1.xml><?xml version="1.0" encoding="utf-8"?>
<p:tagLst xmlns:p="http://schemas.openxmlformats.org/presentationml/2006/main">
  <p:tag name="KSO_WM_BEAUTIFY_FLAG" val="#wm#"/>
  <p:tag name="KSO_WM_TEMPLATE_CATEGORY" val="custom"/>
  <p:tag name="KSO_WM_TEMPLATE_INDEX" val="20235919"/>
</p:tagLst>
</file>

<file path=ppt/tags/tag24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3.xml><?xml version="1.0" encoding="utf-8"?>
<p:tagLst xmlns:p="http://schemas.openxmlformats.org/presentationml/2006/main">
  <p:tag name="KSO_WM_BEAUTIFY_FLAG" val="#wm#"/>
  <p:tag name="KSO_WM_TEMPLATE_CATEGORY" val="custom"/>
  <p:tag name="KSO_WM_TEMPLATE_INDEX" val="20235919"/>
</p:tagLst>
</file>

<file path=ppt/tags/tag2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5.xml><?xml version="1.0" encoding="utf-8"?>
<p:tagLst xmlns:p="http://schemas.openxmlformats.org/presentationml/2006/main">
  <p:tag name="KSO_WM_BEAUTIFY_FLAG" val="#wm#"/>
  <p:tag name="KSO_WM_TEMPLATE_CATEGORY" val="custom"/>
  <p:tag name="KSO_WM_TEMPLATE_INDEX" val="20235919"/>
</p:tagLst>
</file>

<file path=ppt/tags/tag2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7.xml><?xml version="1.0" encoding="utf-8"?>
<p:tagLst xmlns:p="http://schemas.openxmlformats.org/presentationml/2006/main">
  <p:tag name="KSO_WM_BEAUTIFY_FLAG" val="#wm#"/>
  <p:tag name="KSO_WM_TEMPLATE_CATEGORY" val="custom"/>
  <p:tag name="KSO_WM_TEMPLATE_INDEX" val="20235919"/>
</p:tagLst>
</file>

<file path=ppt/tags/tag24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9.xml><?xml version="1.0" encoding="utf-8"?>
<p:tagLst xmlns:p="http://schemas.openxmlformats.org/presentationml/2006/main">
  <p:tag name="KSO_WM_BEAUTIFY_FLAG" val="#wm#"/>
  <p:tag name="KSO_WM_TEMPLATE_CATEGORY" val="custom"/>
  <p:tag name="KSO_WM_TEMPLATE_INDEX" val="20235919"/>
</p:tagLst>
</file>

<file path=ppt/tags/tag250.xml><?xml version="1.0" encoding="utf-8"?>
<p:tagLst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5919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251.xml><?xml version="1.0" encoding="utf-8"?>
<p:tagLst xmlns:p="http://schemas.openxmlformats.org/presentationml/2006/main">
  <p:tag name="KSO_WM_UNIT_TYPE" val="e"/>
  <p:tag name="KSO_WM_UNIT_INDEX" val="1"/>
  <p:tag name="KSO_WM_BEAUTIFY_FLAG" val="#wm#"/>
  <p:tag name="KSO_WM_TAG_VERSION" val="3.0"/>
  <p:tag name="KSO_WM_UNIT_ID" val="custom20235919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Lst>
</file>

<file path=ppt/tags/tag25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7"/>
  <p:tag name="KSO_WM_SLIDE_ID" val="custom20235919_7"/>
  <p:tag name="KSO_WM_TEMPLATE_MASTER_TYPE" val="0"/>
  <p:tag name="KSO_WM_SLIDE_LAYOUT" val="a_e"/>
  <p:tag name="KSO_WM_SLIDE_LAYOUT_CNT" val="1_1"/>
  <p:tag name="KSO_WM_TEMPLATE_COLORSEQUENCE" val="1,2,3,1,2,3"/>
</p:tagLst>
</file>

<file path=ppt/tags/tag253.xml><?xml version="1.0" encoding="utf-8"?>
<p:tagLst xmlns:p="http://schemas.openxmlformats.org/presentationml/2006/main">
  <p:tag name="KSO_WM_UNIT_TYPE" val="a"/>
  <p:tag name="KSO_WM_UNIT_INDEX" val="1"/>
  <p:tag name="KSO_WM_BEAUTIFY_FLAG" val="#wm#"/>
  <p:tag name="KSO_WM_TAG_VERSION" val="3.0"/>
  <p:tag name="KSO_WM_UNIT_PRESET_TEXT" val="添加章节标题"/>
  <p:tag name="KSO_WM_UNIT_ID" val="custom20235919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254.xml><?xml version="1.0" encoding="utf-8"?>
<p:tagLst xmlns:p="http://schemas.openxmlformats.org/presentationml/2006/main">
  <p:tag name="KSO_WM_UNIT_TYPE" val="e"/>
  <p:tag name="KSO_WM_UNIT_INDEX" val="1"/>
  <p:tag name="KSO_WM_BEAUTIFY_FLAG" val="#wm#"/>
  <p:tag name="KSO_WM_TAG_VERSION" val="3.0"/>
  <p:tag name="KSO_WM_UNIT_ID" val="custom20235919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Lst>
</file>

<file path=ppt/tags/tag255.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7"/>
  <p:tag name="KSO_WM_SLIDE_ID" val="custom20235919_7"/>
  <p:tag name="KSO_WM_TEMPLATE_MASTER_TYPE" val="0"/>
  <p:tag name="KSO_WM_SLIDE_LAYOUT" val="a_e"/>
  <p:tag name="KSO_WM_SLIDE_LAYOUT_CNT" val="1_1"/>
  <p:tag name="KSO_WM_TEMPLATE_COLORSEQUENCE" val="1,2,3,1,2,3"/>
</p:tagLst>
</file>

<file path=ppt/tags/tag256.xml><?xml version="1.0" encoding="utf-8"?>
<p:tagLst xmlns:p="http://schemas.openxmlformats.org/presentationml/2006/main">
  <p:tag name="KSO_WM_UNIT_TYPE" val="a"/>
  <p:tag name="KSO_WM_UNIT_INDEX" val="1"/>
  <p:tag name="KSO_WM_BEAUTIFY_FLAG" val="#wm#"/>
  <p:tag name="KSO_WM_TAG_VERSION" val="3.0"/>
  <p:tag name="KSO_WM_UNIT_ID" val="custom20235919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Lst>
</file>

<file path=ppt/tags/tag257.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919"/>
  <p:tag name="KSO_WM_TEMPLATE_CATEGORY" val="custom"/>
  <p:tag name="KSO_WM_SLIDE_INDEX" val="9"/>
  <p:tag name="KSO_WM_SLIDE_ID" val="custom20235919_9"/>
  <p:tag name="KSO_WM_TEMPLATE_MASTER_TYPE" val="0"/>
  <p:tag name="KSO_WM_SLIDE_LAYOUT" val="a_f"/>
  <p:tag name="KSO_WM_SLIDE_LAYOUT_CNT" val="1_2"/>
  <p:tag name="KSO_WM_TEMPLATE_COLORSEQUENCE" val="1,2,3,1,2,3"/>
</p:tagLst>
</file>

<file path=ppt/tags/tag258.xml><?xml version="1.0" encoding="utf-8"?>
<p:tagLst xmlns:p="http://schemas.openxmlformats.org/presentationml/2006/main">
  <p:tag name="resource_record_key" val="{&quot;65&quot;:[20235919],&quot;70&quot;:[3426464,3405429,3405765,3405781,3407006,3405531,3405445]}"/>
</p:tagLst>
</file>

<file path=ppt/theme/theme1.xml><?xml version="1.0" encoding="utf-8"?>
<a:theme xmlns:a="http://schemas.openxmlformats.org/drawingml/2006/main" name="蓝色职场办公简约风主题">
  <a:themeElements>
    <a:clrScheme name="">
      <a:dk1>
        <a:srgbClr val="333333"/>
      </a:dk1>
      <a:lt1>
        <a:srgbClr val="FFFFFF"/>
      </a:lt1>
      <a:dk2>
        <a:srgbClr val="001A3A"/>
      </a:dk2>
      <a:lt2>
        <a:srgbClr val="F7FAFF"/>
      </a:lt2>
      <a:accent1>
        <a:srgbClr val="016EFF"/>
      </a:accent1>
      <a:accent2>
        <a:srgbClr val="624AF0"/>
      </a:accent2>
      <a:accent3>
        <a:srgbClr val="9618F4"/>
      </a:accent3>
      <a:accent4>
        <a:srgbClr val="F7219B"/>
      </a:accent4>
      <a:accent5>
        <a:srgbClr val="F02836"/>
      </a:accent5>
      <a:accent6>
        <a:srgbClr val="EE672A"/>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buClrTx/>
          <a:buSzTx/>
          <a:buFontTx/>
          <a:defRPr>
            <a:solidFill>
              <a:schemeClr val="lt1"/>
            </a:solidFill>
            <a:sym typeface="+mn-ea"/>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0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5096</Words>
  <Application>WPS 演示</Application>
  <PresentationFormat>宽屏</PresentationFormat>
  <Paragraphs>263</Paragraphs>
  <Slides>23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宋体</vt:lpstr>
      <vt:lpstr>Wingdings</vt:lpstr>
      <vt:lpstr>江城圆体 400W</vt:lpstr>
      <vt:lpstr>微软雅黑</vt:lpstr>
      <vt:lpstr>Arial Unicode MS</vt:lpstr>
      <vt:lpstr>蓝色职场办公简约风主题</vt:lpstr>
      <vt:lpstr>“无忧用工” 劳动合规避坑指南</vt:lpstr>
      <vt:lpstr>目录</vt:lpstr>
      <vt:lpstr>民营企业合规背景</vt:lpstr>
      <vt:lpstr>民营企业座谈会的重要讲话（2025年2月17日）</vt:lpstr>
      <vt:lpstr>中华人民共和国民营经济促进法（2025年4月30日）</vt:lpstr>
      <vt:lpstr>劳动合规 法律背景和案例</vt:lpstr>
      <vt:lpstr>劳动相关法律法规体系</vt:lpstr>
      <vt:lpstr>法律</vt:lpstr>
      <vt:lpstr>行政法规</vt:lpstr>
      <vt:lpstr>部门规章</vt:lpstr>
      <vt:lpstr>司法解释</vt:lpstr>
      <vt:lpstr>案例一：社保补缴</vt:lpstr>
      <vt:lpstr>案例一：社保补缴</vt:lpstr>
      <vt:lpstr>案例一：社保补缴</vt:lpstr>
      <vt:lpstr>案例一：社保补缴</vt:lpstr>
      <vt:lpstr>案例二：迟到是否算工伤？</vt:lpstr>
      <vt:lpstr>案例二：迟到是否算工伤？</vt:lpstr>
      <vt:lpstr>案例二：迟到是否算工伤？</vt:lpstr>
      <vt:lpstr>“无忧用工”劳动合规全案</vt:lpstr>
      <vt:lpstr>PowerPoint 演示文稿</vt:lpstr>
      <vt:lpstr>PowerPoint 演示文稿</vt:lpstr>
      <vt:lpstr>自由交流环节</vt:lpstr>
      <vt:lpstr>感谢您的参与</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WPS_1757665170</cp:lastModifiedBy>
  <cp:revision>33</cp:revision>
  <dcterms:created xsi:type="dcterms:W3CDTF">2026-03-12T03:13:00Z</dcterms:created>
  <dcterms:modified xsi:type="dcterms:W3CDTF">2026-03-13T02:12:17Z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4628ED1C765E41D59A989491C08CCD3D_11</vt:lpwstr>
  </property>
</Properties>
</file>